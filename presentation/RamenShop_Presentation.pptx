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7c5b2d7-dfca-81e3-0e62-e7ee40128d91}">
          <p14:sldIdLst>
            <p14:sldId id="256"/>
            <p14:sldId id="257"/>
          </p14:sldIdLst>
        </p14:section>
        <p14:section name="Demo" id="{24c1da12-e2f7-76f1-54f7-96ed1967aaea}">
          <p14:sldIdLst>
            <p14:sldId id="258"/>
            <p14:sldId id="259"/>
            <p14:sldId id="260"/>
          </p14:sldIdLst>
        </p14:section>
        <p14:section name="Key features" id="{05a49a1c-316d-6aae-67a3-4485fdd8d373}">
          <p14:sldIdLst>
            <p14:sldId id="261"/>
            <p14:sldId id="262"/>
            <p14:sldId id="263"/>
            <p14:sldId id="264"/>
            <p14:sldId id="265"/>
            <p14:sldId id="266"/>
            <p14:sldId id="267"/>
            <p14:sldId id="268"/>
            <p14:sldId id="269"/>
          </p14:sldIdLst>
        </p14:section>
        <p14:section name="Thank you" id="{2ab157ff-8918-c9cb-39bf-1d7819b672f5}">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is The Ramen Shop: a cozy Japanese ramen village built from scratch in C++ and OpenGL. Everything you will see is generated in code: no model files and no image files are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scene has a two-storey ramen shop, a village street and nature around it. The program uses all 8 OpenGL lights, 13 textures that the program paints itself at start-up, 7 cameras, and not a single model or image file. It is written in C++17 with OpenGL and GLSL shaders, using FreeGLUT and GLEW.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Narration while the video plays (times are video time):
0:00  Night, orbit camera. The lantern paper and windows are emissive materials, and each lantern also has a real point light. Fireflies are additive-blended points.
0:06  Press T for day. The sky is a gradient dome drawn first with depth writes off. Sun shadows are the scene flattened onto the ground with a projection matrix into the stencil buffer. Every tree branch group sways with a pivot rotation.
0:14  Walkthrough camera on the street. The houses are built from boxes and wedges. The lawn is my procedural grass texture with real 3D grass tufts, and the road is the cobblestone pattern with hashed stone colours. Clouds are billboards.
0:28  Night again on the street: the cyclist. Its wheels turn by angle = distance / radius, and the knees are found by two-bone inverse kinematics so the feet stay on the pedals. Street lamps have an emissive bulb and an additive light cone.
0:35  Counter camera inside the shop at night.
0:38  I switch lamps off one by one with keys 1, 3, 4 and 5. Each fixture is its own OpenGL light and the global ambient is zero, so a lamp that is off lights nothing.
0:47  Keys minus, equals and backslash remove the ambient, diffuse and specular terms in turn: I = e + sum of a(ka La + kd Ld (N.L) + ks Ls (N.H)^n).
0:58  Key G: Gouraud shading computes light per vertex; my Phong shader computes it per pixel, which keeps the long gloss highlights on the counter.
1:02  Key Y: soft shadows from a 512 x 512 shadow map with 3 x 3 percentage-closer filtering.
1:06  Bowl close-up: the steam is seven alpha-blended spheres that rise and fade; the glaze has shininess 110.
1:10  Key R turns on the CPU ray tracer: reflection rays r = d - 2(d.n)n on the glaze, and Snell's law refraction in the glass ball.
1:15  The steel pots reflect the shop; reflections are weighted by Schlick's Fresnel term, a BVH speeds up the rays and 8 CPU threads share the work.
1:21  Ray tracing off and on to compare.
1:26  Upstairs tatami room: the tatami is a procedural texture, the wall pictures are drawn from 2D shapes clipped by Sutherland-Hodgman, and the fans rotate.
1:33  Pond camera: the water texture scrolls and the rim ripples; the ducks swim on circles.
1:37  Enter opens the cooking game: a state machine (menu, order, cooking, serving, result) with a HUD drawn in an orthographic projection.
1:48  Back to exploring, night orbit view: the cat walks and sometimes sits to wash its face, the person walks with a joint hierarchy.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narration for the first minute of the video. I explain each feature at the moment it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Narration for the second minute: ray tracing, the upstairs room, the pond and the cooking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sky is a skybox: it is drawn first, without depth writes, and the camera translation is removed so it always looks infinitely far away. The sun is five camera-facing discs blended additively, the moon has six craters, there are 132 twinkling stars and twelve clouds made of billboards. One key, T, switches everything between day and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textures are mine. The grass texture is painted at start-up: four greens mixed by noise, thousands of thin blade strokes and some grain; a second big texture is multiplied in so you never see the repeat. On top stand about 500 real 3D grass tufts. The street is a brick pattern of stones whose shade comes from a simple hash.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Lighting follows the Phong model: ambient plus diffuse plus specular, with attenuation for distance and a cone for spot lights. Every light has its own three colours. I can remove one term at a time: without diffuse only the highlights and glow remain; without specular the counter and pots look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Gouraud shading computes the light only at the vertices and blends the colours, so highlights between vertices disappear. My Phong shader blends the normal instead and computes the light for every pixel, which gives the long glossy streaks on the lacquered counter and the steel pots.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kinds of shadow. Outdoors the scene is drawn a second time, flattened onto the ground along the sun direction, only into the stencil buffer; then one soft dark layer is blended so overlapping shadows never get darker. Inside, a shadow map from the pendant lamp with 3 by 3 filtering gives soft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R adds a real ray tracer that runs on the CPU for eight featured objects. Each ray finds the nearest shape with exact intersection formulas and a bounding volume hierarchy. Metal, glaze and the mirror send a reflection ray weighted by Schlick's Fresnel term; the glass ball bends the ray with Snell's law. The work is split across 8 threads and composited over the OpenGL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characters are built only from spheres, cylinders and boxes. The cyclist's wheels roll without slipping and its knees are solved by two-bone inverse kinematics with the law of cosines, so the feet always stay on the pedals. The person is a joint hierarchy, and the cat follows a small state machine: every third walk it sits down and washes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wind chime is real physics: the bell and the paper strip are two pendulums driven by a gusty wind and integrated with small time steps. When the strip swings far enough the clapper hits the glass, bounces back and the rim glints. The banner next to it is a grid of quads moved by a travelling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a small game inside the shop. A state machine runs it: a customer orders, I boil the noodles for the right time, add broth and toppings and serve. The bowl is scored on accuracy, cooking and time, and the HUD is drawn with an orthographic projection.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5120640" cy="146304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640080" y="3063240"/>
            <a:ext cx="4937760" cy="1097280"/>
          </a:xfrm>
          <a:prstGeom prst="rect">
            <a:avLst/>
          </a:prstGeom>
          <a:noFill/>
          <a:ln/>
        </p:spPr>
        <p:txBody>
          <a:bodyPr wrap="square" rtlCol="0"/>
          <a:lstStyle>
            <a:lvl1pPr algn="l" indent="0" marL="0">
              <a:buNone/>
              <a:defRPr lang="en-US" sz="2000" dirty="0">
                <a:solidFill>
                  <a:schemeClr val="accent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The Ramen Shop  ·  CSE 4102</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IDEO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3152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END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343400"/>
            <a:ext cx="10881360" cy="1005840"/>
          </a:xfrm>
          <a:prstGeom prst="rect">
            <a:avLst/>
          </a:prstGeom>
          <a:noFill/>
          <a:ln/>
        </p:spPr>
        <p:txBody>
          <a:bodyPr wrap="square" rtlCol="0"/>
          <a:lstStyle>
            <a:lvl1pPr algn="ctr" indent="0" marL="0">
              <a:buNone/>
              <a:defRPr lang="en-US" sz="5400" b="1" dirty="0">
                <a:solidFill>
                  <a:schemeClr val="bg1"/>
                </a:solidFill>
              </a:defRPr>
            </a:lvl1pPr>
          </a:lstStyle>
          <a:p>
            <a:pPr algn="ctr" indent="0" marL="0">
              <a:buNone/>
            </a:pPr>
            <a:endParaRPr lang="en-US" sz="5400" dirty="0"/>
          </a:p>
        </p:txBody>
      </p:sp>
      <p:sp>
        <p:nvSpPr>
          <p:cNvPr id="3" name="Text 0"/>
          <p:cNvSpPr/>
          <p:nvPr>
            <p:ph idx="101" type="body" hasCustomPrompt="1"/>
          </p:nvPr>
        </p:nvSpPr>
        <p:spPr>
          <a:xfrm>
            <a:off x="640080" y="5349240"/>
            <a:ext cx="10881360" cy="548640"/>
          </a:xfrm>
          <a:prstGeom prst="rect">
            <a:avLst/>
          </a:prstGeom>
          <a:noFill/>
          <a:ln/>
        </p:spPr>
        <p:txBody>
          <a:bodyPr wrap="square" rtlCol="0"/>
          <a:lstStyle>
            <a:lvl1pPr algn="ctr" indent="0" marL="0">
              <a:buNone/>
              <a:defRPr lang="en-US" sz="2000" dirty="0">
                <a:solidFill>
                  <a:schemeClr val="accent2"/>
                </a:solidFill>
              </a:defRPr>
            </a:lvl1pPr>
          </a:lstStyle>
          <a:p>
            <a:pPr algn="ctr"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5.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5120640" cy="1463040"/>
          </a:xfrm>
          <a:prstGeom prst="rect">
            <a:avLst/>
          </a:prstGeom>
          <a:noFill/>
          <a:ln/>
        </p:spPr>
        <p:txBody>
          <a:bodyPr wrap="square" lIns="0" tIns="0" rIns="0" bIns="0" rtlCol="0" anchor="b"/>
          <a:lstStyle/>
          <a:p>
            <a:pPr algn="l" indent="0" marL="0">
              <a:buNone/>
            </a:pPr>
            <a:r>
              <a:rPr lang="en-US" sz="5400" b="1" dirty="0">
                <a:solidFill>
                  <a:schemeClr val="bg1"/>
                </a:solidFill>
              </a:rPr>
              <a:t>The Ramen Shop</a:t>
            </a:r>
            <a:endParaRPr lang="en-US" sz="5400" dirty="0"/>
          </a:p>
        </p:txBody>
      </p:sp>
      <p:sp>
        <p:nvSpPr>
          <p:cNvPr id="3" name="Text 0"/>
          <p:cNvSpPr/>
          <p:nvPr>
            <p:ph idx="101" type="body" hasCustomPrompt="1"/>
          </p:nvPr>
        </p:nvSpPr>
        <p:spPr>
          <a:xfrm>
            <a:off x="640080" y="3063240"/>
            <a:ext cx="4937760" cy="1097280"/>
          </a:xfrm>
          <a:prstGeom prst="rect">
            <a:avLst/>
          </a:prstGeom>
          <a:noFill/>
          <a:ln/>
        </p:spPr>
        <p:txBody>
          <a:bodyPr wrap="square" lIns="0" tIns="0" rIns="0" bIns="0" rtlCol="0" anchor="t"/>
          <a:lstStyle/>
          <a:p>
            <a:pPr algn="l" indent="0" marL="0">
              <a:buNone/>
            </a:pPr>
            <a:r>
              <a:rPr lang="en-US" sz="2000" dirty="0">
                <a:solidFill>
                  <a:schemeClr val="accent2"/>
                </a:solidFill>
              </a:rPr>
              <a:t>A Japanese ramen village in OpenGL</a:t>
            </a:r>
            <a:endParaRPr lang="en-US" sz="2000" dirty="0"/>
          </a:p>
          <a:p>
            <a:pPr algn="l" indent="0" marL="0">
              <a:buNone/>
            </a:pPr>
            <a:r>
              <a:rPr lang="en-US" sz="2000" dirty="0">
                <a:solidFill>
                  <a:schemeClr val="accent2"/>
                </a:solidFill>
              </a:rPr>
              <a:t>CSE 4102 · Computer Graphics Project</a:t>
            </a:r>
            <a:endParaRPr lang="en-US" sz="2000" dirty="0"/>
          </a:p>
        </p:txBody>
      </p:sp>
      <p:sp>
        <p:nvSpPr>
          <p:cNvPr id="4" name="Text 2"/>
          <p:cNvSpPr txBox="1"/>
          <p:nvPr/>
        </p:nvSpPr>
        <p:spPr>
          <a:xfrm>
            <a:off x="640080" y="4754880"/>
            <a:ext cx="5120640" cy="1005840"/>
          </a:xfrm>
          <a:prstGeom prst="rect">
            <a:avLst/>
          </a:prstGeom>
          <a:noFill/>
          <a:ln/>
        </p:spPr>
        <p:txBody>
          <a:bodyPr wrap="square" lIns="0" tIns="0" rIns="0" bIns="0" rtlCol="0" anchor="ctr"/>
          <a:lstStyle/>
          <a:p>
            <a:pPr indent="0" marL="0">
              <a:buNone/>
            </a:pPr>
            <a:r>
              <a:rPr lang="en-US" sz="1500" b="1" dirty="0">
                <a:solidFill>
                  <a:schemeClr val="bg1"/>
                </a:solidFill>
              </a:rPr>
              <a:t>Rajorshi Das</a:t>
            </a:r>
            <a:endParaRPr lang="en-US" sz="1500" dirty="0"/>
          </a:p>
          <a:p>
            <a:pPr indent="0" marL="0">
              <a:buNone/>
            </a:pPr>
            <a:r>
              <a:rPr lang="en-US" sz="1500" dirty="0">
                <a:solidFill>
                  <a:schemeClr val="bg1"/>
                </a:solidFill>
              </a:rPr>
              <a:t>Roll 2107060 · Dept. of CSE, KUET</a:t>
            </a:r>
            <a:endParaRPr lang="en-US" sz="1500" dirty="0"/>
          </a:p>
          <a:p>
            <a:pPr indent="0" marL="0">
              <a:buNone/>
            </a:pPr>
            <a:r>
              <a:rPr lang="en-US" sz="1500" dirty="0">
                <a:solidFill>
                  <a:schemeClr val="bg1"/>
                </a:solidFill>
              </a:rPr>
              <a:t>Supervisors: Md Tajmilur Rahman, Md. Mubtashim Abrar Nihal</a:t>
            </a:r>
            <a:endParaRPr lang="en-US" sz="1500" dirty="0"/>
          </a:p>
        </p:txBody>
      </p:sp>
      <p:pic>
        <p:nvPicPr>
          <p:cNvPr id="5" name="fig_ext_night" descr="G:/4-1/RamenShop/RamenShop/report/figs/fig_ext_night.jpg">    </p:cNvPr>
          <p:cNvPicPr>
            <a:picLocks noChangeAspect="1"/>
          </p:cNvPicPr>
          <p:nvPr/>
        </p:nvPicPr>
        <p:blipFill>
          <a:blip r:embed="rId1"/>
          <a:stretch>
            <a:fillRect/>
          </a:stretch>
        </p:blipFill>
        <p:spPr>
          <a:xfrm>
            <a:off x="6035040" y="2083872"/>
            <a:ext cx="5760720" cy="2690256"/>
          </a:xfrm>
          <a:prstGeom prst="rect">
            <a:avLst/>
          </a:prstGeom>
          <a:effectLst>
            <a:outerShdw sx="100000" sy="100000" kx="0" ky="0" algn="bl" rotWithShape="0" blurRad="76200" dist="25400" dir="5400000">
              <a:srgbClr val="000000">
                <a:alpha val="25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What I built</a:t>
            </a:r>
            <a:endParaRPr lang="en-US" sz="3400" dirty="0"/>
          </a:p>
        </p:txBody>
      </p:sp>
      <p:sp>
        <p:nvSpPr>
          <p:cNvPr id="3" name="Text 1"/>
          <p:cNvSpPr txBox="1"/>
          <p:nvPr/>
        </p:nvSpPr>
        <p:spPr>
          <a:xfrm>
            <a:off x="548640" y="1325880"/>
            <a:ext cx="5852160" cy="420624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A two-storey ramen shop: </a:t>
            </a:r>
            <a:pPr indent="0" marL="0">
              <a:spcAft>
                <a:spcPts val="600"/>
              </a:spcAft>
              <a:buNone/>
            </a:pPr>
            <a:r>
              <a:rPr lang="en-US" sz="1700" dirty="0">
                <a:solidFill>
                  <a:schemeClr val="tx1"/>
                </a:solidFill>
              </a:rPr>
              <a:t>dining counter, open kitchen, tables and an upstairs tatami room</a:t>
            </a:r>
            <a:endParaRPr lang="en-US" sz="1700" dirty="0"/>
          </a:p>
          <a:p>
            <a:pPr marL="342900" indent="-342900">
              <a:spcAft>
                <a:spcPts val="600"/>
              </a:spcAft>
              <a:buSzPct val="100000"/>
              <a:buChar char="•"/>
            </a:pPr>
            <a:r>
              <a:rPr lang="en-US" sz="1700" b="1" dirty="0">
                <a:solidFill>
                  <a:schemeClr val="tx1"/>
                </a:solidFill>
              </a:rPr>
              <a:t>A living village: </a:t>
            </a:r>
            <a:pPr indent="0" marL="0">
              <a:spcAft>
                <a:spcPts val="600"/>
              </a:spcAft>
              <a:buNone/>
            </a:pPr>
            <a:r>
              <a:rPr lang="en-US" sz="1700" dirty="0">
                <a:solidFill>
                  <a:schemeClr val="tx1"/>
                </a:solidFill>
              </a:rPr>
              <a:t>10 houses, street lamps, trees, a lake with ducks, a cyclist, a walking person and a cat</a:t>
            </a:r>
            <a:endParaRPr lang="en-US" sz="1700" dirty="0"/>
          </a:p>
          <a:p>
            <a:pPr marL="342900" indent="-342900">
              <a:spcAft>
                <a:spcPts val="600"/>
              </a:spcAft>
              <a:buSzPct val="100000"/>
              <a:buChar char="•"/>
            </a:pPr>
            <a:r>
              <a:rPr lang="en-US" sz="1700" b="1" dirty="0">
                <a:solidFill>
                  <a:schemeClr val="tx1"/>
                </a:solidFill>
              </a:rPr>
              <a:t>Sky and time: </a:t>
            </a:r>
            <a:pPr indent="0" marL="0">
              <a:spcAft>
                <a:spcPts val="600"/>
              </a:spcAft>
              <a:buNone/>
            </a:pPr>
            <a:r>
              <a:rPr lang="en-US" sz="1700" dirty="0">
                <a:solidFill>
                  <a:schemeClr val="tx1"/>
                </a:solidFill>
              </a:rPr>
              <a:t>sun, moon, stars and clouds that switch between day and night</a:t>
            </a:r>
            <a:endParaRPr lang="en-US" sz="1700" dirty="0"/>
          </a:p>
          <a:p>
            <a:pPr marL="342900" indent="-342900">
              <a:spcAft>
                <a:spcPts val="600"/>
              </a:spcAft>
              <a:buSzPct val="100000"/>
              <a:buChar char="•"/>
            </a:pPr>
            <a:r>
              <a:rPr lang="en-US" sz="1700" b="1" dirty="0">
                <a:solidFill>
                  <a:schemeClr val="tx1"/>
                </a:solidFill>
              </a:rPr>
              <a:t>Graphics: </a:t>
            </a:r>
            <a:pPr indent="0" marL="0">
              <a:spcAft>
                <a:spcPts val="600"/>
              </a:spcAft>
              <a:buNone/>
            </a:pPr>
            <a:r>
              <a:rPr lang="en-US" sz="1700" dirty="0">
                <a:solidFill>
                  <a:schemeClr val="tx1"/>
                </a:solidFill>
              </a:rPr>
              <a:t>8 lights, Phong and Gouraud shading, procedural textures, shadows, glass refraction and real ray tracing</a:t>
            </a:r>
            <a:endParaRPr lang="en-US" sz="1700" dirty="0"/>
          </a:p>
          <a:p>
            <a:pPr marL="342900" indent="-342900">
              <a:spcAft>
                <a:spcPts val="600"/>
              </a:spcAft>
              <a:buSzPct val="100000"/>
              <a:buChar char="•"/>
            </a:pPr>
            <a:r>
              <a:rPr lang="en-US" sz="1700" b="1" dirty="0">
                <a:solidFill>
                  <a:schemeClr val="tx1"/>
                </a:solidFill>
              </a:rPr>
              <a:t>Interaction: </a:t>
            </a:r>
            <a:pPr indent="0" marL="0">
              <a:spcAft>
                <a:spcPts val="600"/>
              </a:spcAft>
              <a:buNone/>
            </a:pPr>
            <a:r>
              <a:rPr lang="en-US" sz="1700" dirty="0">
                <a:solidFill>
                  <a:schemeClr val="tx1"/>
                </a:solidFill>
              </a:rPr>
              <a:t>7 cameras, clickable doors, movable objects and a ramen cooking game</a:t>
            </a:r>
            <a:endParaRPr lang="en-US" sz="1700" dirty="0"/>
          </a:p>
        </p:txBody>
      </p:sp>
      <p:sp>
        <p:nvSpPr>
          <p:cNvPr id="4" name="stat card"/>
          <p:cNvSpPr/>
          <p:nvPr/>
        </p:nvSpPr>
        <p:spPr>
          <a:xfrm>
            <a:off x="6812280" y="1371600"/>
            <a:ext cx="2286000" cy="1828800"/>
          </a:xfrm>
          <a:prstGeom prst="roundRect">
            <a:avLst>
              <a:gd name="adj" fmla="val 6000"/>
            </a:avLst>
          </a:prstGeom>
          <a:solidFill>
            <a:schemeClr val="bg2"/>
          </a:solidFill>
          <a:ln w="12700">
            <a:solidFill>
              <a:schemeClr val="bg2"/>
            </a:solidFill>
            <a:prstDash val="solid"/>
          </a:ln>
        </p:spPr>
      </p:sp>
      <p:sp>
        <p:nvSpPr>
          <p:cNvPr id="5" name="Text 3"/>
          <p:cNvSpPr txBox="1"/>
          <p:nvPr/>
        </p:nvSpPr>
        <p:spPr>
          <a:xfrm>
            <a:off x="6812280" y="1508760"/>
            <a:ext cx="2286000" cy="1005840"/>
          </a:xfrm>
          <a:prstGeom prst="rect">
            <a:avLst/>
          </a:prstGeom>
          <a:noFill/>
          <a:ln/>
        </p:spPr>
        <p:txBody>
          <a:bodyPr wrap="square" lIns="0" tIns="0" rIns="0" bIns="0" rtlCol="0" anchor="ctr"/>
          <a:lstStyle/>
          <a:p>
            <a:pPr algn="ctr" indent="0" marL="0">
              <a:buNone/>
            </a:pPr>
            <a:r>
              <a:rPr lang="en-US" sz="6000" b="1" dirty="0">
                <a:solidFill>
                  <a:schemeClr val="accent1"/>
                </a:solidFill>
                <a:latin typeface="Cambria" pitchFamily="34" charset="0"/>
                <a:ea typeface="Cambria" pitchFamily="34" charset="-122"/>
                <a:cs typeface="Cambria" pitchFamily="34" charset="-120"/>
              </a:rPr>
              <a:t>8</a:t>
            </a:r>
            <a:endParaRPr lang="en-US" sz="6000" dirty="0"/>
          </a:p>
        </p:txBody>
      </p:sp>
      <p:sp>
        <p:nvSpPr>
          <p:cNvPr id="6" name="Text 4"/>
          <p:cNvSpPr txBox="1"/>
          <p:nvPr/>
        </p:nvSpPr>
        <p:spPr>
          <a:xfrm>
            <a:off x="6949440" y="2514600"/>
            <a:ext cx="2011680" cy="548640"/>
          </a:xfrm>
          <a:prstGeom prst="rect">
            <a:avLst/>
          </a:prstGeom>
          <a:noFill/>
          <a:ln/>
        </p:spPr>
        <p:txBody>
          <a:bodyPr wrap="square" lIns="0" tIns="0" rIns="0" bIns="0" rtlCol="0" anchor="ctr"/>
          <a:lstStyle/>
          <a:p>
            <a:pPr algn="ctr" indent="0" marL="0">
              <a:buNone/>
            </a:pPr>
            <a:r>
              <a:rPr lang="en-US" sz="1400" dirty="0">
                <a:solidFill>
                  <a:schemeClr val="tx1"/>
                </a:solidFill>
              </a:rPr>
              <a:t>lights, each one switchable</a:t>
            </a:r>
            <a:endParaRPr lang="en-US" sz="1400" dirty="0"/>
          </a:p>
        </p:txBody>
      </p:sp>
      <p:sp>
        <p:nvSpPr>
          <p:cNvPr id="7" name="stat card"/>
          <p:cNvSpPr/>
          <p:nvPr/>
        </p:nvSpPr>
        <p:spPr>
          <a:xfrm>
            <a:off x="9326880" y="1371600"/>
            <a:ext cx="2286000" cy="1828800"/>
          </a:xfrm>
          <a:prstGeom prst="roundRect">
            <a:avLst>
              <a:gd name="adj" fmla="val 6000"/>
            </a:avLst>
          </a:prstGeom>
          <a:solidFill>
            <a:schemeClr val="bg2"/>
          </a:solidFill>
          <a:ln w="12700">
            <a:solidFill>
              <a:schemeClr val="bg2"/>
            </a:solidFill>
            <a:prstDash val="solid"/>
          </a:ln>
        </p:spPr>
      </p:sp>
      <p:sp>
        <p:nvSpPr>
          <p:cNvPr id="8" name="Text 6"/>
          <p:cNvSpPr txBox="1"/>
          <p:nvPr/>
        </p:nvSpPr>
        <p:spPr>
          <a:xfrm>
            <a:off x="9326880" y="1508760"/>
            <a:ext cx="2286000" cy="1005840"/>
          </a:xfrm>
          <a:prstGeom prst="rect">
            <a:avLst/>
          </a:prstGeom>
          <a:noFill/>
          <a:ln/>
        </p:spPr>
        <p:txBody>
          <a:bodyPr wrap="square" lIns="0" tIns="0" rIns="0" bIns="0" rtlCol="0" anchor="ctr"/>
          <a:lstStyle/>
          <a:p>
            <a:pPr algn="ctr" indent="0" marL="0">
              <a:buNone/>
            </a:pPr>
            <a:r>
              <a:rPr lang="en-US" sz="6000" b="1" dirty="0">
                <a:solidFill>
                  <a:schemeClr val="accent1"/>
                </a:solidFill>
                <a:latin typeface="Cambria" pitchFamily="34" charset="0"/>
                <a:ea typeface="Cambria" pitchFamily="34" charset="-122"/>
                <a:cs typeface="Cambria" pitchFamily="34" charset="-120"/>
              </a:rPr>
              <a:t>13</a:t>
            </a:r>
            <a:endParaRPr lang="en-US" sz="6000" dirty="0"/>
          </a:p>
        </p:txBody>
      </p:sp>
      <p:sp>
        <p:nvSpPr>
          <p:cNvPr id="9" name="Text 7"/>
          <p:cNvSpPr txBox="1"/>
          <p:nvPr/>
        </p:nvSpPr>
        <p:spPr>
          <a:xfrm>
            <a:off x="9464040" y="2514600"/>
            <a:ext cx="2011680" cy="548640"/>
          </a:xfrm>
          <a:prstGeom prst="rect">
            <a:avLst/>
          </a:prstGeom>
          <a:noFill/>
          <a:ln/>
        </p:spPr>
        <p:txBody>
          <a:bodyPr wrap="square" lIns="0" tIns="0" rIns="0" bIns="0" rtlCol="0" anchor="ctr"/>
          <a:lstStyle/>
          <a:p>
            <a:pPr algn="ctr" indent="0" marL="0">
              <a:buNone/>
            </a:pPr>
            <a:r>
              <a:rPr lang="en-US" sz="1400" dirty="0">
                <a:solidFill>
                  <a:schemeClr val="tx1"/>
                </a:solidFill>
              </a:rPr>
              <a:t>textures painted in code</a:t>
            </a:r>
            <a:endParaRPr lang="en-US" sz="1400" dirty="0"/>
          </a:p>
        </p:txBody>
      </p:sp>
      <p:sp>
        <p:nvSpPr>
          <p:cNvPr id="10" name="stat card"/>
          <p:cNvSpPr/>
          <p:nvPr/>
        </p:nvSpPr>
        <p:spPr>
          <a:xfrm>
            <a:off x="6812280" y="3429000"/>
            <a:ext cx="2286000" cy="1828800"/>
          </a:xfrm>
          <a:prstGeom prst="roundRect">
            <a:avLst>
              <a:gd name="adj" fmla="val 6000"/>
            </a:avLst>
          </a:prstGeom>
          <a:solidFill>
            <a:schemeClr val="bg2"/>
          </a:solidFill>
          <a:ln w="12700">
            <a:solidFill>
              <a:schemeClr val="bg2"/>
            </a:solidFill>
            <a:prstDash val="solid"/>
          </a:ln>
        </p:spPr>
      </p:sp>
      <p:sp>
        <p:nvSpPr>
          <p:cNvPr id="11" name="Text 9"/>
          <p:cNvSpPr txBox="1"/>
          <p:nvPr/>
        </p:nvSpPr>
        <p:spPr>
          <a:xfrm>
            <a:off x="6812280" y="3566160"/>
            <a:ext cx="2286000" cy="1005840"/>
          </a:xfrm>
          <a:prstGeom prst="rect">
            <a:avLst/>
          </a:prstGeom>
          <a:noFill/>
          <a:ln/>
        </p:spPr>
        <p:txBody>
          <a:bodyPr wrap="square" lIns="0" tIns="0" rIns="0" bIns="0" rtlCol="0" anchor="ctr"/>
          <a:lstStyle/>
          <a:p>
            <a:pPr algn="ctr" indent="0" marL="0">
              <a:buNone/>
            </a:pPr>
            <a:r>
              <a:rPr lang="en-US" sz="6000" b="1" dirty="0">
                <a:solidFill>
                  <a:schemeClr val="accent1"/>
                </a:solidFill>
                <a:latin typeface="Cambria" pitchFamily="34" charset="0"/>
                <a:ea typeface="Cambria" pitchFamily="34" charset="-122"/>
                <a:cs typeface="Cambria" pitchFamily="34" charset="-120"/>
              </a:rPr>
              <a:t>7</a:t>
            </a:r>
            <a:endParaRPr lang="en-US" sz="6000" dirty="0"/>
          </a:p>
        </p:txBody>
      </p:sp>
      <p:sp>
        <p:nvSpPr>
          <p:cNvPr id="12" name="Text 10"/>
          <p:cNvSpPr txBox="1"/>
          <p:nvPr/>
        </p:nvSpPr>
        <p:spPr>
          <a:xfrm>
            <a:off x="6949440" y="4572000"/>
            <a:ext cx="2011680" cy="548640"/>
          </a:xfrm>
          <a:prstGeom prst="rect">
            <a:avLst/>
          </a:prstGeom>
          <a:noFill/>
          <a:ln/>
        </p:spPr>
        <p:txBody>
          <a:bodyPr wrap="square" lIns="0" tIns="0" rIns="0" bIns="0" rtlCol="0" anchor="ctr"/>
          <a:lstStyle/>
          <a:p>
            <a:pPr algn="ctr" indent="0" marL="0">
              <a:buNone/>
            </a:pPr>
            <a:r>
              <a:rPr lang="en-US" sz="1400" dirty="0">
                <a:solidFill>
                  <a:schemeClr val="tx1"/>
                </a:solidFill>
              </a:rPr>
              <a:t>camera modes</a:t>
            </a:r>
            <a:endParaRPr lang="en-US" sz="1400" dirty="0"/>
          </a:p>
        </p:txBody>
      </p:sp>
      <p:sp>
        <p:nvSpPr>
          <p:cNvPr id="13" name="stat card"/>
          <p:cNvSpPr/>
          <p:nvPr/>
        </p:nvSpPr>
        <p:spPr>
          <a:xfrm>
            <a:off x="9326880" y="3429000"/>
            <a:ext cx="2286000" cy="1828800"/>
          </a:xfrm>
          <a:prstGeom prst="roundRect">
            <a:avLst>
              <a:gd name="adj" fmla="val 6000"/>
            </a:avLst>
          </a:prstGeom>
          <a:solidFill>
            <a:schemeClr val="bg2"/>
          </a:solidFill>
          <a:ln w="12700">
            <a:solidFill>
              <a:schemeClr val="bg2"/>
            </a:solidFill>
            <a:prstDash val="solid"/>
          </a:ln>
        </p:spPr>
      </p:sp>
      <p:sp>
        <p:nvSpPr>
          <p:cNvPr id="14" name="Text 12"/>
          <p:cNvSpPr txBox="1"/>
          <p:nvPr/>
        </p:nvSpPr>
        <p:spPr>
          <a:xfrm>
            <a:off x="9326880" y="3566160"/>
            <a:ext cx="2286000" cy="1005840"/>
          </a:xfrm>
          <a:prstGeom prst="rect">
            <a:avLst/>
          </a:prstGeom>
          <a:noFill/>
          <a:ln/>
        </p:spPr>
        <p:txBody>
          <a:bodyPr wrap="square" lIns="0" tIns="0" rIns="0" bIns="0" rtlCol="0" anchor="ctr"/>
          <a:lstStyle/>
          <a:p>
            <a:pPr algn="ctr" indent="0" marL="0">
              <a:buNone/>
            </a:pPr>
            <a:r>
              <a:rPr lang="en-US" sz="6000" b="1" dirty="0">
                <a:solidFill>
                  <a:schemeClr val="accent1"/>
                </a:solidFill>
                <a:latin typeface="Cambria" pitchFamily="34" charset="0"/>
                <a:ea typeface="Cambria" pitchFamily="34" charset="-122"/>
                <a:cs typeface="Cambria" pitchFamily="34" charset="-120"/>
              </a:rPr>
              <a:t>0</a:t>
            </a:r>
            <a:endParaRPr lang="en-US" sz="6000" dirty="0"/>
          </a:p>
        </p:txBody>
      </p:sp>
      <p:sp>
        <p:nvSpPr>
          <p:cNvPr id="15" name="Text 13"/>
          <p:cNvSpPr txBox="1"/>
          <p:nvPr/>
        </p:nvSpPr>
        <p:spPr>
          <a:xfrm>
            <a:off x="9464040" y="4572000"/>
            <a:ext cx="2011680" cy="548640"/>
          </a:xfrm>
          <a:prstGeom prst="rect">
            <a:avLst/>
          </a:prstGeom>
          <a:noFill/>
          <a:ln/>
        </p:spPr>
        <p:txBody>
          <a:bodyPr wrap="square" lIns="0" tIns="0" rIns="0" bIns="0" rtlCol="0" anchor="ctr"/>
          <a:lstStyle/>
          <a:p>
            <a:pPr algn="ctr" indent="0" marL="0">
              <a:buNone/>
            </a:pPr>
            <a:r>
              <a:rPr lang="en-US" sz="1400" dirty="0">
                <a:solidFill>
                  <a:schemeClr val="tx1"/>
                </a:solidFill>
              </a:rPr>
              <a:t>model or image files</a:t>
            </a:r>
            <a:endParaRPr lang="en-US" sz="1400" dirty="0"/>
          </a:p>
        </p:txBody>
      </p:sp>
      <p:sp>
        <p:nvSpPr>
          <p:cNvPr id="16" name="formula chip"/>
          <p:cNvSpPr/>
          <p:nvPr/>
        </p:nvSpPr>
        <p:spPr>
          <a:xfrm>
            <a:off x="548640" y="5669280"/>
            <a:ext cx="11064240" cy="502920"/>
          </a:xfrm>
          <a:prstGeom prst="roundRect">
            <a:avLst>
              <a:gd name="adj" fmla="val 21818"/>
            </a:avLst>
          </a:prstGeom>
          <a:solidFill>
            <a:schemeClr val="accent1"/>
          </a:solidFill>
          <a:ln w="12700">
            <a:solidFill>
              <a:schemeClr val="accent1"/>
            </a:solidFill>
            <a:prstDash val="solid"/>
          </a:ln>
        </p:spPr>
      </p:sp>
      <p:sp>
        <p:nvSpPr>
          <p:cNvPr id="17" name="Text 15"/>
          <p:cNvSpPr txBox="1"/>
          <p:nvPr/>
        </p:nvSpPr>
        <p:spPr>
          <a:xfrm>
            <a:off x="685800" y="5669280"/>
            <a:ext cx="10789920" cy="502920"/>
          </a:xfrm>
          <a:prstGeom prst="rect">
            <a:avLst/>
          </a:prstGeom>
          <a:noFill/>
          <a:ln/>
        </p:spPr>
        <p:txBody>
          <a:bodyPr wrap="square" lIns="0" tIns="0" rIns="0" bIns="0" rtlCol="0" anchor="ctr"/>
          <a:lstStyle/>
          <a:p>
            <a:pPr indent="0" marL="0">
              <a:buNone/>
            </a:pPr>
            <a:r>
              <a:rPr lang="en-US" sz="1600" dirty="0">
                <a:solidFill>
                  <a:schemeClr val="bg1"/>
                </a:solidFill>
                <a:latin typeface="Cambria" pitchFamily="34" charset="0"/>
                <a:ea typeface="Cambria" pitchFamily="34" charset="-122"/>
                <a:cs typeface="Cambria" pitchFamily="34" charset="-120"/>
              </a:rPr>
              <a:t>C++17  ·  OpenGL + GLSL 1.20  ·  FreeGLUT  ·  GLEW  ·  about 15,000 lines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31520"/>
          </a:xfrm>
          <a:prstGeom prst="rect">
            <a:avLst/>
          </a:prstGeom>
          <a:noFill/>
          <a:ln/>
        </p:spPr>
        <p:txBody>
          <a:bodyPr wrap="square" lIns="0" tIns="0" rIns="0" bIns="0" rtlCol="0" anchor="ctr"/>
          <a:lstStyle/>
          <a:p>
            <a:pPr indent="0" marL="0">
              <a:buNone/>
            </a:pPr>
            <a:r>
              <a:rPr lang="en-US" sz="3200" b="1" dirty="0">
                <a:solidFill>
                  <a:schemeClr val="bg1"/>
                </a:solidFill>
              </a:rPr>
              <a:t>Project demo (2 minutes)</a:t>
            </a:r>
            <a:endParaRPr lang="en-US" sz="3200" dirty="0"/>
          </a:p>
        </p:txBody>
      </p:sp>
      <p:pic>
        <p:nvPicPr>
          <p:cNvPr id="3" name="demo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15893" y="1097280"/>
            <a:ext cx="7959910" cy="5257800"/>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While the video plays: 0:00 to 1:02</a:t>
            </a:r>
            <a:endParaRPr lang="en-US" sz="3400" dirty="0"/>
          </a:p>
        </p:txBody>
      </p:sp>
      <p:graphicFrame>
        <p:nvGraphicFramePr>
          <p:cNvPr id="5" name="timeline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868680"/>
                <a:gridCol w="3429000"/>
                <a:gridCol w="6766560"/>
              </a:tblGrid>
              <a:tr h="457200">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Time</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What you see</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How it works</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accent1"/>
                    </a:solidFill>
                  </a:tcPr>
                </a:tc>
              </a:tr>
              <a:tr h="566928">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0:00</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Shop at night, orbit camera</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Emissive lantern paper plus a real point light per lantern; additive fireflies</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r>
              <a:tr h="566928">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0:06</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Day (T): sky, sun shadows</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Sky dome drawn first, depth off; scene flattened onto the ground into the stencil buffer</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r>
              <a:tr h="566928">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0:14</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Street: houses, grass, cobbles</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Boxes and wedges; procedural grass texture + 3D tufts; hashed stone colours; cloud billboards</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r>
              <a:tr h="566928">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0:28</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Night street, cyclist</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Wheel angle = d / r; knees from two-bone IK; lamp: emissive bulb + additive light cone</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r>
              <a:tr h="566928">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0:38</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Lamps off one by one (1-5)</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Each fixture is its own OpenGL light; global ambient is 0</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r>
              <a:tr h="566928">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0:47</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Ambient / diffuse / specular off</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I = e + Σ a [ka La + kd Ld (N·L) + ks Ls (N·H)^n]</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r>
              <a:tr h="566928">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0:58</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Gouraud (G) vs Phong</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Light per vertex vs per pixel (my GLSL shader)</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r>
              <a:tr h="566928">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1:02</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Soft shadows (Y)</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512 × 512 shadow map, 3 × 3 percentage-closer filtering</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While the video plays: 1:06 to 1:58</a:t>
            </a:r>
            <a:endParaRPr lang="en-US" sz="3400" dirty="0"/>
          </a:p>
        </p:txBody>
      </p:sp>
      <p:graphicFrame>
        <p:nvGraphicFramePr>
          <p:cNvPr id="6" name="timeline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868680"/>
                <a:gridCol w="3429000"/>
                <a:gridCol w="6766560"/>
              </a:tblGrid>
              <a:tr h="457200">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Time</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What you see</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How it works</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accent1"/>
                    </a:solidFill>
                  </a:tcPr>
                </a:tc>
              </a:tr>
              <a:tr h="566928">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1:06</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Bowl close-up (B), steam</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Seven alpha-blended spheres rising and fading; glaze shininess n = 110</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r>
              <a:tr h="566928">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1:10</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Ray tracing on (R)</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Reflection r = d − 2(d·n)n on the glaze; Snell's law in the glass ball</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r>
              <a:tr h="566928">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1:15</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Ray-traced steel pots</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Schlick Fresnel weight, BVH, 8 CPU threads, about 13 ms per frame</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r>
              <a:tr h="566928">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1:21</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Ray tracing off / on</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Only the pixels of 8 featured objects are traced, then composited by depth</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r>
              <a:tr h="566928">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1:26</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Upstairs tatami room</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Procedural tatami texture; pictures clipped by Sutherland–Hodgman; rotating fans</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r>
              <a:tr h="566928">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1:33</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Pond, bridge, ducks</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Scrolling water texture, rippling rim; ducks move on circles (3.5 cos 0.4t, 3.5 sin 0.4t)</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r>
              <a:tr h="566928">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1:37</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Ramen cooking game (Enter)</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State machine: menu → order → cooking → serving → result; HUD in orthographic projection</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2"/>
                    </a:solidFill>
                  </a:tcPr>
                </a:tc>
              </a:tr>
              <a:tr h="566928">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1:48</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Back to exploring, night</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Cat state machine (walk, sit, wash); walking person joint hierarchy</a:t>
                      </a:r>
                      <a:endParaRPr lang="en-US" sz="160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Sky: sun, moon, stars and clouds</a:t>
            </a:r>
            <a:endParaRPr lang="en-US" sz="3400" dirty="0"/>
          </a:p>
        </p:txBody>
      </p:sp>
      <p:pic>
        <p:nvPicPr>
          <p:cNvPr id="3" name="r_cyclist" descr="G:/4-1/RamenShop/RamenShop/report/figs/r_cyclist.jpg">    </p:cNvPr>
          <p:cNvPicPr>
            <a:picLocks noChangeAspect="1"/>
          </p:cNvPicPr>
          <p:nvPr/>
        </p:nvPicPr>
        <p:blipFill>
          <a:blip r:embed="rId1"/>
          <a:stretch>
            <a:fillRect/>
          </a:stretch>
        </p:blipFill>
        <p:spPr>
          <a:xfrm>
            <a:off x="548640" y="1288390"/>
            <a:ext cx="5486400" cy="3275381"/>
          </a:xfrm>
          <a:prstGeom prst="rect">
            <a:avLst/>
          </a:prstGeom>
          <a:effectLst>
            <a:outerShdw sx="100000" sy="100000" kx="0" ky="0" algn="bl" rotWithShape="0" blurRad="76200" dist="25400" dir="5400000">
              <a:srgbClr val="000000">
                <a:alpha val="25000"/>
              </a:srgbClr>
            </a:outerShdw>
          </a:effectLst>
        </p:spPr>
      </p:pic>
      <p:sp>
        <p:nvSpPr>
          <p:cNvPr id="4" name="Text 1"/>
          <p:cNvSpPr txBox="1"/>
          <p:nvPr/>
        </p:nvSpPr>
        <p:spPr>
          <a:xfrm>
            <a:off x="548640" y="4618634"/>
            <a:ext cx="5486400" cy="274320"/>
          </a:xfrm>
          <a:prstGeom prst="rect">
            <a:avLst/>
          </a:prstGeom>
          <a:noFill/>
          <a:ln/>
        </p:spPr>
        <p:txBody>
          <a:bodyPr wrap="square" lIns="0" tIns="0" rIns="0" bIns="0" rtlCol="0" anchor="ctr"/>
          <a:lstStyle/>
          <a:p>
            <a:pPr algn="ctr" indent="0" marL="0">
              <a:buNone/>
            </a:pPr>
            <a:r>
              <a:rPr lang="en-US" sz="1200" i="1" dirty="0">
                <a:solidFill>
                  <a:schemeClr val="accent6"/>
                </a:solidFill>
              </a:rPr>
              <a:t>Day: sun glow and blue sky</a:t>
            </a:r>
            <a:endParaRPr lang="en-US" sz="1200" dirty="0"/>
          </a:p>
        </p:txBody>
      </p:sp>
      <p:pic>
        <p:nvPicPr>
          <p:cNvPr id="5" name="r_moon" descr="G:/4-1/RamenShop/RamenShop/report/figs/r_moon.jpg">    </p:cNvPr>
          <p:cNvPicPr>
            <a:picLocks noChangeAspect="1"/>
          </p:cNvPicPr>
          <p:nvPr/>
        </p:nvPicPr>
        <p:blipFill>
          <a:blip r:embed="rId2"/>
          <a:stretch>
            <a:fillRect/>
          </a:stretch>
        </p:blipFill>
        <p:spPr>
          <a:xfrm>
            <a:off x="6172200" y="1288390"/>
            <a:ext cx="5486400" cy="3275381"/>
          </a:xfrm>
          <a:prstGeom prst="rect">
            <a:avLst/>
          </a:prstGeom>
          <a:effectLst>
            <a:outerShdw sx="100000" sy="100000" kx="0" ky="0" algn="bl" rotWithShape="0" blurRad="76200" dist="25400" dir="5400000">
              <a:srgbClr val="000000">
                <a:alpha val="25000"/>
              </a:srgbClr>
            </a:outerShdw>
          </a:effectLst>
        </p:spPr>
      </p:pic>
      <p:sp>
        <p:nvSpPr>
          <p:cNvPr id="6" name="Text 2"/>
          <p:cNvSpPr txBox="1"/>
          <p:nvPr/>
        </p:nvSpPr>
        <p:spPr>
          <a:xfrm>
            <a:off x="6172200" y="4618634"/>
            <a:ext cx="5486400" cy="274320"/>
          </a:xfrm>
          <a:prstGeom prst="rect">
            <a:avLst/>
          </a:prstGeom>
          <a:noFill/>
          <a:ln/>
        </p:spPr>
        <p:txBody>
          <a:bodyPr wrap="square" lIns="0" tIns="0" rIns="0" bIns="0" rtlCol="0" anchor="ctr"/>
          <a:lstStyle/>
          <a:p>
            <a:pPr algn="ctr" indent="0" marL="0">
              <a:buNone/>
            </a:pPr>
            <a:r>
              <a:rPr lang="en-US" sz="1200" i="1" dirty="0">
                <a:solidFill>
                  <a:schemeClr val="accent6"/>
                </a:solidFill>
              </a:rPr>
              <a:t>Night: cratered moon, fireflies, lamp</a:t>
            </a:r>
            <a:endParaRPr lang="en-US" sz="1200" dirty="0"/>
          </a:p>
        </p:txBody>
      </p:sp>
      <p:sp>
        <p:nvSpPr>
          <p:cNvPr id="7" name="Text 3"/>
          <p:cNvSpPr txBox="1"/>
          <p:nvPr/>
        </p:nvSpPr>
        <p:spPr>
          <a:xfrm>
            <a:off x="548640" y="4983480"/>
            <a:ext cx="676656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Skybox: drawn first with depth writes off and the camera translation removed, so the sky is infinitely far</a:t>
            </a:r>
            <a:endParaRPr lang="en-US" sz="1400" dirty="0"/>
          </a:p>
          <a:p>
            <a:pPr marL="342900" indent="-342900">
              <a:spcAft>
                <a:spcPts val="600"/>
              </a:spcAft>
              <a:buSzPct val="100000"/>
              <a:buChar char="•"/>
            </a:pPr>
            <a:r>
              <a:rPr lang="en-US" sz="1400" dirty="0">
                <a:solidFill>
                  <a:schemeClr val="tx1"/>
                </a:solidFill>
              </a:rPr>
              <a:t>Sun = 5 camera-facing discs (additive halos); moon = disc + 6 craters; 132 twinkling stars; 12 clouds of 22 billboards</a:t>
            </a:r>
            <a:endParaRPr lang="en-US" sz="1400" dirty="0"/>
          </a:p>
          <a:p>
            <a:pPr marL="342900" indent="-342900">
              <a:spcAft>
                <a:spcPts val="600"/>
              </a:spcAft>
              <a:buSzPct val="100000"/>
              <a:buChar char="•"/>
            </a:pPr>
            <a:r>
              <a:rPr lang="en-US" sz="1400" dirty="0">
                <a:solidFill>
                  <a:schemeClr val="tx1"/>
                </a:solidFill>
              </a:rPr>
              <a:t>Key T switches day and night: sky colours, sun / moon light, lamp glow, fog and shadows</a:t>
            </a:r>
            <a:endParaRPr lang="en-US" sz="1400" dirty="0"/>
          </a:p>
        </p:txBody>
      </p:sp>
      <p:sp>
        <p:nvSpPr>
          <p:cNvPr id="8" name="formula chip"/>
          <p:cNvSpPr/>
          <p:nvPr/>
        </p:nvSpPr>
        <p:spPr>
          <a:xfrm>
            <a:off x="7452360" y="5029200"/>
            <a:ext cx="4160520" cy="1097280"/>
          </a:xfrm>
          <a:prstGeom prst="roundRect">
            <a:avLst>
              <a:gd name="adj" fmla="val 10000"/>
            </a:avLst>
          </a:prstGeom>
          <a:solidFill>
            <a:schemeClr val="accent1"/>
          </a:solidFill>
          <a:ln w="12700">
            <a:solidFill>
              <a:schemeClr val="accent1"/>
            </a:solidFill>
            <a:prstDash val="solid"/>
          </a:ln>
        </p:spPr>
      </p:sp>
      <p:sp>
        <p:nvSpPr>
          <p:cNvPr id="9" name="Text 5"/>
          <p:cNvSpPr txBox="1"/>
          <p:nvPr/>
        </p:nvSpPr>
        <p:spPr>
          <a:xfrm>
            <a:off x="7589520" y="5029200"/>
            <a:ext cx="3886200" cy="1097280"/>
          </a:xfrm>
          <a:prstGeom prst="rect">
            <a:avLst/>
          </a:prstGeom>
          <a:noFill/>
          <a:ln/>
        </p:spPr>
        <p:txBody>
          <a:bodyPr wrap="square" lIns="0" tIns="0" rIns="0" bIns="0" rtlCol="0" anchor="ctr"/>
          <a:lstStyle/>
          <a:p>
            <a:pPr indent="0" marL="0">
              <a:buNone/>
            </a:pPr>
            <a:r>
              <a:rPr lang="en-US" sz="1400" dirty="0">
                <a:solidFill>
                  <a:schemeClr val="bg1"/>
                </a:solidFill>
                <a:latin typeface="Cambria" pitchFamily="34" charset="0"/>
                <a:ea typeface="Cambria" pitchFamily="34" charset="-122"/>
                <a:cs typeface="Cambria" pitchFamily="34" charset="-120"/>
              </a:rPr>
              <a:t>sky: mix(horizon, zenith, t),  t = (e/90°)^0.55</a:t>
            </a:r>
            <a:endParaRPr lang="en-US" sz="1400" dirty="0"/>
          </a:p>
          <a:p>
            <a:pPr indent="0" marL="0">
              <a:buNone/>
            </a:pPr>
            <a:r>
              <a:rPr lang="en-US" sz="1400" dirty="0">
                <a:solidFill>
                  <a:schemeClr val="bg1"/>
                </a:solidFill>
                <a:latin typeface="Cambria" pitchFamily="34" charset="0"/>
                <a:ea typeface="Cambria" pitchFamily="34" charset="-122"/>
                <a:cs typeface="Cambria" pitchFamily="34" charset="-120"/>
              </a:rPr>
              <a:t>glow (additive):  C = α·Cs + Cd</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My procedural textures: grass and cobblestone street</a:t>
            </a:r>
            <a:endParaRPr lang="en-US" sz="3400" dirty="0"/>
          </a:p>
        </p:txBody>
      </p:sp>
      <p:pic>
        <p:nvPicPr>
          <p:cNvPr id="3" name="r_grass" descr="G:/4-1/RamenShop/RamenShop/report/figs/r_grass.jpg">    </p:cNvPr>
          <p:cNvPicPr>
            <a:picLocks noChangeAspect="1"/>
          </p:cNvPicPr>
          <p:nvPr/>
        </p:nvPicPr>
        <p:blipFill>
          <a:blip r:embed="rId1"/>
          <a:stretch>
            <a:fillRect/>
          </a:stretch>
        </p:blipFill>
        <p:spPr>
          <a:xfrm>
            <a:off x="548640" y="1288390"/>
            <a:ext cx="5486400" cy="3275381"/>
          </a:xfrm>
          <a:prstGeom prst="rect">
            <a:avLst/>
          </a:prstGeom>
          <a:effectLst>
            <a:outerShdw sx="100000" sy="100000" kx="0" ky="0" algn="bl" rotWithShape="0" blurRad="76200" dist="25400" dir="5400000">
              <a:srgbClr val="000000">
                <a:alpha val="25000"/>
              </a:srgbClr>
            </a:outerShdw>
          </a:effectLst>
        </p:spPr>
      </p:pic>
      <p:sp>
        <p:nvSpPr>
          <p:cNvPr id="4" name="Text 1"/>
          <p:cNvSpPr txBox="1"/>
          <p:nvPr/>
        </p:nvSpPr>
        <p:spPr>
          <a:xfrm>
            <a:off x="548640" y="4618634"/>
            <a:ext cx="5486400" cy="274320"/>
          </a:xfrm>
          <a:prstGeom prst="rect">
            <a:avLst/>
          </a:prstGeom>
          <a:noFill/>
          <a:ln/>
        </p:spPr>
        <p:txBody>
          <a:bodyPr wrap="square" lIns="0" tIns="0" rIns="0" bIns="0" rtlCol="0" anchor="ctr"/>
          <a:lstStyle/>
          <a:p>
            <a:pPr algn="ctr" indent="0" marL="0">
              <a:buNone/>
            </a:pPr>
            <a:r>
              <a:rPr lang="en-US" sz="1200" i="1" dirty="0">
                <a:solidFill>
                  <a:schemeClr val="accent6"/>
                </a:solidFill>
              </a:rPr>
              <a:t>Grass texture with 3D tufts and flowers</a:t>
            </a:r>
            <a:endParaRPr lang="en-US" sz="1200" dirty="0"/>
          </a:p>
        </p:txBody>
      </p:sp>
      <p:pic>
        <p:nvPicPr>
          <p:cNvPr id="5" name="r_street" descr="G:/4-1/RamenShop/RamenShop/report/figs/r_street.jpg">    </p:cNvPr>
          <p:cNvPicPr>
            <a:picLocks noChangeAspect="1"/>
          </p:cNvPicPr>
          <p:nvPr/>
        </p:nvPicPr>
        <p:blipFill>
          <a:blip r:embed="rId2"/>
          <a:stretch>
            <a:fillRect/>
          </a:stretch>
        </p:blipFill>
        <p:spPr>
          <a:xfrm>
            <a:off x="6172200" y="1288390"/>
            <a:ext cx="5486400" cy="3275381"/>
          </a:xfrm>
          <a:prstGeom prst="rect">
            <a:avLst/>
          </a:prstGeom>
          <a:effectLst>
            <a:outerShdw sx="100000" sy="100000" kx="0" ky="0" algn="bl" rotWithShape="0" blurRad="76200" dist="25400" dir="5400000">
              <a:srgbClr val="000000">
                <a:alpha val="25000"/>
              </a:srgbClr>
            </a:outerShdw>
          </a:effectLst>
        </p:spPr>
      </p:pic>
      <p:sp>
        <p:nvSpPr>
          <p:cNvPr id="6" name="Text 2"/>
          <p:cNvSpPr txBox="1"/>
          <p:nvPr/>
        </p:nvSpPr>
        <p:spPr>
          <a:xfrm>
            <a:off x="6172200" y="4618634"/>
            <a:ext cx="5486400" cy="274320"/>
          </a:xfrm>
          <a:prstGeom prst="rect">
            <a:avLst/>
          </a:prstGeom>
          <a:noFill/>
          <a:ln/>
        </p:spPr>
        <p:txBody>
          <a:bodyPr wrap="square" lIns="0" tIns="0" rIns="0" bIns="0" rtlCol="0" anchor="ctr"/>
          <a:lstStyle/>
          <a:p>
            <a:pPr algn="ctr" indent="0" marL="0">
              <a:buNone/>
            </a:pPr>
            <a:r>
              <a:rPr lang="en-US" sz="1200" i="1" dirty="0">
                <a:solidFill>
                  <a:schemeClr val="accent6"/>
                </a:solidFill>
              </a:rPr>
              <a:t>Cobblestone street and flagstone sidewalk</a:t>
            </a:r>
            <a:endParaRPr lang="en-US" sz="1200" dirty="0"/>
          </a:p>
        </p:txBody>
      </p:sp>
      <p:sp>
        <p:nvSpPr>
          <p:cNvPr id="7" name="Text 3"/>
          <p:cNvSpPr txBox="1"/>
          <p:nvPr/>
        </p:nvSpPr>
        <p:spPr>
          <a:xfrm>
            <a:off x="548640" y="4983480"/>
            <a:ext cx="676656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Grass: 4 greens mixed by noise, then thousands of short blade strokes, then grain; a large macro layer hides the repeat</a:t>
            </a:r>
            <a:endParaRPr lang="en-US" sz="1400" dirty="0"/>
          </a:p>
          <a:p>
            <a:pPr marL="342900" indent="-342900">
              <a:spcAft>
                <a:spcPts val="600"/>
              </a:spcAft>
              <a:buSzPct val="100000"/>
              <a:buChar char="•"/>
            </a:pPr>
            <a:r>
              <a:rPr lang="en-US" sz="1400" dirty="0">
                <a:solidFill>
                  <a:schemeClr val="tx1"/>
                </a:solidFill>
              </a:rPr>
              <a:t>About 500 real 3D grass tufts (30 arching blades each) sway in the wind</a:t>
            </a:r>
            <a:endParaRPr lang="en-US" sz="1400" dirty="0"/>
          </a:p>
          <a:p>
            <a:pPr marL="342900" indent="-342900">
              <a:spcAft>
                <a:spcPts val="600"/>
              </a:spcAft>
              <a:buSzPct val="100000"/>
              <a:buChar char="•"/>
            </a:pPr>
            <a:r>
              <a:rPr lang="en-US" sz="1400" dirty="0">
                <a:solidFill>
                  <a:schemeClr val="tx1"/>
                </a:solidFill>
              </a:rPr>
              <a:t>Street: 1.2 × 0.8 stones in a brick pattern; each stone light, base or dark by h = ½ sin(13.7x + 29.3z) + ½</a:t>
            </a:r>
            <a:endParaRPr lang="en-US" sz="1400" dirty="0"/>
          </a:p>
        </p:txBody>
      </p:sp>
      <p:sp>
        <p:nvSpPr>
          <p:cNvPr id="8" name="formula chip"/>
          <p:cNvSpPr/>
          <p:nvPr/>
        </p:nvSpPr>
        <p:spPr>
          <a:xfrm>
            <a:off x="7452360" y="5029200"/>
            <a:ext cx="4160520" cy="1097280"/>
          </a:xfrm>
          <a:prstGeom prst="roundRect">
            <a:avLst>
              <a:gd name="adj" fmla="val 10000"/>
            </a:avLst>
          </a:prstGeom>
          <a:solidFill>
            <a:schemeClr val="accent1"/>
          </a:solidFill>
          <a:ln w="12700">
            <a:solidFill>
              <a:schemeClr val="accent1"/>
            </a:solidFill>
            <a:prstDash val="solid"/>
          </a:ln>
        </p:spPr>
      </p:sp>
      <p:sp>
        <p:nvSpPr>
          <p:cNvPr id="9" name="Text 5"/>
          <p:cNvSpPr txBox="1"/>
          <p:nvPr/>
        </p:nvSpPr>
        <p:spPr>
          <a:xfrm>
            <a:off x="7589520" y="5029200"/>
            <a:ext cx="3886200" cy="1097280"/>
          </a:xfrm>
          <a:prstGeom prst="rect">
            <a:avLst/>
          </a:prstGeom>
          <a:noFill/>
          <a:ln/>
        </p:spPr>
        <p:txBody>
          <a:bodyPr wrap="square" lIns="0" tIns="0" rIns="0" bIns="0" rtlCol="0" anchor="ctr"/>
          <a:lstStyle/>
          <a:p>
            <a:pPr indent="0" marL="0">
              <a:buNone/>
            </a:pPr>
            <a:r>
              <a:rPr lang="en-US" sz="1400" dirty="0">
                <a:solidFill>
                  <a:schemeClr val="bg1"/>
                </a:solidFill>
                <a:latin typeface="Cambria" pitchFamily="34" charset="0"/>
                <a:ea typeface="Cambria" pitchFamily="34" charset="-122"/>
                <a:cs typeface="Cambria" pitchFamily="34" charset="-120"/>
              </a:rPr>
              <a:t>value noise + fractal Brownian motion:</a:t>
            </a:r>
            <a:endParaRPr lang="en-US" sz="1400" dirty="0"/>
          </a:p>
          <a:p>
            <a:pPr indent="0" marL="0">
              <a:buNone/>
            </a:pPr>
            <a:r>
              <a:rPr lang="en-US" sz="1400" dirty="0">
                <a:solidFill>
                  <a:schemeClr val="bg1"/>
                </a:solidFill>
                <a:latin typeface="Cambria" pitchFamily="34" charset="0"/>
                <a:ea typeface="Cambria" pitchFamily="34" charset="-122"/>
                <a:cs typeface="Cambria" pitchFamily="34" charset="-120"/>
              </a:rPr>
              <a:t>fBm = Σ 2^-(k+1) · n(2^k x, 2^k y)</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Lighting: ambient, diffuse and specular</a:t>
            </a:r>
            <a:endParaRPr lang="en-US" sz="3400" dirty="0"/>
          </a:p>
        </p:txBody>
      </p:sp>
      <p:pic>
        <p:nvPicPr>
          <p:cNvPr id="3" name="fig_l_all" descr="G:/4-1/RamenShop/RamenShop/report/figs/fig_l_all.jpg">    </p:cNvPr>
          <p:cNvPicPr>
            <a:picLocks noChangeAspect="1"/>
          </p:cNvPicPr>
          <p:nvPr/>
        </p:nvPicPr>
        <p:blipFill>
          <a:blip r:embed="rId1"/>
          <a:stretch>
            <a:fillRect/>
          </a:stretch>
        </p:blipFill>
        <p:spPr>
          <a:xfrm>
            <a:off x="548640" y="1280526"/>
            <a:ext cx="6949440" cy="3245388"/>
          </a:xfrm>
          <a:prstGeom prst="rect">
            <a:avLst/>
          </a:prstGeom>
          <a:effectLst>
            <a:outerShdw sx="100000" sy="100000" kx="0" ky="0" algn="bl" rotWithShape="0" blurRad="76200" dist="25400" dir="5400000">
              <a:srgbClr val="000000">
                <a:alpha val="25000"/>
              </a:srgbClr>
            </a:outerShdw>
          </a:effectLst>
        </p:spPr>
      </p:pic>
      <p:sp>
        <p:nvSpPr>
          <p:cNvPr id="4" name="Text 1"/>
          <p:cNvSpPr txBox="1"/>
          <p:nvPr/>
        </p:nvSpPr>
        <p:spPr>
          <a:xfrm>
            <a:off x="548640" y="4580778"/>
            <a:ext cx="6949440" cy="274320"/>
          </a:xfrm>
          <a:prstGeom prst="rect">
            <a:avLst/>
          </a:prstGeom>
          <a:noFill/>
          <a:ln/>
        </p:spPr>
        <p:txBody>
          <a:bodyPr wrap="square" lIns="0" tIns="0" rIns="0" bIns="0" rtlCol="0" anchor="ctr"/>
          <a:lstStyle/>
          <a:p>
            <a:pPr algn="ctr" indent="0" marL="0">
              <a:buNone/>
            </a:pPr>
            <a:r>
              <a:rPr lang="en-US" sz="1200" i="1" dirty="0">
                <a:solidFill>
                  <a:schemeClr val="accent6"/>
                </a:solidFill>
              </a:rPr>
              <a:t>All terms on (night)</a:t>
            </a:r>
            <a:endParaRPr lang="en-US" sz="1200" dirty="0"/>
          </a:p>
        </p:txBody>
      </p:sp>
      <p:pic>
        <p:nvPicPr>
          <p:cNvPr id="5" name="fig_l_noamb" descr="G:/4-1/RamenShop/RamenShop/report/figs/fig_l_noamb.jpg">    </p:cNvPr>
          <p:cNvPicPr>
            <a:picLocks noChangeAspect="1"/>
          </p:cNvPicPr>
          <p:nvPr/>
        </p:nvPicPr>
        <p:blipFill>
          <a:blip r:embed="rId2"/>
          <a:stretch>
            <a:fillRect/>
          </a:stretch>
        </p:blipFill>
        <p:spPr>
          <a:xfrm>
            <a:off x="8318788" y="1280160"/>
            <a:ext cx="2839143" cy="1325880"/>
          </a:xfrm>
          <a:prstGeom prst="rect">
            <a:avLst/>
          </a:prstGeom>
          <a:effectLst>
            <a:outerShdw sx="100000" sy="100000" kx="0" ky="0" algn="bl" rotWithShape="0" blurRad="76200" dist="25400" dir="5400000">
              <a:srgbClr val="000000">
                <a:alpha val="25000"/>
              </a:srgbClr>
            </a:outerShdw>
          </a:effectLst>
        </p:spPr>
      </p:pic>
      <p:sp>
        <p:nvSpPr>
          <p:cNvPr id="6" name="Text 2"/>
          <p:cNvSpPr txBox="1"/>
          <p:nvPr/>
        </p:nvSpPr>
        <p:spPr>
          <a:xfrm>
            <a:off x="8318788" y="2660904"/>
            <a:ext cx="2839143" cy="274320"/>
          </a:xfrm>
          <a:prstGeom prst="rect">
            <a:avLst/>
          </a:prstGeom>
          <a:noFill/>
          <a:ln/>
        </p:spPr>
        <p:txBody>
          <a:bodyPr wrap="square" lIns="0" tIns="0" rIns="0" bIns="0" rtlCol="0" anchor="ctr"/>
          <a:lstStyle/>
          <a:p>
            <a:pPr algn="ctr" indent="0" marL="0">
              <a:buNone/>
            </a:pPr>
            <a:r>
              <a:rPr lang="en-US" sz="1200" i="1" dirty="0">
                <a:solidFill>
                  <a:schemeClr val="accent6"/>
                </a:solidFill>
              </a:rPr>
              <a:t>No ambient</a:t>
            </a:r>
            <a:endParaRPr lang="en-US" sz="1200" dirty="0"/>
          </a:p>
        </p:txBody>
      </p:sp>
      <p:pic>
        <p:nvPicPr>
          <p:cNvPr id="7" name="fig_l_nodif" descr="G:/4-1/RamenShop/RamenShop/report/figs/fig_l_nodif.jpg">    </p:cNvPr>
          <p:cNvPicPr>
            <a:picLocks noChangeAspect="1"/>
          </p:cNvPicPr>
          <p:nvPr/>
        </p:nvPicPr>
        <p:blipFill>
          <a:blip r:embed="rId3"/>
          <a:stretch>
            <a:fillRect/>
          </a:stretch>
        </p:blipFill>
        <p:spPr>
          <a:xfrm>
            <a:off x="8318788" y="2953512"/>
            <a:ext cx="2839143" cy="1325880"/>
          </a:xfrm>
          <a:prstGeom prst="rect">
            <a:avLst/>
          </a:prstGeom>
          <a:effectLst>
            <a:outerShdw sx="100000" sy="100000" kx="0" ky="0" algn="bl" rotWithShape="0" blurRad="76200" dist="25400" dir="5400000">
              <a:srgbClr val="000000">
                <a:alpha val="25000"/>
              </a:srgbClr>
            </a:outerShdw>
          </a:effectLst>
        </p:spPr>
      </p:pic>
      <p:sp>
        <p:nvSpPr>
          <p:cNvPr id="8" name="Text 3"/>
          <p:cNvSpPr txBox="1"/>
          <p:nvPr/>
        </p:nvSpPr>
        <p:spPr>
          <a:xfrm>
            <a:off x="8318788" y="4334256"/>
            <a:ext cx="2839143" cy="274320"/>
          </a:xfrm>
          <a:prstGeom prst="rect">
            <a:avLst/>
          </a:prstGeom>
          <a:noFill/>
          <a:ln/>
        </p:spPr>
        <p:txBody>
          <a:bodyPr wrap="square" lIns="0" tIns="0" rIns="0" bIns="0" rtlCol="0" anchor="ctr"/>
          <a:lstStyle/>
          <a:p>
            <a:pPr algn="ctr" indent="0" marL="0">
              <a:buNone/>
            </a:pPr>
            <a:r>
              <a:rPr lang="en-US" sz="1200" i="1" dirty="0">
                <a:solidFill>
                  <a:schemeClr val="accent6"/>
                </a:solidFill>
              </a:rPr>
              <a:t>No diffuse</a:t>
            </a:r>
            <a:endParaRPr lang="en-US" sz="1200" dirty="0"/>
          </a:p>
        </p:txBody>
      </p:sp>
      <p:pic>
        <p:nvPicPr>
          <p:cNvPr id="9" name="fig_l_nospec" descr="G:/4-1/RamenShop/RamenShop/report/figs/fig_l_nospec.jpg">    </p:cNvPr>
          <p:cNvPicPr>
            <a:picLocks noChangeAspect="1"/>
          </p:cNvPicPr>
          <p:nvPr/>
        </p:nvPicPr>
        <p:blipFill>
          <a:blip r:embed="rId4"/>
          <a:stretch>
            <a:fillRect/>
          </a:stretch>
        </p:blipFill>
        <p:spPr>
          <a:xfrm>
            <a:off x="8318788" y="4626864"/>
            <a:ext cx="2839143" cy="1325880"/>
          </a:xfrm>
          <a:prstGeom prst="rect">
            <a:avLst/>
          </a:prstGeom>
          <a:effectLst>
            <a:outerShdw sx="100000" sy="100000" kx="0" ky="0" algn="bl" rotWithShape="0" blurRad="76200" dist="25400" dir="5400000">
              <a:srgbClr val="000000">
                <a:alpha val="25000"/>
              </a:srgbClr>
            </a:outerShdw>
          </a:effectLst>
        </p:spPr>
      </p:pic>
      <p:sp>
        <p:nvSpPr>
          <p:cNvPr id="10" name="Text 4"/>
          <p:cNvSpPr txBox="1"/>
          <p:nvPr/>
        </p:nvSpPr>
        <p:spPr>
          <a:xfrm>
            <a:off x="8318788" y="6007608"/>
            <a:ext cx="2839143" cy="274320"/>
          </a:xfrm>
          <a:prstGeom prst="rect">
            <a:avLst/>
          </a:prstGeom>
          <a:noFill/>
          <a:ln/>
        </p:spPr>
        <p:txBody>
          <a:bodyPr wrap="square" lIns="0" tIns="0" rIns="0" bIns="0" rtlCol="0" anchor="ctr"/>
          <a:lstStyle/>
          <a:p>
            <a:pPr algn="ctr" indent="0" marL="0">
              <a:buNone/>
            </a:pPr>
            <a:r>
              <a:rPr lang="en-US" sz="1200" i="1" dirty="0">
                <a:solidFill>
                  <a:schemeClr val="accent6"/>
                </a:solidFill>
              </a:rPr>
              <a:t>No specular</a:t>
            </a:r>
            <a:endParaRPr lang="en-US" sz="1200" dirty="0"/>
          </a:p>
        </p:txBody>
      </p:sp>
      <p:sp>
        <p:nvSpPr>
          <p:cNvPr id="11" name="formula chip"/>
          <p:cNvSpPr/>
          <p:nvPr/>
        </p:nvSpPr>
        <p:spPr>
          <a:xfrm>
            <a:off x="548640" y="4892040"/>
            <a:ext cx="6949440" cy="548640"/>
          </a:xfrm>
          <a:prstGeom prst="roundRect">
            <a:avLst>
              <a:gd name="adj" fmla="val 20000"/>
            </a:avLst>
          </a:prstGeom>
          <a:solidFill>
            <a:schemeClr val="accent1"/>
          </a:solidFill>
          <a:ln w="12700">
            <a:solidFill>
              <a:schemeClr val="accent1"/>
            </a:solidFill>
            <a:prstDash val="solid"/>
          </a:ln>
        </p:spPr>
      </p:sp>
      <p:sp>
        <p:nvSpPr>
          <p:cNvPr id="12" name="Text 6"/>
          <p:cNvSpPr txBox="1"/>
          <p:nvPr/>
        </p:nvSpPr>
        <p:spPr>
          <a:xfrm>
            <a:off x="685800" y="4892040"/>
            <a:ext cx="6675120" cy="548640"/>
          </a:xfrm>
          <a:prstGeom prst="rect">
            <a:avLst/>
          </a:prstGeom>
          <a:noFill/>
          <a:ln/>
        </p:spPr>
        <p:txBody>
          <a:bodyPr wrap="square" lIns="0" tIns="0" rIns="0" bIns="0" rtlCol="0" anchor="ctr"/>
          <a:lstStyle/>
          <a:p>
            <a:pPr indent="0" marL="0">
              <a:buNone/>
            </a:pPr>
            <a:r>
              <a:rPr lang="en-US" sz="1500" dirty="0">
                <a:solidFill>
                  <a:schemeClr val="bg1"/>
                </a:solidFill>
                <a:latin typeface="Cambria" pitchFamily="34" charset="0"/>
                <a:ea typeface="Cambria" pitchFamily="34" charset="-122"/>
                <a:cs typeface="Cambria" pitchFamily="34" charset="-120"/>
              </a:rPr>
              <a:t>I = e + Σ aᵢ [ ka·La + kd·Ld·(N·L) + ks·Ls·(N·H)ⁿ ],   aᵢ = 1 / (kc + kl·d + kq·d²)</a:t>
            </a:r>
            <a:endParaRPr lang="en-US" sz="1500" dirty="0"/>
          </a:p>
        </p:txBody>
      </p:sp>
      <p:sp>
        <p:nvSpPr>
          <p:cNvPr id="13" name="Text 7"/>
          <p:cNvSpPr txBox="1"/>
          <p:nvPr/>
        </p:nvSpPr>
        <p:spPr>
          <a:xfrm>
            <a:off x="548640" y="5532120"/>
            <a:ext cx="6949440" cy="777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8 lights: sun / moon (directional), lamps (point), table lamps (spot 28°)</a:t>
            </a:r>
            <a:endParaRPr lang="en-US" sz="1400" dirty="0"/>
          </a:p>
          <a:p>
            <a:pPr marL="342900" indent="-342900">
              <a:spcAft>
                <a:spcPts val="600"/>
              </a:spcAft>
              <a:buSzPct val="100000"/>
              <a:buChar char="•"/>
            </a:pPr>
            <a:r>
              <a:rPr lang="en-US" sz="1400" dirty="0">
                <a:solidFill>
                  <a:schemeClr val="tx1"/>
                </a:solidFill>
              </a:rPr>
              <a:t>Keys 1–7 switch each lamp; − = \ remove one term from every light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Gouraud vs Phong shading</a:t>
            </a:r>
            <a:endParaRPr lang="en-US" sz="3400" dirty="0"/>
          </a:p>
        </p:txBody>
      </p:sp>
      <p:pic>
        <p:nvPicPr>
          <p:cNvPr id="3" name="fig_gouraud" descr="G:/4-1/RamenShop/RamenShop/report/figs/fig_gouraud.jpg">    </p:cNvPr>
          <p:cNvPicPr>
            <a:picLocks noChangeAspect="1"/>
          </p:cNvPicPr>
          <p:nvPr/>
        </p:nvPicPr>
        <p:blipFill>
          <a:blip r:embed="rId1"/>
          <a:stretch>
            <a:fillRect/>
          </a:stretch>
        </p:blipFill>
        <p:spPr>
          <a:xfrm>
            <a:off x="548640" y="1302106"/>
            <a:ext cx="5486400" cy="2562149"/>
          </a:xfrm>
          <a:prstGeom prst="rect">
            <a:avLst/>
          </a:prstGeom>
          <a:effectLst>
            <a:outerShdw sx="100000" sy="100000" kx="0" ky="0" algn="bl" rotWithShape="0" blurRad="76200" dist="25400" dir="5400000">
              <a:srgbClr val="000000">
                <a:alpha val="25000"/>
              </a:srgbClr>
            </a:outerShdw>
          </a:effectLst>
        </p:spPr>
      </p:pic>
      <p:sp>
        <p:nvSpPr>
          <p:cNvPr id="4" name="Text 1"/>
          <p:cNvSpPr txBox="1"/>
          <p:nvPr/>
        </p:nvSpPr>
        <p:spPr>
          <a:xfrm>
            <a:off x="548640" y="3919118"/>
            <a:ext cx="5486400" cy="274320"/>
          </a:xfrm>
          <a:prstGeom prst="rect">
            <a:avLst/>
          </a:prstGeom>
          <a:noFill/>
          <a:ln/>
        </p:spPr>
        <p:txBody>
          <a:bodyPr wrap="square" lIns="0" tIns="0" rIns="0" bIns="0" rtlCol="0" anchor="ctr"/>
          <a:lstStyle/>
          <a:p>
            <a:pPr algn="ctr" indent="0" marL="0">
              <a:buNone/>
            </a:pPr>
            <a:r>
              <a:rPr lang="en-US" sz="1200" i="1" dirty="0">
                <a:solidFill>
                  <a:schemeClr val="accent6"/>
                </a:solidFill>
              </a:rPr>
              <a:t>Gouraud: light per vertex, colour interpolated</a:t>
            </a:r>
            <a:endParaRPr lang="en-US" sz="1200" dirty="0"/>
          </a:p>
        </p:txBody>
      </p:sp>
      <p:pic>
        <p:nvPicPr>
          <p:cNvPr id="5" name="fig_l_all" descr="G:/4-1/RamenShop/RamenShop/report/figs/fig_l_all.jpg">    </p:cNvPr>
          <p:cNvPicPr>
            <a:picLocks noChangeAspect="1"/>
          </p:cNvPicPr>
          <p:nvPr/>
        </p:nvPicPr>
        <p:blipFill>
          <a:blip r:embed="rId2"/>
          <a:stretch>
            <a:fillRect/>
          </a:stretch>
        </p:blipFill>
        <p:spPr>
          <a:xfrm>
            <a:off x="6172200" y="1302106"/>
            <a:ext cx="5486400" cy="2562149"/>
          </a:xfrm>
          <a:prstGeom prst="rect">
            <a:avLst/>
          </a:prstGeom>
          <a:effectLst>
            <a:outerShdw sx="100000" sy="100000" kx="0" ky="0" algn="bl" rotWithShape="0" blurRad="76200" dist="25400" dir="5400000">
              <a:srgbClr val="000000">
                <a:alpha val="25000"/>
              </a:srgbClr>
            </a:outerShdw>
          </a:effectLst>
        </p:spPr>
      </p:pic>
      <p:sp>
        <p:nvSpPr>
          <p:cNvPr id="6" name="Text 2"/>
          <p:cNvSpPr txBox="1"/>
          <p:nvPr/>
        </p:nvSpPr>
        <p:spPr>
          <a:xfrm>
            <a:off x="6172200" y="3919118"/>
            <a:ext cx="5486400" cy="274320"/>
          </a:xfrm>
          <a:prstGeom prst="rect">
            <a:avLst/>
          </a:prstGeom>
          <a:noFill/>
          <a:ln/>
        </p:spPr>
        <p:txBody>
          <a:bodyPr wrap="square" lIns="0" tIns="0" rIns="0" bIns="0" rtlCol="0" anchor="ctr"/>
          <a:lstStyle/>
          <a:p>
            <a:pPr algn="ctr" indent="0" marL="0">
              <a:buNone/>
            </a:pPr>
            <a:r>
              <a:rPr lang="en-US" sz="1200" i="1" dirty="0">
                <a:solidFill>
                  <a:schemeClr val="accent6"/>
                </a:solidFill>
              </a:rPr>
              <a:t>Phong: normal interpolated, light per pixel</a:t>
            </a:r>
            <a:endParaRPr lang="en-US" sz="1200" dirty="0"/>
          </a:p>
        </p:txBody>
      </p:sp>
      <p:sp>
        <p:nvSpPr>
          <p:cNvPr id="7" name="Text 3"/>
          <p:cNvSpPr txBox="1"/>
          <p:nvPr/>
        </p:nvSpPr>
        <p:spPr>
          <a:xfrm>
            <a:off x="548640" y="4343400"/>
            <a:ext cx="6766560" cy="18288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Gouraud = fixed-function path; a highlight that falls inside a triangle is lost</a:t>
            </a:r>
            <a:endParaRPr lang="en-US" sz="1500" dirty="0"/>
          </a:p>
          <a:p>
            <a:pPr marL="342900" indent="-342900">
              <a:spcAft>
                <a:spcPts val="600"/>
              </a:spcAft>
              <a:buSzPct val="100000"/>
              <a:buChar char="•"/>
            </a:pPr>
            <a:r>
              <a:rPr lang="en-US" sz="1500" dirty="0">
                <a:solidFill>
                  <a:schemeClr val="tx1"/>
                </a:solidFill>
              </a:rPr>
              <a:t>Phong = my GLSL 1.20 fragment shader: loops over the 8 lights, spot cones, attenuation, fog and the shadow lookup</a:t>
            </a:r>
            <a:endParaRPr lang="en-US" sz="1500" dirty="0"/>
          </a:p>
          <a:p>
            <a:pPr marL="342900" indent="-342900">
              <a:spcAft>
                <a:spcPts val="600"/>
              </a:spcAft>
              <a:buSzPct val="100000"/>
              <a:buChar char="•"/>
            </a:pPr>
            <a:r>
              <a:rPr lang="en-US" sz="1500" dirty="0">
                <a:solidFill>
                  <a:schemeClr val="tx1"/>
                </a:solidFill>
              </a:rPr>
              <a:t>Specular uses Blinn's half vector H = normalize(L + V); key G switches the two</a:t>
            </a:r>
            <a:endParaRPr lang="en-US" sz="1500" dirty="0"/>
          </a:p>
        </p:txBody>
      </p:sp>
      <p:sp>
        <p:nvSpPr>
          <p:cNvPr id="8" name="formula chip"/>
          <p:cNvSpPr/>
          <p:nvPr/>
        </p:nvSpPr>
        <p:spPr>
          <a:xfrm>
            <a:off x="7452360" y="4434840"/>
            <a:ext cx="4160520" cy="1188720"/>
          </a:xfrm>
          <a:prstGeom prst="roundRect">
            <a:avLst>
              <a:gd name="adj" fmla="val 9231"/>
            </a:avLst>
          </a:prstGeom>
          <a:solidFill>
            <a:schemeClr val="accent1"/>
          </a:solidFill>
          <a:ln w="12700">
            <a:solidFill>
              <a:schemeClr val="accent1"/>
            </a:solidFill>
            <a:prstDash val="solid"/>
          </a:ln>
        </p:spPr>
      </p:sp>
      <p:sp>
        <p:nvSpPr>
          <p:cNvPr id="9" name="Text 5"/>
          <p:cNvSpPr txBox="1"/>
          <p:nvPr/>
        </p:nvSpPr>
        <p:spPr>
          <a:xfrm>
            <a:off x="7589520" y="4434840"/>
            <a:ext cx="3886200" cy="1188720"/>
          </a:xfrm>
          <a:prstGeom prst="rect">
            <a:avLst/>
          </a:prstGeom>
          <a:noFill/>
          <a:ln/>
        </p:spPr>
        <p:txBody>
          <a:bodyPr wrap="square" lIns="0" tIns="0" rIns="0" bIns="0" rtlCol="0" anchor="ctr"/>
          <a:lstStyle/>
          <a:p>
            <a:pPr indent="0" marL="0">
              <a:buNone/>
            </a:pPr>
            <a:r>
              <a:rPr lang="en-US" sz="1500" dirty="0">
                <a:solidFill>
                  <a:schemeClr val="bg1"/>
                </a:solidFill>
                <a:latin typeface="Cambria" pitchFamily="34" charset="0"/>
                <a:ea typeface="Cambria" pitchFamily="34" charset="-122"/>
                <a:cs typeface="Cambria" pitchFamily="34" charset="-120"/>
              </a:rPr>
              <a:t>Gouraud:  C = λ₁C₁ + λ₂C₂ + λ₃C₃</a:t>
            </a:r>
            <a:endParaRPr lang="en-US" sz="1500" dirty="0"/>
          </a:p>
          <a:p>
            <a:pPr indent="0" marL="0">
              <a:buNone/>
            </a:pPr>
            <a:r>
              <a:rPr lang="en-US" sz="1500" dirty="0">
                <a:solidFill>
                  <a:schemeClr val="bg1"/>
                </a:solidFill>
                <a:latin typeface="Cambria" pitchFamily="34" charset="0"/>
                <a:ea typeface="Cambria" pitchFamily="34" charset="-122"/>
                <a:cs typeface="Cambria" pitchFamily="34" charset="-120"/>
              </a:rPr>
              <a:t>Phong:  N = normalize(λ₁N₁ + λ₂N₂ + λ₃N₃)</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Shadows: stencil projection and soft shadow map</a:t>
            </a:r>
            <a:endParaRPr lang="en-US" sz="3400" dirty="0"/>
          </a:p>
        </p:txBody>
      </p:sp>
      <p:pic>
        <p:nvPicPr>
          <p:cNvPr id="3" name="fig_ext_day" descr="G:/4-1/RamenShop/RamenShop/report/figs/fig_ext_day.jpg">    </p:cNvPr>
          <p:cNvPicPr>
            <a:picLocks noChangeAspect="1"/>
          </p:cNvPicPr>
          <p:nvPr/>
        </p:nvPicPr>
        <p:blipFill>
          <a:blip r:embed="rId1"/>
          <a:stretch>
            <a:fillRect/>
          </a:stretch>
        </p:blipFill>
        <p:spPr>
          <a:xfrm>
            <a:off x="548640" y="1523390"/>
            <a:ext cx="3657600" cy="1708099"/>
          </a:xfrm>
          <a:prstGeom prst="rect">
            <a:avLst/>
          </a:prstGeom>
          <a:effectLst>
            <a:outerShdw sx="100000" sy="100000" kx="0" ky="0" algn="bl" rotWithShape="0" blurRad="76200" dist="25400" dir="5400000">
              <a:srgbClr val="000000">
                <a:alpha val="25000"/>
              </a:srgbClr>
            </a:outerShdw>
          </a:effectLst>
        </p:spPr>
      </p:pic>
      <p:sp>
        <p:nvSpPr>
          <p:cNvPr id="4" name="Text 1"/>
          <p:cNvSpPr txBox="1"/>
          <p:nvPr/>
        </p:nvSpPr>
        <p:spPr>
          <a:xfrm>
            <a:off x="548640" y="3286354"/>
            <a:ext cx="3657600" cy="274320"/>
          </a:xfrm>
          <a:prstGeom prst="rect">
            <a:avLst/>
          </a:prstGeom>
          <a:noFill/>
          <a:ln/>
        </p:spPr>
        <p:txBody>
          <a:bodyPr wrap="square" lIns="0" tIns="0" rIns="0" bIns="0" rtlCol="0" anchor="ctr"/>
          <a:lstStyle/>
          <a:p>
            <a:pPr algn="ctr" indent="0" marL="0">
              <a:buNone/>
            </a:pPr>
            <a:r>
              <a:rPr lang="en-US" sz="1200" i="1" dirty="0">
                <a:solidFill>
                  <a:schemeClr val="accent6"/>
                </a:solidFill>
              </a:rPr>
              <a:t>Sun shadows (stencil)</a:t>
            </a:r>
            <a:endParaRPr lang="en-US" sz="1200" dirty="0"/>
          </a:p>
        </p:txBody>
      </p:sp>
      <p:pic>
        <p:nvPicPr>
          <p:cNvPr id="5" name="fig_sh_off" descr="G:/4-1/RamenShop/RamenShop/report/figs/fig_sh_off.jpg">    </p:cNvPr>
          <p:cNvPicPr>
            <a:picLocks noChangeAspect="1"/>
          </p:cNvPicPr>
          <p:nvPr/>
        </p:nvPicPr>
        <p:blipFill>
          <a:blip r:embed="rId2"/>
          <a:stretch>
            <a:fillRect/>
          </a:stretch>
        </p:blipFill>
        <p:spPr>
          <a:xfrm>
            <a:off x="4270248" y="1523390"/>
            <a:ext cx="3657600" cy="1708099"/>
          </a:xfrm>
          <a:prstGeom prst="rect">
            <a:avLst/>
          </a:prstGeom>
          <a:effectLst>
            <a:outerShdw sx="100000" sy="100000" kx="0" ky="0" algn="bl" rotWithShape="0" blurRad="76200" dist="25400" dir="5400000">
              <a:srgbClr val="000000">
                <a:alpha val="25000"/>
              </a:srgbClr>
            </a:outerShdw>
          </a:effectLst>
        </p:spPr>
      </p:pic>
      <p:sp>
        <p:nvSpPr>
          <p:cNvPr id="6" name="Text 2"/>
          <p:cNvSpPr txBox="1"/>
          <p:nvPr/>
        </p:nvSpPr>
        <p:spPr>
          <a:xfrm>
            <a:off x="4270248" y="3286354"/>
            <a:ext cx="3657600" cy="274320"/>
          </a:xfrm>
          <a:prstGeom prst="rect">
            <a:avLst/>
          </a:prstGeom>
          <a:noFill/>
          <a:ln/>
        </p:spPr>
        <p:txBody>
          <a:bodyPr wrap="square" lIns="0" tIns="0" rIns="0" bIns="0" rtlCol="0" anchor="ctr"/>
          <a:lstStyle/>
          <a:p>
            <a:pPr algn="ctr" indent="0" marL="0">
              <a:buNone/>
            </a:pPr>
            <a:r>
              <a:rPr lang="en-US" sz="1200" i="1" dirty="0">
                <a:solidFill>
                  <a:schemeClr val="accent6"/>
                </a:solidFill>
              </a:rPr>
              <a:t>Projected only</a:t>
            </a:r>
            <a:endParaRPr lang="en-US" sz="1200" dirty="0"/>
          </a:p>
        </p:txBody>
      </p:sp>
      <p:pic>
        <p:nvPicPr>
          <p:cNvPr id="7" name="fig_sh_on" descr="G:/4-1/RamenShop/RamenShop/report/figs/fig_sh_on.jpg">    </p:cNvPr>
          <p:cNvPicPr>
            <a:picLocks noChangeAspect="1"/>
          </p:cNvPicPr>
          <p:nvPr/>
        </p:nvPicPr>
        <p:blipFill>
          <a:blip r:embed="rId3"/>
          <a:stretch>
            <a:fillRect/>
          </a:stretch>
        </p:blipFill>
        <p:spPr>
          <a:xfrm>
            <a:off x="7982712" y="1523390"/>
            <a:ext cx="3657600" cy="1708099"/>
          </a:xfrm>
          <a:prstGeom prst="rect">
            <a:avLst/>
          </a:prstGeom>
          <a:effectLst>
            <a:outerShdw sx="100000" sy="100000" kx="0" ky="0" algn="bl" rotWithShape="0" blurRad="76200" dist="25400" dir="5400000">
              <a:srgbClr val="000000">
                <a:alpha val="25000"/>
              </a:srgbClr>
            </a:outerShdw>
          </a:effectLst>
        </p:spPr>
      </p:pic>
      <p:sp>
        <p:nvSpPr>
          <p:cNvPr id="8" name="Text 3"/>
          <p:cNvSpPr txBox="1"/>
          <p:nvPr/>
        </p:nvSpPr>
        <p:spPr>
          <a:xfrm>
            <a:off x="7982712" y="3286354"/>
            <a:ext cx="3657600" cy="274320"/>
          </a:xfrm>
          <a:prstGeom prst="rect">
            <a:avLst/>
          </a:prstGeom>
          <a:noFill/>
          <a:ln/>
        </p:spPr>
        <p:txBody>
          <a:bodyPr wrap="square" lIns="0" tIns="0" rIns="0" bIns="0" rtlCol="0" anchor="ctr"/>
          <a:lstStyle/>
          <a:p>
            <a:pPr algn="ctr" indent="0" marL="0">
              <a:buNone/>
            </a:pPr>
            <a:r>
              <a:rPr lang="en-US" sz="1200" i="1" dirty="0">
                <a:solidFill>
                  <a:schemeClr val="accent6"/>
                </a:solidFill>
              </a:rPr>
              <a:t>Shadow map + PCF (key Y)</a:t>
            </a:r>
            <a:endParaRPr lang="en-US" sz="1200" dirty="0"/>
          </a:p>
        </p:txBody>
      </p:sp>
      <p:sp>
        <p:nvSpPr>
          <p:cNvPr id="9" name="Text 4"/>
          <p:cNvSpPr txBox="1"/>
          <p:nvPr/>
        </p:nvSpPr>
        <p:spPr>
          <a:xfrm>
            <a:off x="548640" y="3977640"/>
            <a:ext cx="6766560"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Sun: the whole outdoor scene is flattened onto the ground into the stencil buffer, then one dark layer is blended, so overlapping shadows never darken twice</a:t>
            </a:r>
            <a:endParaRPr lang="en-US" sz="1500" dirty="0"/>
          </a:p>
          <a:p>
            <a:pPr marL="342900" indent="-342900">
              <a:spcAft>
                <a:spcPts val="600"/>
              </a:spcAft>
              <a:buSzPct val="100000"/>
              <a:buChar char="•"/>
            </a:pPr>
            <a:r>
              <a:rPr lang="en-US" sz="1500" dirty="0">
                <a:solidFill>
                  <a:schemeClr val="tx1"/>
                </a:solidFill>
              </a:rPr>
              <a:t>Inside: furniture projected from the lamps; key Y adds a 512 × 512 depth map with 3 × 3 percentage-closer filtering for soft edges</a:t>
            </a:r>
            <a:endParaRPr lang="en-US" sz="1500" dirty="0"/>
          </a:p>
        </p:txBody>
      </p:sp>
      <p:sp>
        <p:nvSpPr>
          <p:cNvPr id="10" name="formula chip"/>
          <p:cNvSpPr/>
          <p:nvPr/>
        </p:nvSpPr>
        <p:spPr>
          <a:xfrm>
            <a:off x="7452360" y="4069080"/>
            <a:ext cx="4160520" cy="1188720"/>
          </a:xfrm>
          <a:prstGeom prst="roundRect">
            <a:avLst>
              <a:gd name="adj" fmla="val 9231"/>
            </a:avLst>
          </a:prstGeom>
          <a:solidFill>
            <a:schemeClr val="accent1"/>
          </a:solidFill>
          <a:ln w="12700">
            <a:solidFill>
              <a:schemeClr val="accent1"/>
            </a:solidFill>
            <a:prstDash val="solid"/>
          </a:ln>
        </p:spPr>
      </p:sp>
      <p:sp>
        <p:nvSpPr>
          <p:cNvPr id="11" name="Text 6"/>
          <p:cNvSpPr txBox="1"/>
          <p:nvPr/>
        </p:nvSpPr>
        <p:spPr>
          <a:xfrm>
            <a:off x="7589520" y="4069080"/>
            <a:ext cx="3886200" cy="1188720"/>
          </a:xfrm>
          <a:prstGeom prst="rect">
            <a:avLst/>
          </a:prstGeom>
          <a:noFill/>
          <a:ln/>
        </p:spPr>
        <p:txBody>
          <a:bodyPr wrap="square" lIns="0" tIns="0" rIns="0" bIns="0" rtlCol="0" anchor="ctr"/>
          <a:lstStyle/>
          <a:p>
            <a:pPr indent="0" marL="0">
              <a:buNone/>
            </a:pPr>
            <a:r>
              <a:rPr lang="en-US" sz="1500" dirty="0">
                <a:solidFill>
                  <a:schemeClr val="bg1"/>
                </a:solidFill>
                <a:latin typeface="Cambria" pitchFamily="34" charset="0"/>
                <a:ea typeface="Cambria" pitchFamily="34" charset="-122"/>
                <a:cs typeface="Cambria" pitchFamily="34" charset="-120"/>
              </a:rPr>
              <a:t>x' = x − (sₓ / s_y)·y,   z' = z − (s_z / s_y)·y</a:t>
            </a:r>
            <a:endParaRPr lang="en-US" sz="1500" dirty="0"/>
          </a:p>
          <a:p>
            <a:pPr indent="0" marL="0">
              <a:buNone/>
            </a:pPr>
            <a:r>
              <a:rPr lang="en-US" sz="1500" dirty="0">
                <a:solidFill>
                  <a:schemeClr val="bg1"/>
                </a:solidFill>
                <a:latin typeface="Cambria" pitchFamily="34" charset="0"/>
                <a:ea typeface="Cambria" pitchFamily="34" charset="-122"/>
                <a:cs typeface="Cambria" pitchFamily="34" charset="-120"/>
              </a:rPr>
              <a:t>soft:  s = (1/9) Σ [ z_L ≤ z_map + ε ]</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Ray tracing: real reflection and refraction</a:t>
            </a:r>
            <a:endParaRPr lang="en-US" sz="3400" dirty="0"/>
          </a:p>
        </p:txBody>
      </p:sp>
      <p:pic>
        <p:nvPicPr>
          <p:cNvPr id="3" name="rt_pots_off" descr="G:/4-1/RamenShop/RamenShop/report/figs/rt_pots_off.jpg">    </p:cNvPr>
          <p:cNvPicPr>
            <a:picLocks noChangeAspect="1"/>
          </p:cNvPicPr>
          <p:nvPr/>
        </p:nvPicPr>
        <p:blipFill>
          <a:blip r:embed="rId1"/>
          <a:stretch>
            <a:fillRect/>
          </a:stretch>
        </p:blipFill>
        <p:spPr>
          <a:xfrm>
            <a:off x="548640" y="1308506"/>
            <a:ext cx="3657600" cy="2183587"/>
          </a:xfrm>
          <a:prstGeom prst="rect">
            <a:avLst/>
          </a:prstGeom>
          <a:effectLst>
            <a:outerShdw sx="100000" sy="100000" kx="0" ky="0" algn="bl" rotWithShape="0" blurRad="76200" dist="25400" dir="5400000">
              <a:srgbClr val="000000">
                <a:alpha val="25000"/>
              </a:srgbClr>
            </a:outerShdw>
          </a:effectLst>
        </p:spPr>
      </p:pic>
      <p:sp>
        <p:nvSpPr>
          <p:cNvPr id="4" name="Text 1"/>
          <p:cNvSpPr txBox="1"/>
          <p:nvPr/>
        </p:nvSpPr>
        <p:spPr>
          <a:xfrm>
            <a:off x="548640" y="3546958"/>
            <a:ext cx="3657600" cy="274320"/>
          </a:xfrm>
          <a:prstGeom prst="rect">
            <a:avLst/>
          </a:prstGeom>
          <a:noFill/>
          <a:ln/>
        </p:spPr>
        <p:txBody>
          <a:bodyPr wrap="square" lIns="0" tIns="0" rIns="0" bIns="0" rtlCol="0" anchor="ctr"/>
          <a:lstStyle/>
          <a:p>
            <a:pPr algn="ctr" indent="0" marL="0">
              <a:buNone/>
            </a:pPr>
            <a:r>
              <a:rPr lang="en-US" sz="1200" i="1" dirty="0">
                <a:solidFill>
                  <a:schemeClr val="accent6"/>
                </a:solidFill>
              </a:rPr>
              <a:t>OpenGL only (R off)</a:t>
            </a:r>
            <a:endParaRPr lang="en-US" sz="1200" dirty="0"/>
          </a:p>
        </p:txBody>
      </p:sp>
      <p:pic>
        <p:nvPicPr>
          <p:cNvPr id="5" name="rt_pots_on" descr="G:/4-1/RamenShop/RamenShop/report/figs/rt_pots_on.jpg">    </p:cNvPr>
          <p:cNvPicPr>
            <a:picLocks noChangeAspect="1"/>
          </p:cNvPicPr>
          <p:nvPr/>
        </p:nvPicPr>
        <p:blipFill>
          <a:blip r:embed="rId2"/>
          <a:stretch>
            <a:fillRect/>
          </a:stretch>
        </p:blipFill>
        <p:spPr>
          <a:xfrm>
            <a:off x="4270248" y="1308506"/>
            <a:ext cx="3657600" cy="2183587"/>
          </a:xfrm>
          <a:prstGeom prst="rect">
            <a:avLst/>
          </a:prstGeom>
          <a:effectLst>
            <a:outerShdw sx="100000" sy="100000" kx="0" ky="0" algn="bl" rotWithShape="0" blurRad="76200" dist="25400" dir="5400000">
              <a:srgbClr val="000000">
                <a:alpha val="25000"/>
              </a:srgbClr>
            </a:outerShdw>
          </a:effectLst>
        </p:spPr>
      </p:pic>
      <p:sp>
        <p:nvSpPr>
          <p:cNvPr id="6" name="Text 2"/>
          <p:cNvSpPr txBox="1"/>
          <p:nvPr/>
        </p:nvSpPr>
        <p:spPr>
          <a:xfrm>
            <a:off x="4270248" y="3546958"/>
            <a:ext cx="3657600" cy="274320"/>
          </a:xfrm>
          <a:prstGeom prst="rect">
            <a:avLst/>
          </a:prstGeom>
          <a:noFill/>
          <a:ln/>
        </p:spPr>
        <p:txBody>
          <a:bodyPr wrap="square" lIns="0" tIns="0" rIns="0" bIns="0" rtlCol="0" anchor="ctr"/>
          <a:lstStyle/>
          <a:p>
            <a:pPr algn="ctr" indent="0" marL="0">
              <a:buNone/>
            </a:pPr>
            <a:r>
              <a:rPr lang="en-US" sz="1200" i="1" dirty="0">
                <a:solidFill>
                  <a:schemeClr val="accent6"/>
                </a:solidFill>
              </a:rPr>
              <a:t>Ray traced: pots reflect the shop</a:t>
            </a:r>
            <a:endParaRPr lang="en-US" sz="1200" dirty="0"/>
          </a:p>
        </p:txBody>
      </p:sp>
      <p:pic>
        <p:nvPicPr>
          <p:cNvPr id="7" name="r_bowlrt" descr="G:/4-1/RamenShop/RamenShop/report/figs/r_bowlrt.jpg">    </p:cNvPr>
          <p:cNvPicPr>
            <a:picLocks noChangeAspect="1"/>
          </p:cNvPicPr>
          <p:nvPr/>
        </p:nvPicPr>
        <p:blipFill>
          <a:blip r:embed="rId3"/>
          <a:stretch>
            <a:fillRect/>
          </a:stretch>
        </p:blipFill>
        <p:spPr>
          <a:xfrm>
            <a:off x="7982712" y="1308506"/>
            <a:ext cx="3657600" cy="2183587"/>
          </a:xfrm>
          <a:prstGeom prst="rect">
            <a:avLst/>
          </a:prstGeom>
          <a:effectLst>
            <a:outerShdw sx="100000" sy="100000" kx="0" ky="0" algn="bl" rotWithShape="0" blurRad="76200" dist="25400" dir="5400000">
              <a:srgbClr val="000000">
                <a:alpha val="25000"/>
              </a:srgbClr>
            </a:outerShdw>
          </a:effectLst>
        </p:spPr>
      </p:pic>
      <p:sp>
        <p:nvSpPr>
          <p:cNvPr id="8" name="Text 3"/>
          <p:cNvSpPr txBox="1"/>
          <p:nvPr/>
        </p:nvSpPr>
        <p:spPr>
          <a:xfrm>
            <a:off x="7982712" y="3546958"/>
            <a:ext cx="3657600" cy="274320"/>
          </a:xfrm>
          <a:prstGeom prst="rect">
            <a:avLst/>
          </a:prstGeom>
          <a:noFill/>
          <a:ln/>
        </p:spPr>
        <p:txBody>
          <a:bodyPr wrap="square" lIns="0" tIns="0" rIns="0" bIns="0" rtlCol="0" anchor="ctr"/>
          <a:lstStyle/>
          <a:p>
            <a:pPr algn="ctr" indent="0" marL="0">
              <a:buNone/>
            </a:pPr>
            <a:r>
              <a:rPr lang="en-US" sz="1200" i="1" dirty="0">
                <a:solidFill>
                  <a:schemeClr val="accent6"/>
                </a:solidFill>
              </a:rPr>
              <a:t>Glass ball refracts the counter</a:t>
            </a:r>
            <a:endParaRPr lang="en-US" sz="1200" dirty="0"/>
          </a:p>
        </p:txBody>
      </p:sp>
      <p:sp>
        <p:nvSpPr>
          <p:cNvPr id="9" name="Text 4"/>
          <p:cNvSpPr txBox="1"/>
          <p:nvPr/>
        </p:nvSpPr>
        <p:spPr>
          <a:xfrm>
            <a:off x="548640" y="4023360"/>
            <a:ext cx="6766560"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CPU ray tracer for 8 objects: 2 steel pots, 4 ramen bowls, the glass ball and the mirror</a:t>
            </a:r>
            <a:endParaRPr lang="en-US" sz="1500" dirty="0"/>
          </a:p>
          <a:p>
            <a:pPr marL="342900" indent="-342900">
              <a:spcAft>
                <a:spcPts val="600"/>
              </a:spcAft>
              <a:buSzPct val="100000"/>
              <a:buChar char="•"/>
            </a:pPr>
            <a:r>
              <a:rPr lang="en-US" sz="1500" dirty="0">
                <a:solidFill>
                  <a:schemeClr val="tx1"/>
                </a:solidFill>
              </a:rPr>
              <a:t>Exact ray–sphere, cone, disk and box tests; a BVH skips groups of shapes; up to 3 bounces</a:t>
            </a:r>
            <a:endParaRPr lang="en-US" sz="1500" dirty="0"/>
          </a:p>
          <a:p>
            <a:pPr marL="342900" indent="-342900">
              <a:spcAft>
                <a:spcPts val="600"/>
              </a:spcAft>
              <a:buSzPct val="100000"/>
              <a:buChar char="•"/>
            </a:pPr>
            <a:r>
              <a:rPr lang="en-US" sz="1500" dirty="0">
                <a:solidFill>
                  <a:schemeClr val="tx1"/>
                </a:solidFill>
              </a:rPr>
              <a:t>Rows shared by 8 threads; a ray budget keeps it near 13 ms; result composited where the depth matches</a:t>
            </a:r>
            <a:endParaRPr lang="en-US" sz="1500" dirty="0"/>
          </a:p>
        </p:txBody>
      </p:sp>
      <p:sp>
        <p:nvSpPr>
          <p:cNvPr id="10" name="formula chip"/>
          <p:cNvSpPr/>
          <p:nvPr/>
        </p:nvSpPr>
        <p:spPr>
          <a:xfrm>
            <a:off x="7452360" y="4069080"/>
            <a:ext cx="4160520" cy="1508760"/>
          </a:xfrm>
          <a:prstGeom prst="roundRect">
            <a:avLst>
              <a:gd name="adj" fmla="val 7273"/>
            </a:avLst>
          </a:prstGeom>
          <a:solidFill>
            <a:schemeClr val="accent1"/>
          </a:solidFill>
          <a:ln w="12700">
            <a:solidFill>
              <a:schemeClr val="accent1"/>
            </a:solidFill>
            <a:prstDash val="solid"/>
          </a:ln>
        </p:spPr>
      </p:sp>
      <p:sp>
        <p:nvSpPr>
          <p:cNvPr id="11" name="Text 6"/>
          <p:cNvSpPr txBox="1"/>
          <p:nvPr/>
        </p:nvSpPr>
        <p:spPr>
          <a:xfrm>
            <a:off x="7589520" y="4069080"/>
            <a:ext cx="3886200" cy="1508760"/>
          </a:xfrm>
          <a:prstGeom prst="rect">
            <a:avLst/>
          </a:prstGeom>
          <a:noFill/>
          <a:ln/>
        </p:spPr>
        <p:txBody>
          <a:bodyPr wrap="square" lIns="0" tIns="0" rIns="0" bIns="0" rtlCol="0" anchor="ctr"/>
          <a:lstStyle/>
          <a:p>
            <a:pPr indent="0" marL="0">
              <a:buNone/>
            </a:pPr>
            <a:r>
              <a:rPr lang="en-US" sz="1500" dirty="0">
                <a:solidFill>
                  <a:schemeClr val="bg1"/>
                </a:solidFill>
                <a:latin typeface="Cambria" pitchFamily="34" charset="0"/>
                <a:ea typeface="Cambria" pitchFamily="34" charset="-122"/>
                <a:cs typeface="Cambria" pitchFamily="34" charset="-120"/>
              </a:rPr>
              <a:t>reflect:  r = d − 2(d·n)n</a:t>
            </a:r>
            <a:endParaRPr lang="en-US" sz="1500" dirty="0"/>
          </a:p>
          <a:p>
            <a:pPr indent="0" marL="0">
              <a:buNone/>
            </a:pPr>
            <a:r>
              <a:rPr lang="en-US" sz="1500" dirty="0">
                <a:solidFill>
                  <a:schemeClr val="bg1"/>
                </a:solidFill>
                <a:latin typeface="Cambria" pitchFamily="34" charset="0"/>
                <a:ea typeface="Cambria" pitchFamily="34" charset="-122"/>
                <a:cs typeface="Cambria" pitchFamily="34" charset="-120"/>
              </a:rPr>
              <a:t>refract:  n₁ sin θ₁ = n₂ sin θ₂</a:t>
            </a:r>
            <a:endParaRPr lang="en-US" sz="1500" dirty="0"/>
          </a:p>
          <a:p>
            <a:pPr indent="0" marL="0">
              <a:buNone/>
            </a:pPr>
            <a:r>
              <a:rPr lang="en-US" sz="1500" dirty="0">
                <a:solidFill>
                  <a:schemeClr val="bg1"/>
                </a:solidFill>
                <a:latin typeface="Cambria" pitchFamily="34" charset="0"/>
                <a:ea typeface="Cambria" pitchFamily="34" charset="-122"/>
                <a:cs typeface="Cambria" pitchFamily="34" charset="-120"/>
              </a:rPr>
              <a:t>Fresnel:  F = F₀ + (1 − F₀)(1 − cos θ)⁵</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Animated characters: cyclist, person and cat</a:t>
            </a:r>
            <a:endParaRPr lang="en-US" sz="3400" dirty="0"/>
          </a:p>
        </p:txBody>
      </p:sp>
      <p:pic>
        <p:nvPicPr>
          <p:cNvPr id="3" name="fig_street_all" descr="G:/4-1/RamenShop/RamenShop/report/figs/fig_street_all.jpg">    </p:cNvPr>
          <p:cNvPicPr>
            <a:picLocks noChangeAspect="1"/>
          </p:cNvPicPr>
          <p:nvPr/>
        </p:nvPicPr>
        <p:blipFill>
          <a:blip r:embed="rId1"/>
          <a:stretch>
            <a:fillRect/>
          </a:stretch>
        </p:blipFill>
        <p:spPr>
          <a:xfrm>
            <a:off x="557549" y="1280160"/>
            <a:ext cx="6657302" cy="3108960"/>
          </a:xfrm>
          <a:prstGeom prst="rect">
            <a:avLst/>
          </a:prstGeom>
          <a:effectLst>
            <a:outerShdw sx="100000" sy="100000" kx="0" ky="0" algn="bl" rotWithShape="0" blurRad="76200" dist="25400" dir="5400000">
              <a:srgbClr val="000000">
                <a:alpha val="25000"/>
              </a:srgbClr>
            </a:outerShdw>
          </a:effectLst>
        </p:spPr>
      </p:pic>
      <p:sp>
        <p:nvSpPr>
          <p:cNvPr id="4" name="Text 1"/>
          <p:cNvSpPr txBox="1"/>
          <p:nvPr/>
        </p:nvSpPr>
        <p:spPr>
          <a:xfrm>
            <a:off x="557549" y="4443984"/>
            <a:ext cx="6657302" cy="274320"/>
          </a:xfrm>
          <a:prstGeom prst="rect">
            <a:avLst/>
          </a:prstGeom>
          <a:noFill/>
          <a:ln/>
        </p:spPr>
        <p:txBody>
          <a:bodyPr wrap="square" lIns="0" tIns="0" rIns="0" bIns="0" rtlCol="0" anchor="ctr"/>
          <a:lstStyle/>
          <a:p>
            <a:pPr algn="ctr" indent="0" marL="0">
              <a:buNone/>
            </a:pPr>
            <a:r>
              <a:rPr lang="en-US" sz="1200" i="1" dirty="0">
                <a:solidFill>
                  <a:schemeClr val="accent6"/>
                </a:solidFill>
              </a:rPr>
              <a:t>Cyclist, walking person and cat in the street</a:t>
            </a:r>
            <a:endParaRPr lang="en-US" sz="1200" dirty="0"/>
          </a:p>
        </p:txBody>
      </p:sp>
      <p:pic>
        <p:nvPicPr>
          <p:cNvPr id="5" name="r_pc" descr="G:/4-1/RamenShop/RamenShop/report/figs/r_pc.jpg">    </p:cNvPr>
          <p:cNvPicPr>
            <a:picLocks noChangeAspect="1"/>
          </p:cNvPicPr>
          <p:nvPr/>
        </p:nvPicPr>
        <p:blipFill>
          <a:blip r:embed="rId2"/>
          <a:stretch>
            <a:fillRect/>
          </a:stretch>
        </p:blipFill>
        <p:spPr>
          <a:xfrm>
            <a:off x="7741920" y="1280160"/>
            <a:ext cx="3627120" cy="3108960"/>
          </a:xfrm>
          <a:prstGeom prst="rect">
            <a:avLst/>
          </a:prstGeom>
          <a:effectLst>
            <a:outerShdw sx="100000" sy="100000" kx="0" ky="0" algn="bl" rotWithShape="0" blurRad="76200" dist="25400" dir="5400000">
              <a:srgbClr val="000000">
                <a:alpha val="25000"/>
              </a:srgbClr>
            </a:outerShdw>
          </a:effectLst>
        </p:spPr>
      </p:pic>
      <p:sp>
        <p:nvSpPr>
          <p:cNvPr id="6" name="Text 2"/>
          <p:cNvSpPr txBox="1"/>
          <p:nvPr/>
        </p:nvSpPr>
        <p:spPr>
          <a:xfrm>
            <a:off x="7741920" y="4443984"/>
            <a:ext cx="3627120" cy="274320"/>
          </a:xfrm>
          <a:prstGeom prst="rect">
            <a:avLst/>
          </a:prstGeom>
          <a:noFill/>
          <a:ln/>
        </p:spPr>
        <p:txBody>
          <a:bodyPr wrap="square" lIns="0" tIns="0" rIns="0" bIns="0" rtlCol="0" anchor="ctr"/>
          <a:lstStyle/>
          <a:p>
            <a:pPr algn="ctr" indent="0" marL="0">
              <a:buNone/>
            </a:pPr>
            <a:r>
              <a:rPr lang="en-US" sz="1200" i="1" dirty="0">
                <a:solidFill>
                  <a:schemeClr val="accent6"/>
                </a:solidFill>
              </a:rPr>
              <a:t>Person and cat close up</a:t>
            </a:r>
            <a:endParaRPr lang="en-US" sz="1200" dirty="0"/>
          </a:p>
        </p:txBody>
      </p:sp>
      <p:sp>
        <p:nvSpPr>
          <p:cNvPr id="7" name="Text 3"/>
          <p:cNvSpPr txBox="1"/>
          <p:nvPr/>
        </p:nvSpPr>
        <p:spPr>
          <a:xfrm>
            <a:off x="548640" y="4846320"/>
            <a:ext cx="6766560" cy="1463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Cyclist: wheels turn by θ = d / r (rolling without slipping); knees from two-bone inverse kinematics</a:t>
            </a:r>
            <a:endParaRPr lang="en-US" sz="1400" dirty="0"/>
          </a:p>
          <a:p>
            <a:pPr marL="342900" indent="-342900">
              <a:spcAft>
                <a:spcPts val="600"/>
              </a:spcAft>
              <a:buSzPct val="100000"/>
              <a:buChar char="•"/>
            </a:pPr>
            <a:r>
              <a:rPr lang="en-US" sz="1400" dirty="0">
                <a:solidFill>
                  <a:schemeClr val="tx1"/>
                </a:solidFill>
              </a:rPr>
              <a:t>Person: joint hierarchy hip → knee → foot and shoulder → elbow, thigh ±28°, knee bend 35°</a:t>
            </a:r>
            <a:endParaRPr lang="en-US" sz="1400" dirty="0"/>
          </a:p>
          <a:p>
            <a:pPr marL="342900" indent="-342900">
              <a:spcAft>
                <a:spcPts val="600"/>
              </a:spcAft>
              <a:buSzPct val="100000"/>
              <a:buChar char="•"/>
            </a:pPr>
            <a:r>
              <a:rPr lang="en-US" sz="1400" dirty="0">
                <a:solidFill>
                  <a:schemeClr val="tx1"/>
                </a:solidFill>
              </a:rPr>
              <a:t>Cat: a time-driven state machine: walk, turn, sit and wash its face, then walk on</a:t>
            </a:r>
            <a:endParaRPr lang="en-US" sz="1400" dirty="0"/>
          </a:p>
        </p:txBody>
      </p:sp>
      <p:sp>
        <p:nvSpPr>
          <p:cNvPr id="8" name="formula chip"/>
          <p:cNvSpPr/>
          <p:nvPr/>
        </p:nvSpPr>
        <p:spPr>
          <a:xfrm>
            <a:off x="7452360" y="4892040"/>
            <a:ext cx="4160520" cy="1097280"/>
          </a:xfrm>
          <a:prstGeom prst="roundRect">
            <a:avLst>
              <a:gd name="adj" fmla="val 10000"/>
            </a:avLst>
          </a:prstGeom>
          <a:solidFill>
            <a:schemeClr val="accent1"/>
          </a:solidFill>
          <a:ln w="12700">
            <a:solidFill>
              <a:schemeClr val="accent1"/>
            </a:solidFill>
            <a:prstDash val="solid"/>
          </a:ln>
        </p:spPr>
      </p:sp>
      <p:sp>
        <p:nvSpPr>
          <p:cNvPr id="9" name="Text 5"/>
          <p:cNvSpPr txBox="1"/>
          <p:nvPr/>
        </p:nvSpPr>
        <p:spPr>
          <a:xfrm>
            <a:off x="7589520" y="4892040"/>
            <a:ext cx="3886200" cy="1097280"/>
          </a:xfrm>
          <a:prstGeom prst="rect">
            <a:avLst/>
          </a:prstGeom>
          <a:noFill/>
          <a:ln/>
        </p:spPr>
        <p:txBody>
          <a:bodyPr wrap="square" lIns="0" tIns="0" rIns="0" bIns="0" rtlCol="0" anchor="ctr"/>
          <a:lstStyle/>
          <a:p>
            <a:pPr indent="0" marL="0">
              <a:buNone/>
            </a:pPr>
            <a:r>
              <a:rPr lang="en-US" sz="1500" dirty="0">
                <a:solidFill>
                  <a:schemeClr val="bg1"/>
                </a:solidFill>
                <a:latin typeface="Cambria" pitchFamily="34" charset="0"/>
                <a:ea typeface="Cambria" pitchFamily="34" charset="-122"/>
                <a:cs typeface="Cambria" pitchFamily="34" charset="-120"/>
              </a:rPr>
              <a:t>two-bone IK:  a = (L₁² − L₂² + d²) / 2d</a:t>
            </a:r>
            <a:endParaRPr lang="en-US" sz="1500" dirty="0"/>
          </a:p>
          <a:p>
            <a:pPr indent="0" marL="0">
              <a:buNone/>
            </a:pPr>
            <a:r>
              <a:rPr lang="en-US" sz="1500" dirty="0">
                <a:solidFill>
                  <a:schemeClr val="bg1"/>
                </a:solidFill>
                <a:latin typeface="Cambria" pitchFamily="34" charset="0"/>
                <a:ea typeface="Cambria" pitchFamily="34" charset="-122"/>
                <a:cs typeface="Cambria" pitchFamily="34" charset="-120"/>
              </a:rPr>
              <a:t>h = √(L₁² − a²)</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Physics: the glass wind chime</a:t>
            </a:r>
            <a:endParaRPr lang="en-US" sz="3400" dirty="0"/>
          </a:p>
        </p:txBody>
      </p:sp>
      <p:pic>
        <p:nvPicPr>
          <p:cNvPr id="3" name="p_chime" descr="G:/4-1/RamenShop/RamenShop/report/figs/p_chime.jpg">    </p:cNvPr>
          <p:cNvPicPr>
            <a:picLocks noChangeAspect="1"/>
          </p:cNvPicPr>
          <p:nvPr/>
        </p:nvPicPr>
        <p:blipFill>
          <a:blip r:embed="rId1"/>
          <a:stretch>
            <a:fillRect/>
          </a:stretch>
        </p:blipFill>
        <p:spPr>
          <a:xfrm>
            <a:off x="548640" y="1280160"/>
            <a:ext cx="3840480" cy="2259106"/>
          </a:xfrm>
          <a:prstGeom prst="rect">
            <a:avLst/>
          </a:prstGeom>
          <a:effectLst>
            <a:outerShdw sx="100000" sy="100000" kx="0" ky="0" algn="bl" rotWithShape="0" blurRad="76200" dist="25400" dir="5400000">
              <a:srgbClr val="000000">
                <a:alpha val="25000"/>
              </a:srgbClr>
            </a:outerShdw>
          </a:effectLst>
        </p:spPr>
      </p:pic>
      <p:sp>
        <p:nvSpPr>
          <p:cNvPr id="4" name="Text 1"/>
          <p:cNvSpPr txBox="1"/>
          <p:nvPr/>
        </p:nvSpPr>
        <p:spPr>
          <a:xfrm>
            <a:off x="548640" y="3594130"/>
            <a:ext cx="3840480" cy="274320"/>
          </a:xfrm>
          <a:prstGeom prst="rect">
            <a:avLst/>
          </a:prstGeom>
          <a:noFill/>
          <a:ln/>
        </p:spPr>
        <p:txBody>
          <a:bodyPr wrap="square" lIns="0" tIns="0" rIns="0" bIns="0" rtlCol="0" anchor="ctr"/>
          <a:lstStyle/>
          <a:p>
            <a:pPr algn="ctr" indent="0" marL="0">
              <a:buNone/>
            </a:pPr>
            <a:r>
              <a:rPr lang="en-US" sz="1200" i="1" dirty="0">
                <a:solidFill>
                  <a:schemeClr val="accent6"/>
                </a:solidFill>
              </a:rPr>
              <a:t>Bell, clapper and paper strip</a:t>
            </a:r>
            <a:endParaRPr lang="en-US" sz="1200" dirty="0"/>
          </a:p>
        </p:txBody>
      </p:sp>
      <p:pic>
        <p:nvPicPr>
          <p:cNvPr id="5" name="fig_porch" descr="G:/4-1/RamenShop/RamenShop/report/figs/fig_porch.jpg">    </p:cNvPr>
          <p:cNvPicPr>
            <a:picLocks noChangeAspect="1"/>
          </p:cNvPicPr>
          <p:nvPr/>
        </p:nvPicPr>
        <p:blipFill>
          <a:blip r:embed="rId2"/>
          <a:stretch>
            <a:fillRect/>
          </a:stretch>
        </p:blipFill>
        <p:spPr>
          <a:xfrm>
            <a:off x="4855229" y="1280160"/>
            <a:ext cx="6657302" cy="3108960"/>
          </a:xfrm>
          <a:prstGeom prst="rect">
            <a:avLst/>
          </a:prstGeom>
          <a:effectLst>
            <a:outerShdw sx="100000" sy="100000" kx="0" ky="0" algn="bl" rotWithShape="0" blurRad="76200" dist="25400" dir="5400000">
              <a:srgbClr val="000000">
                <a:alpha val="25000"/>
              </a:srgbClr>
            </a:outerShdw>
          </a:effectLst>
        </p:spPr>
      </p:pic>
      <p:sp>
        <p:nvSpPr>
          <p:cNvPr id="6" name="Text 2"/>
          <p:cNvSpPr txBox="1"/>
          <p:nvPr/>
        </p:nvSpPr>
        <p:spPr>
          <a:xfrm>
            <a:off x="4855229" y="4443984"/>
            <a:ext cx="6657302" cy="274320"/>
          </a:xfrm>
          <a:prstGeom prst="rect">
            <a:avLst/>
          </a:prstGeom>
          <a:noFill/>
          <a:ln/>
        </p:spPr>
        <p:txBody>
          <a:bodyPr wrap="square" lIns="0" tIns="0" rIns="0" bIns="0" rtlCol="0" anchor="ctr"/>
          <a:lstStyle/>
          <a:p>
            <a:pPr algn="ctr" indent="0" marL="0">
              <a:buNone/>
            </a:pPr>
            <a:r>
              <a:rPr lang="en-US" sz="1200" i="1" dirty="0">
                <a:solidFill>
                  <a:schemeClr val="accent6"/>
                </a:solidFill>
              </a:rPr>
              <a:t>Porch: banner and wind chime</a:t>
            </a:r>
            <a:endParaRPr lang="en-US" sz="1200" dirty="0"/>
          </a:p>
        </p:txBody>
      </p:sp>
      <p:sp>
        <p:nvSpPr>
          <p:cNvPr id="7" name="Text 3"/>
          <p:cNvSpPr txBox="1"/>
          <p:nvPr/>
        </p:nvSpPr>
        <p:spPr>
          <a:xfrm>
            <a:off x="4709160" y="4846320"/>
            <a:ext cx="6949440" cy="1463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Bell and paper strip are two pendulums pushed by a gusty wind; 8 semi-implicit Euler steps per frame</a:t>
            </a:r>
            <a:endParaRPr lang="en-US" sz="1400" dirty="0"/>
          </a:p>
          <a:p>
            <a:pPr marL="342900" indent="-342900">
              <a:spcAft>
                <a:spcPts val="600"/>
              </a:spcAft>
              <a:buSzPct val="100000"/>
              <a:buChar char="•"/>
            </a:pPr>
            <a:r>
              <a:rPr lang="en-US" sz="1400" dirty="0">
                <a:solidFill>
                  <a:schemeClr val="tx1"/>
                </a:solidFill>
              </a:rPr>
              <a:t>The strip catches more wind (k₂ = 22 vs k₁ = 3); at 0.42 rad the clapper strikes, bounces back and the glass glints</a:t>
            </a:r>
            <a:endParaRPr lang="en-US" sz="1400" dirty="0"/>
          </a:p>
          <a:p>
            <a:pPr marL="342900" indent="-342900">
              <a:spcAft>
                <a:spcPts val="600"/>
              </a:spcAft>
              <a:buSzPct val="100000"/>
              <a:buChar char="•"/>
            </a:pPr>
            <a:r>
              <a:rPr lang="en-US" sz="1400" dirty="0">
                <a:solidFill>
                  <a:schemeClr val="tx1"/>
                </a:solidFill>
              </a:rPr>
              <a:t>The nobori banner is a 12 × 28 grid with a travelling wave, calm at the pole and strong at the free edge</a:t>
            </a:r>
            <a:endParaRPr lang="en-US" sz="1400" dirty="0"/>
          </a:p>
        </p:txBody>
      </p:sp>
      <p:sp>
        <p:nvSpPr>
          <p:cNvPr id="8" name="formula chip"/>
          <p:cNvSpPr/>
          <p:nvPr/>
        </p:nvSpPr>
        <p:spPr>
          <a:xfrm>
            <a:off x="548640" y="4069080"/>
            <a:ext cx="3840480" cy="548640"/>
          </a:xfrm>
          <a:prstGeom prst="roundRect">
            <a:avLst>
              <a:gd name="adj" fmla="val 20000"/>
            </a:avLst>
          </a:prstGeom>
          <a:solidFill>
            <a:schemeClr val="accent1"/>
          </a:solidFill>
          <a:ln w="12700">
            <a:solidFill>
              <a:schemeClr val="accent1"/>
            </a:solidFill>
            <a:prstDash val="solid"/>
          </a:ln>
        </p:spPr>
      </p:sp>
      <p:sp>
        <p:nvSpPr>
          <p:cNvPr id="9" name="Text 5"/>
          <p:cNvSpPr txBox="1"/>
          <p:nvPr/>
        </p:nvSpPr>
        <p:spPr>
          <a:xfrm>
            <a:off x="685800" y="4069080"/>
            <a:ext cx="3566160" cy="548640"/>
          </a:xfrm>
          <a:prstGeom prst="rect">
            <a:avLst/>
          </a:prstGeom>
          <a:noFill/>
          <a:ln/>
        </p:spPr>
        <p:txBody>
          <a:bodyPr wrap="square" lIns="0" tIns="0" rIns="0" bIns="0" rtlCol="0" anchor="ctr"/>
          <a:lstStyle/>
          <a:p>
            <a:pPr indent="0" marL="0">
              <a:buNone/>
            </a:pPr>
            <a:r>
              <a:rPr lang="en-US" sz="1500" dirty="0">
                <a:solidFill>
                  <a:schemeClr val="bg1"/>
                </a:solidFill>
                <a:latin typeface="Cambria" pitchFamily="34" charset="0"/>
                <a:ea typeface="Cambria" pitchFamily="34" charset="-122"/>
                <a:cs typeface="Cambria" pitchFamily="34" charset="-120"/>
              </a:rPr>
              <a:t>θ̈ = −(g/L)·sin θ − c·θ̇ + k·w(t)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Ramen cooking game</a:t>
            </a:r>
            <a:endParaRPr lang="en-US" sz="3400" dirty="0"/>
          </a:p>
        </p:txBody>
      </p:sp>
      <p:pic>
        <p:nvPicPr>
          <p:cNvPr id="3" name="fig_game_menu" descr="G:/4-1/RamenShop/RamenShop/report/figs/fig_game_menu.jpg">    </p:cNvPr>
          <p:cNvPicPr>
            <a:picLocks noChangeAspect="1"/>
          </p:cNvPicPr>
          <p:nvPr/>
        </p:nvPicPr>
        <p:blipFill>
          <a:blip r:embed="rId1"/>
          <a:stretch>
            <a:fillRect/>
          </a:stretch>
        </p:blipFill>
        <p:spPr>
          <a:xfrm>
            <a:off x="548640" y="1488346"/>
            <a:ext cx="3611880" cy="1686748"/>
          </a:xfrm>
          <a:prstGeom prst="rect">
            <a:avLst/>
          </a:prstGeom>
          <a:effectLst>
            <a:outerShdw sx="100000" sy="100000" kx="0" ky="0" algn="bl" rotWithShape="0" blurRad="76200" dist="25400" dir="5400000">
              <a:srgbClr val="000000">
                <a:alpha val="25000"/>
              </a:srgbClr>
            </a:outerShdw>
          </a:effectLst>
        </p:spPr>
      </p:pic>
      <p:sp>
        <p:nvSpPr>
          <p:cNvPr id="4" name="Text 1"/>
          <p:cNvSpPr txBox="1"/>
          <p:nvPr/>
        </p:nvSpPr>
        <p:spPr>
          <a:xfrm>
            <a:off x="548640" y="3229958"/>
            <a:ext cx="3611880" cy="274320"/>
          </a:xfrm>
          <a:prstGeom prst="rect">
            <a:avLst/>
          </a:prstGeom>
          <a:noFill/>
          <a:ln/>
        </p:spPr>
        <p:txBody>
          <a:bodyPr wrap="square" lIns="0" tIns="0" rIns="0" bIns="0" rtlCol="0" anchor="ctr"/>
          <a:lstStyle/>
          <a:p>
            <a:pPr algn="ctr" indent="0" marL="0">
              <a:buNone/>
            </a:pPr>
            <a:r>
              <a:rPr lang="en-US" sz="1200" i="1" dirty="0">
                <a:solidFill>
                  <a:schemeClr val="accent6"/>
                </a:solidFill>
              </a:rPr>
              <a:t>Title screen</a:t>
            </a:r>
            <a:endParaRPr lang="en-US" sz="1200" dirty="0"/>
          </a:p>
        </p:txBody>
      </p:sp>
      <p:pic>
        <p:nvPicPr>
          <p:cNvPr id="5" name="fig_game_order" descr="G:/4-1/RamenShop/RamenShop/report/figs/fig_game_order.jpg">    </p:cNvPr>
          <p:cNvPicPr>
            <a:picLocks noChangeAspect="1"/>
          </p:cNvPicPr>
          <p:nvPr/>
        </p:nvPicPr>
        <p:blipFill>
          <a:blip r:embed="rId2"/>
          <a:stretch>
            <a:fillRect/>
          </a:stretch>
        </p:blipFill>
        <p:spPr>
          <a:xfrm>
            <a:off x="4270248" y="1488346"/>
            <a:ext cx="3611880" cy="1686748"/>
          </a:xfrm>
          <a:prstGeom prst="rect">
            <a:avLst/>
          </a:prstGeom>
          <a:effectLst>
            <a:outerShdw sx="100000" sy="100000" kx="0" ky="0" algn="bl" rotWithShape="0" blurRad="76200" dist="25400" dir="5400000">
              <a:srgbClr val="000000">
                <a:alpha val="25000"/>
              </a:srgbClr>
            </a:outerShdw>
          </a:effectLst>
        </p:spPr>
      </p:pic>
      <p:sp>
        <p:nvSpPr>
          <p:cNvPr id="6" name="Text 2"/>
          <p:cNvSpPr txBox="1"/>
          <p:nvPr/>
        </p:nvSpPr>
        <p:spPr>
          <a:xfrm>
            <a:off x="4270248" y="3229958"/>
            <a:ext cx="3611880" cy="274320"/>
          </a:xfrm>
          <a:prstGeom prst="rect">
            <a:avLst/>
          </a:prstGeom>
          <a:noFill/>
          <a:ln/>
        </p:spPr>
        <p:txBody>
          <a:bodyPr wrap="square" lIns="0" tIns="0" rIns="0" bIns="0" rtlCol="0" anchor="ctr"/>
          <a:lstStyle/>
          <a:p>
            <a:pPr algn="ctr" indent="0" marL="0">
              <a:buNone/>
            </a:pPr>
            <a:r>
              <a:rPr lang="en-US" sz="1200" i="1" dirty="0">
                <a:solidFill>
                  <a:schemeClr val="accent6"/>
                </a:solidFill>
              </a:rPr>
              <a:t>Order board</a:t>
            </a:r>
            <a:endParaRPr lang="en-US" sz="1200" dirty="0"/>
          </a:p>
        </p:txBody>
      </p:sp>
      <p:pic>
        <p:nvPicPr>
          <p:cNvPr id="7" name="fig_game_cust" descr="G:/4-1/RamenShop/RamenShop/report/figs/fig_game_cust.jpg">    </p:cNvPr>
          <p:cNvPicPr>
            <a:picLocks noChangeAspect="1"/>
          </p:cNvPicPr>
          <p:nvPr/>
        </p:nvPicPr>
        <p:blipFill>
          <a:blip r:embed="rId3"/>
          <a:stretch>
            <a:fillRect/>
          </a:stretch>
        </p:blipFill>
        <p:spPr>
          <a:xfrm>
            <a:off x="7991856" y="1488346"/>
            <a:ext cx="3611880" cy="1686748"/>
          </a:xfrm>
          <a:prstGeom prst="rect">
            <a:avLst/>
          </a:prstGeom>
          <a:effectLst>
            <a:outerShdw sx="100000" sy="100000" kx="0" ky="0" algn="bl" rotWithShape="0" blurRad="76200" dist="25400" dir="5400000">
              <a:srgbClr val="000000">
                <a:alpha val="25000"/>
              </a:srgbClr>
            </a:outerShdw>
          </a:effectLst>
        </p:spPr>
      </p:pic>
      <p:sp>
        <p:nvSpPr>
          <p:cNvPr id="8" name="Text 3"/>
          <p:cNvSpPr txBox="1"/>
          <p:nvPr/>
        </p:nvSpPr>
        <p:spPr>
          <a:xfrm>
            <a:off x="7991856" y="3229958"/>
            <a:ext cx="3611880" cy="274320"/>
          </a:xfrm>
          <a:prstGeom prst="rect">
            <a:avLst/>
          </a:prstGeom>
          <a:noFill/>
          <a:ln/>
        </p:spPr>
        <p:txBody>
          <a:bodyPr wrap="square" lIns="0" tIns="0" rIns="0" bIns="0" rtlCol="0" anchor="ctr"/>
          <a:lstStyle/>
          <a:p>
            <a:pPr algn="ctr" indent="0" marL="0">
              <a:buNone/>
            </a:pPr>
            <a:r>
              <a:rPr lang="en-US" sz="1200" i="1" dirty="0">
                <a:solidFill>
                  <a:schemeClr val="accent6"/>
                </a:solidFill>
              </a:rPr>
              <a:t>A customer orders</a:t>
            </a:r>
            <a:endParaRPr lang="en-US" sz="1200" dirty="0"/>
          </a:p>
        </p:txBody>
      </p:sp>
      <p:sp>
        <p:nvSpPr>
          <p:cNvPr id="9" name="state"/>
          <p:cNvSpPr/>
          <p:nvPr/>
        </p:nvSpPr>
        <p:spPr>
          <a:xfrm>
            <a:off x="548640" y="3977640"/>
            <a:ext cx="1920240" cy="548640"/>
          </a:xfrm>
          <a:prstGeom prst="roundRect">
            <a:avLst>
              <a:gd name="adj" fmla="val 16667"/>
            </a:avLst>
          </a:prstGeom>
          <a:solidFill>
            <a:schemeClr val="bg2"/>
          </a:solidFill>
          <a:ln w="12700">
            <a:solidFill>
              <a:schemeClr val="accent1"/>
            </a:solidFill>
            <a:prstDash val="solid"/>
          </a:ln>
        </p:spPr>
      </p:sp>
      <p:sp>
        <p:nvSpPr>
          <p:cNvPr id="10" name="Text 5"/>
          <p:cNvSpPr txBox="1"/>
          <p:nvPr/>
        </p:nvSpPr>
        <p:spPr>
          <a:xfrm>
            <a:off x="548640" y="3977640"/>
            <a:ext cx="1920240" cy="548640"/>
          </a:xfrm>
          <a:prstGeom prst="rect">
            <a:avLst/>
          </a:prstGeom>
          <a:noFill/>
          <a:ln/>
        </p:spPr>
        <p:txBody>
          <a:bodyPr wrap="square" lIns="0" tIns="0" rIns="0" bIns="0" rtlCol="0" anchor="ctr"/>
          <a:lstStyle/>
          <a:p>
            <a:pPr algn="ctr" indent="0" marL="0">
              <a:buNone/>
            </a:pPr>
            <a:r>
              <a:rPr lang="en-US" sz="1500" b="1" dirty="0">
                <a:solidFill>
                  <a:schemeClr val="accent1"/>
                </a:solidFill>
              </a:rPr>
              <a:t>Menu</a:t>
            </a:r>
            <a:endParaRPr lang="en-US" sz="1500" dirty="0"/>
          </a:p>
        </p:txBody>
      </p:sp>
      <p:sp>
        <p:nvSpPr>
          <p:cNvPr id="11" name="arrow"/>
          <p:cNvSpPr/>
          <p:nvPr/>
        </p:nvSpPr>
        <p:spPr>
          <a:xfrm>
            <a:off x="2514600" y="4114800"/>
            <a:ext cx="274320" cy="274320"/>
          </a:xfrm>
          <a:prstGeom prst="rightArrow">
            <a:avLst/>
          </a:prstGeom>
          <a:solidFill>
            <a:schemeClr val="accent2"/>
          </a:solidFill>
          <a:ln w="12700">
            <a:solidFill>
              <a:schemeClr val="accent2"/>
            </a:solidFill>
            <a:prstDash val="solid"/>
          </a:ln>
        </p:spPr>
      </p:sp>
      <p:sp>
        <p:nvSpPr>
          <p:cNvPr id="12" name="state"/>
          <p:cNvSpPr/>
          <p:nvPr/>
        </p:nvSpPr>
        <p:spPr>
          <a:xfrm>
            <a:off x="2834640" y="3977640"/>
            <a:ext cx="1920240" cy="548640"/>
          </a:xfrm>
          <a:prstGeom prst="roundRect">
            <a:avLst>
              <a:gd name="adj" fmla="val 16667"/>
            </a:avLst>
          </a:prstGeom>
          <a:solidFill>
            <a:schemeClr val="bg2"/>
          </a:solidFill>
          <a:ln w="12700">
            <a:solidFill>
              <a:schemeClr val="accent1"/>
            </a:solidFill>
            <a:prstDash val="solid"/>
          </a:ln>
        </p:spPr>
      </p:sp>
      <p:sp>
        <p:nvSpPr>
          <p:cNvPr id="13" name="Text 8"/>
          <p:cNvSpPr txBox="1"/>
          <p:nvPr/>
        </p:nvSpPr>
        <p:spPr>
          <a:xfrm>
            <a:off x="2834640" y="3977640"/>
            <a:ext cx="1920240" cy="548640"/>
          </a:xfrm>
          <a:prstGeom prst="rect">
            <a:avLst/>
          </a:prstGeom>
          <a:noFill/>
          <a:ln/>
        </p:spPr>
        <p:txBody>
          <a:bodyPr wrap="square" lIns="0" tIns="0" rIns="0" bIns="0" rtlCol="0" anchor="ctr"/>
          <a:lstStyle/>
          <a:p>
            <a:pPr algn="ctr" indent="0" marL="0">
              <a:buNone/>
            </a:pPr>
            <a:r>
              <a:rPr lang="en-US" sz="1500" b="1" dirty="0">
                <a:solidFill>
                  <a:schemeClr val="accent1"/>
                </a:solidFill>
              </a:rPr>
              <a:t>Taking order</a:t>
            </a:r>
            <a:endParaRPr lang="en-US" sz="1500" dirty="0"/>
          </a:p>
        </p:txBody>
      </p:sp>
      <p:sp>
        <p:nvSpPr>
          <p:cNvPr id="14" name="arrow"/>
          <p:cNvSpPr/>
          <p:nvPr/>
        </p:nvSpPr>
        <p:spPr>
          <a:xfrm>
            <a:off x="4800600" y="4114800"/>
            <a:ext cx="274320" cy="274320"/>
          </a:xfrm>
          <a:prstGeom prst="rightArrow">
            <a:avLst/>
          </a:prstGeom>
          <a:solidFill>
            <a:schemeClr val="accent2"/>
          </a:solidFill>
          <a:ln w="12700">
            <a:solidFill>
              <a:schemeClr val="accent2"/>
            </a:solidFill>
            <a:prstDash val="solid"/>
          </a:ln>
        </p:spPr>
      </p:sp>
      <p:sp>
        <p:nvSpPr>
          <p:cNvPr id="15" name="state"/>
          <p:cNvSpPr/>
          <p:nvPr/>
        </p:nvSpPr>
        <p:spPr>
          <a:xfrm>
            <a:off x="5120640" y="3977640"/>
            <a:ext cx="1920240" cy="548640"/>
          </a:xfrm>
          <a:prstGeom prst="roundRect">
            <a:avLst>
              <a:gd name="adj" fmla="val 16667"/>
            </a:avLst>
          </a:prstGeom>
          <a:solidFill>
            <a:schemeClr val="bg2"/>
          </a:solidFill>
          <a:ln w="12700">
            <a:solidFill>
              <a:schemeClr val="accent1"/>
            </a:solidFill>
            <a:prstDash val="solid"/>
          </a:ln>
        </p:spPr>
      </p:sp>
      <p:sp>
        <p:nvSpPr>
          <p:cNvPr id="16" name="Text 11"/>
          <p:cNvSpPr txBox="1"/>
          <p:nvPr/>
        </p:nvSpPr>
        <p:spPr>
          <a:xfrm>
            <a:off x="5120640" y="3977640"/>
            <a:ext cx="1920240" cy="548640"/>
          </a:xfrm>
          <a:prstGeom prst="rect">
            <a:avLst/>
          </a:prstGeom>
          <a:noFill/>
          <a:ln/>
        </p:spPr>
        <p:txBody>
          <a:bodyPr wrap="square" lIns="0" tIns="0" rIns="0" bIns="0" rtlCol="0" anchor="ctr"/>
          <a:lstStyle/>
          <a:p>
            <a:pPr algn="ctr" indent="0" marL="0">
              <a:buNone/>
            </a:pPr>
            <a:r>
              <a:rPr lang="en-US" sz="1500" b="1" dirty="0">
                <a:solidFill>
                  <a:schemeClr val="accent1"/>
                </a:solidFill>
              </a:rPr>
              <a:t>Cooking</a:t>
            </a:r>
            <a:endParaRPr lang="en-US" sz="1500" dirty="0"/>
          </a:p>
        </p:txBody>
      </p:sp>
      <p:sp>
        <p:nvSpPr>
          <p:cNvPr id="17" name="arrow"/>
          <p:cNvSpPr/>
          <p:nvPr/>
        </p:nvSpPr>
        <p:spPr>
          <a:xfrm>
            <a:off x="7086600" y="4114800"/>
            <a:ext cx="274320" cy="274320"/>
          </a:xfrm>
          <a:prstGeom prst="rightArrow">
            <a:avLst/>
          </a:prstGeom>
          <a:solidFill>
            <a:schemeClr val="accent2"/>
          </a:solidFill>
          <a:ln w="12700">
            <a:solidFill>
              <a:schemeClr val="accent2"/>
            </a:solidFill>
            <a:prstDash val="solid"/>
          </a:ln>
        </p:spPr>
      </p:sp>
      <p:sp>
        <p:nvSpPr>
          <p:cNvPr id="18" name="state"/>
          <p:cNvSpPr/>
          <p:nvPr/>
        </p:nvSpPr>
        <p:spPr>
          <a:xfrm>
            <a:off x="7406640" y="3977640"/>
            <a:ext cx="1920240" cy="548640"/>
          </a:xfrm>
          <a:prstGeom prst="roundRect">
            <a:avLst>
              <a:gd name="adj" fmla="val 16667"/>
            </a:avLst>
          </a:prstGeom>
          <a:solidFill>
            <a:schemeClr val="bg2"/>
          </a:solidFill>
          <a:ln w="12700">
            <a:solidFill>
              <a:schemeClr val="accent1"/>
            </a:solidFill>
            <a:prstDash val="solid"/>
          </a:ln>
        </p:spPr>
      </p:sp>
      <p:sp>
        <p:nvSpPr>
          <p:cNvPr id="19" name="Text 14"/>
          <p:cNvSpPr txBox="1"/>
          <p:nvPr/>
        </p:nvSpPr>
        <p:spPr>
          <a:xfrm>
            <a:off x="7406640" y="3977640"/>
            <a:ext cx="1920240" cy="548640"/>
          </a:xfrm>
          <a:prstGeom prst="rect">
            <a:avLst/>
          </a:prstGeom>
          <a:noFill/>
          <a:ln/>
        </p:spPr>
        <p:txBody>
          <a:bodyPr wrap="square" lIns="0" tIns="0" rIns="0" bIns="0" rtlCol="0" anchor="ctr"/>
          <a:lstStyle/>
          <a:p>
            <a:pPr algn="ctr" indent="0" marL="0">
              <a:buNone/>
            </a:pPr>
            <a:r>
              <a:rPr lang="en-US" sz="1500" b="1" dirty="0">
                <a:solidFill>
                  <a:schemeClr val="accent1"/>
                </a:solidFill>
              </a:rPr>
              <a:t>Serving</a:t>
            </a:r>
            <a:endParaRPr lang="en-US" sz="1500" dirty="0"/>
          </a:p>
        </p:txBody>
      </p:sp>
      <p:sp>
        <p:nvSpPr>
          <p:cNvPr id="20" name="arrow"/>
          <p:cNvSpPr/>
          <p:nvPr/>
        </p:nvSpPr>
        <p:spPr>
          <a:xfrm>
            <a:off x="9372600" y="4114800"/>
            <a:ext cx="274320" cy="274320"/>
          </a:xfrm>
          <a:prstGeom prst="rightArrow">
            <a:avLst/>
          </a:prstGeom>
          <a:solidFill>
            <a:schemeClr val="accent2"/>
          </a:solidFill>
          <a:ln w="12700">
            <a:solidFill>
              <a:schemeClr val="accent2"/>
            </a:solidFill>
            <a:prstDash val="solid"/>
          </a:ln>
        </p:spPr>
      </p:sp>
      <p:sp>
        <p:nvSpPr>
          <p:cNvPr id="21" name="state"/>
          <p:cNvSpPr/>
          <p:nvPr/>
        </p:nvSpPr>
        <p:spPr>
          <a:xfrm>
            <a:off x="9692640" y="3977640"/>
            <a:ext cx="1920240" cy="548640"/>
          </a:xfrm>
          <a:prstGeom prst="roundRect">
            <a:avLst>
              <a:gd name="adj" fmla="val 16667"/>
            </a:avLst>
          </a:prstGeom>
          <a:solidFill>
            <a:schemeClr val="bg2"/>
          </a:solidFill>
          <a:ln w="12700">
            <a:solidFill>
              <a:schemeClr val="accent1"/>
            </a:solidFill>
            <a:prstDash val="solid"/>
          </a:ln>
        </p:spPr>
      </p:sp>
      <p:sp>
        <p:nvSpPr>
          <p:cNvPr id="22" name="Text 17"/>
          <p:cNvSpPr txBox="1"/>
          <p:nvPr/>
        </p:nvSpPr>
        <p:spPr>
          <a:xfrm>
            <a:off x="9692640" y="3977640"/>
            <a:ext cx="1920240" cy="548640"/>
          </a:xfrm>
          <a:prstGeom prst="rect">
            <a:avLst/>
          </a:prstGeom>
          <a:noFill/>
          <a:ln/>
        </p:spPr>
        <p:txBody>
          <a:bodyPr wrap="square" lIns="0" tIns="0" rIns="0" bIns="0" rtlCol="0" anchor="ctr"/>
          <a:lstStyle/>
          <a:p>
            <a:pPr algn="ctr" indent="0" marL="0">
              <a:buNone/>
            </a:pPr>
            <a:r>
              <a:rPr lang="en-US" sz="1500" b="1" dirty="0">
                <a:solidFill>
                  <a:schemeClr val="accent1"/>
                </a:solidFill>
              </a:rPr>
              <a:t>Result</a:t>
            </a:r>
            <a:endParaRPr lang="en-US" sz="1500" dirty="0"/>
          </a:p>
        </p:txBody>
      </p:sp>
      <p:sp>
        <p:nvSpPr>
          <p:cNvPr id="23" name="Text 18"/>
          <p:cNvSpPr txBox="1"/>
          <p:nvPr/>
        </p:nvSpPr>
        <p:spPr>
          <a:xfrm>
            <a:off x="548640" y="4846320"/>
            <a:ext cx="6766560"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Boil noodles (raw &lt; 3 s, perfect 6–9 s, ruined &gt; 12 s), add broth and toppings, then serve</a:t>
            </a:r>
            <a:endParaRPr lang="en-US" sz="1500" dirty="0"/>
          </a:p>
          <a:p>
            <a:pPr marL="342900" indent="-342900">
              <a:spcAft>
                <a:spcPts val="600"/>
              </a:spcAft>
              <a:buSzPct val="100000"/>
              <a:buChar char="•"/>
            </a:pPr>
            <a:r>
              <a:rPr lang="en-US" sz="1500" dirty="0">
                <a:solidFill>
                  <a:schemeClr val="tx1"/>
                </a:solidFill>
              </a:rPr>
              <a:t>The HUD and order board are drawn with an orthographic projection; up to 4 levels</a:t>
            </a:r>
            <a:endParaRPr lang="en-US" sz="1500" dirty="0"/>
          </a:p>
        </p:txBody>
      </p:sp>
      <p:sp>
        <p:nvSpPr>
          <p:cNvPr id="24" name="formula chip"/>
          <p:cNvSpPr/>
          <p:nvPr/>
        </p:nvSpPr>
        <p:spPr>
          <a:xfrm>
            <a:off x="7452360" y="4846320"/>
            <a:ext cx="4160520" cy="1097280"/>
          </a:xfrm>
          <a:prstGeom prst="roundRect">
            <a:avLst>
              <a:gd name="adj" fmla="val 10000"/>
            </a:avLst>
          </a:prstGeom>
          <a:solidFill>
            <a:schemeClr val="accent1"/>
          </a:solidFill>
          <a:ln w="12700">
            <a:solidFill>
              <a:schemeClr val="accent1"/>
            </a:solidFill>
            <a:prstDash val="solid"/>
          </a:ln>
        </p:spPr>
      </p:sp>
      <p:sp>
        <p:nvSpPr>
          <p:cNvPr id="25" name="Text 20"/>
          <p:cNvSpPr txBox="1"/>
          <p:nvPr/>
        </p:nvSpPr>
        <p:spPr>
          <a:xfrm>
            <a:off x="7589520" y="4846320"/>
            <a:ext cx="3886200" cy="1097280"/>
          </a:xfrm>
          <a:prstGeom prst="rect">
            <a:avLst/>
          </a:prstGeom>
          <a:noFill/>
          <a:ln/>
        </p:spPr>
        <p:txBody>
          <a:bodyPr wrap="square" lIns="0" tIns="0" rIns="0" bIns="0" rtlCol="0" anchor="ctr"/>
          <a:lstStyle/>
          <a:p>
            <a:pPr indent="0" marL="0">
              <a:buNone/>
            </a:pPr>
            <a:r>
              <a:rPr lang="en-US" sz="1500" dirty="0">
                <a:solidFill>
                  <a:schemeClr val="bg1"/>
                </a:solidFill>
                <a:latin typeface="Cambria" pitchFamily="34" charset="0"/>
                <a:ea typeface="Cambria" pitchFamily="34" charset="-122"/>
                <a:cs typeface="Cambria" pitchFamily="34" charset="-120"/>
              </a:rPr>
              <a:t>Q = 0.5·accuracy + 0.35·cook + 0.15·time</a:t>
            </a:r>
            <a:endParaRPr lang="en-US" sz="1500" dirty="0"/>
          </a:p>
          <a:p>
            <a:pPr indent="0" marL="0">
              <a:buNone/>
            </a:pPr>
            <a:r>
              <a:rPr lang="en-US" sz="1500" dirty="0">
                <a:solidFill>
                  <a:schemeClr val="bg1"/>
                </a:solidFill>
                <a:latin typeface="Cambria" pitchFamily="34" charset="0"/>
                <a:ea typeface="Cambria" pitchFamily="34" charset="-122"/>
                <a:cs typeface="Cambria" pitchFamily="34" charset="-120"/>
              </a:rPr>
              <a:t>stars = round(5Q)</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fig_ext_day2" descr="G:/4-1/RamenShop/RamenShop/report/figs/fig_ext_day2.jpg">    </p:cNvPr>
          <p:cNvPicPr>
            <a:picLocks noChangeAspect="1"/>
          </p:cNvPicPr>
          <p:nvPr/>
        </p:nvPicPr>
        <p:blipFill>
          <a:blip r:embed="rId1"/>
          <a:stretch>
            <a:fillRect/>
          </a:stretch>
        </p:blipFill>
        <p:spPr>
          <a:xfrm>
            <a:off x="2164700" y="457200"/>
            <a:ext cx="7832120" cy="3657600"/>
          </a:xfrm>
          <a:prstGeom prst="rect">
            <a:avLst/>
          </a:prstGeom>
          <a:effectLst>
            <a:outerShdw sx="100000" sy="100000" kx="0" ky="0" algn="bl" rotWithShape="0" blurRad="76200" dist="25400" dir="5400000">
              <a:srgbClr val="000000">
                <a:alpha val="25000"/>
              </a:srgbClr>
            </a:outerShdw>
          </a:effectLst>
        </p:spPr>
      </p:pic>
      <p:sp>
        <p:nvSpPr>
          <p:cNvPr id="3" name="Text 0"/>
          <p:cNvSpPr/>
          <p:nvPr>
            <p:ph idx="100" type="title" hasCustomPrompt="1"/>
          </p:nvPr>
        </p:nvSpPr>
        <p:spPr>
          <a:xfrm>
            <a:off x="640080" y="4343400"/>
            <a:ext cx="10881360" cy="1005840"/>
          </a:xfrm>
          <a:prstGeom prst="rect">
            <a:avLst/>
          </a:prstGeom>
          <a:noFill/>
          <a:ln/>
        </p:spPr>
        <p:txBody>
          <a:bodyPr wrap="square" lIns="0" tIns="0" rIns="0" bIns="0" rtlCol="0" anchor="ctr"/>
          <a:lstStyle/>
          <a:p>
            <a:pPr algn="ctr" indent="0" marL="0">
              <a:buNone/>
            </a:pPr>
            <a:r>
              <a:rPr lang="en-US" sz="5400" b="1" dirty="0">
                <a:solidFill>
                  <a:schemeClr val="bg1"/>
                </a:solidFill>
              </a:rPr>
              <a:t>Thank you</a:t>
            </a:r>
            <a:endParaRPr lang="en-US" sz="5400" dirty="0"/>
          </a:p>
        </p:txBody>
      </p:sp>
      <p:sp>
        <p:nvSpPr>
          <p:cNvPr id="4" name="Text 0"/>
          <p:cNvSpPr/>
          <p:nvPr>
            <p:ph idx="101" type="body" hasCustomPrompt="1"/>
          </p:nvPr>
        </p:nvSpPr>
        <p:spPr>
          <a:xfrm>
            <a:off x="640080" y="5349240"/>
            <a:ext cx="10881360" cy="548640"/>
          </a:xfrm>
          <a:prstGeom prst="rect">
            <a:avLst/>
          </a:prstGeom>
          <a:noFill/>
          <a:ln/>
        </p:spPr>
        <p:txBody>
          <a:bodyPr wrap="square" lIns="0" tIns="0" rIns="0" bIns="0" rtlCol="0" anchor="t"/>
          <a:lstStyle/>
          <a:p>
            <a:pPr algn="ctr" indent="0" marL="0">
              <a:buNone/>
            </a:pPr>
            <a:r>
              <a:rPr lang="en-US" sz="2000" dirty="0">
                <a:solidFill>
                  <a:schemeClr val="accent2"/>
                </a:solidFill>
              </a:rPr>
              <a:t>Questions?   ·   Rajorshi Das, Roll 2107060</a:t>
            </a:r>
            <a:endParaRPr lang="en-US" sz="2000" dirty="0"/>
          </a:p>
        </p:txBody>
      </p:sp>
    </p:spTree>
  </p:cSld>
  <p:clrMapOvr>
    <a:masterClrMapping/>
  </p:clrMapOvr>
</p:sld>
</file>

<file path=ppt/theme/theme1.xml><?xml version="1.0" encoding="utf-8"?>
<a:theme xmlns:a="http://schemas.openxmlformats.org/drawingml/2006/main" name="Ramen Shop">
  <a:themeElements>
    <a:clrScheme name="Ramen Shop">
      <a:dk1>
        <a:srgbClr val="1E1916"/>
      </a:dk1>
      <a:lt1>
        <a:srgbClr val="FFFFFF"/>
      </a:lt1>
      <a:dk2>
        <a:srgbClr val="8B2A1A"/>
      </a:dk2>
      <a:lt2>
        <a:srgbClr val="F2F2F2"/>
      </a:lt2>
      <a:accent1>
        <a:srgbClr val="8B2A1A"/>
      </a:accent1>
      <a:accent2>
        <a:srgbClr val="D9A441"/>
      </a:accent2>
      <a:accent3>
        <a:srgbClr val="3E6B4F"/>
      </a:accent3>
      <a:accent4>
        <a:srgbClr val="2F4A6D"/>
      </a:accent4>
      <a:accent5>
        <a:srgbClr val="C0573E"/>
      </a:accent5>
      <a:accent6>
        <a:srgbClr val="6B5B4E"/>
      </a:accent6>
      <a:hlink>
        <a:srgbClr val="8B2A1A"/>
      </a:hlink>
      <a:folHlink>
        <a:srgbClr val="6B5B4E"/>
      </a:folHlink>
    </a:clrScheme>
    <a:fontScheme name="Ramen Sho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Ramen Shop: CSE 4102 Project Presentation</dc:title>
  <dc:subject>PptxGenJS Presentation</dc:subject>
  <dc:creator>Rajorshi Das</dc:creator>
  <cp:lastModifiedBy>Rajorshi Das</cp:lastModifiedBy>
  <cp:revision>1</cp:revision>
  <dcterms:created xsi:type="dcterms:W3CDTF">2026-10-11T18:17:01Z</dcterms:created>
  <dcterms:modified xsi:type="dcterms:W3CDTF">2026-10-11T18:17:01Z</dcterms:modified>
</cp:coreProperties>
</file>