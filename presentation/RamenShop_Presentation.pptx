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574be2-8593-bdd4-3756-15529bad3041}">
          <p14:sldIdLst>
            <p14:sldId id="256"/>
            <p14:sldId id="257"/>
            <p14:sldId id="258"/>
            <p14:sldId id="259"/>
          </p14:sldIdLst>
        </p14:section>
        <p14:section name="Demo" id="{4ff38018-36d3-6a85-6877-0fd081b7340f}">
          <p14:sldIdLst>
            <p14:sldId id="260"/>
          </p14:sldIdLst>
        </p14:section>
        <p14:section name="Features" id="{a97feb72-fe76-9b35-cc41-9c17d4b5288d}">
          <p14:sldIdLst>
            <p14:sldId id="261"/>
            <p14:sldId id="262"/>
            <p14:sldId id="263"/>
            <p14:sldId id="264"/>
            <p14:sldId id="265"/>
            <p14:sldId id="266"/>
            <p14:sldId id="267"/>
            <p14:sldId id="268"/>
            <p14:sldId id="269"/>
            <p14:sldId id="270"/>
            <p14:sldId id="271"/>
            <p14:sldId id="272"/>
            <p14:sldId id="273"/>
            <p14:sldId id="274"/>
            <p14:sldId id="275"/>
          </p14:sldIdLst>
        </p14:section>
        <p14:section name="Conclusion" id="{f339ec21-219f-48de-c567-0c5c2d8c9ce5}">
          <p14:sldIdLst/>
        </p14:section>
        <p14:section name="Thank you" id="{63bb210b-2605-17a9-1e0f-5021b535eb6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The Ramen Shop: a cozy Japanese ramen village built from scratch in C++ and OpenGL. Everything you will see is generated in code: no model files and no image files are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ramen shop on a Japanese street that you can explore by day and night. Around it is a whole village with houses, a street, trees and a lake, and it is alive with a cyclist, a person, a cat and many small animations. The scene uses all 8 OpenGL lights, 13 textures painted by the program itself, 7 cameras, and not a single model or image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proposed and what I delivered. All proposed transformations, hierarchy, the perspective camera, the three lighting terms, Gouraud and Phong shading, the skybox and textures are implemented. The orthographic view is used for the game's 2D HUD, and flat shading was the one item I did not implement. On top of the proposal I added shadows, glass refraction, a real CPU ray tracer, animated characters, a physics-based wind chime and a cooking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split into small modules. Every frame the program reads input and advances one animation clock, sets the camera and lights, renders the shadow map, draws the sky and ground, then the outside and inside of the shop, then the glass and ray-traced objects, and finally the 2D HUD.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the demo video on this slide (Insert &gt; Video), on top of the picture. While it plays, explain each feature as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 is built only from a handful of basic shapes. Special shapes come from a lathe, a profile turned around an axis, and trees come from recursion. Every part is placed with the same matrix: translate, rotate,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transformations are used everywhere. With the matrix stack a child is drawn in its parent's frame, so when the hip turns, the knee and foot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sky is a skybox drawn first, so it always looks infinitely far away. The sun is five glowing discs blended additively, the moon has six craters, there are 132 twinkling stars and billboard clouds. One key switches the whole scene between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image files are used: every texture is painted by the program at start-up. The grass mixes greens by noise and then paints thousands of blade strokes; 3D tufts stand on top. The street is a brick pattern of stones whose shade comes from a hash. Mipmaps keep them from shimmering.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Lighting follows the Phong model: ambient plus diffuse plus specular, with attenuation over distance and a cone for spot lights. Each of the 8 lights has its own three colours, and I can switch off each term to show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lamp in the shop is a real light that can be switched on and off. OpenGL only has eight, so the outdoor lights are reused for interior lamps while the inside is drawn. The light tour flies the camera to each lamp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Gouraud shading computes the light at the vertices and blends the colours, so highlights between vertices disappear. My Phong shader blends the normal and computes the light for every pixel, giving the long glossy streaks on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Outdoors the scene is drawn a second time, flattened onto the ground along the sun direction, only into the stencil buffer, then one dark layer is blended. Inside, a shadow map with 3 by 3 filtering gives soft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empty tumbler on the table really bends what is behind it. The screen behind it is copied into a texture and the shader shifts the lookup by the refraction direction, plus a Fresnel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 turns on a real ray tracer on the CPU for eight objects. Rays find the nearest shape with exact formulas and a bounding volume hierarchy. Metal, glaze and the mirror reflect, weighted by the Fresnel term, and the glass ball refracts with Snell's law. The work is shared by 8 threads and drawn over the OpenGL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characters are built from spheres and cylinders. The cyclist's wheels roll without slipping and its knees are solved with the law of cosines so the feet stay on the pedals. The cat follows a small state machine and sometimes sits down to wash its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 chime is real physics: two pendulums driven by wind and integrated in small steps. When the strip swings far enough the clapper hits the glass and the rim glints. The banner next to it waves with a travelling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village: the shop with cherry and maple trees, ten houses of two designs, a lake with a wooden bridge and ducks, and inside the dining counter, the steaming bowls and wall pictures drawn from 2D shapes and clipped with Sutherland–Hodgman.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game inside the shop runs on a state machine: a customer orders, I boil the noodles for the right time, add broth and toppings and serve. The bowl is scored on accuracy, cooking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delivered all proposed features except flat shading and added several advanced ones. The main challenges were OpenGL's 8-light limit, making switched-off lights truly dark, and shadow z-fighting. Next I would add shadows for every lamp and move the ray tracer to the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5544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063240"/>
            <a:ext cx="4937760" cy="109728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The Ramen Shop  ·  CSE 4102</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343400"/>
            <a:ext cx="10881360" cy="100584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endParaRPr lang="en-US" sz="5400" dirty="0"/>
          </a:p>
        </p:txBody>
      </p:sp>
      <p:sp>
        <p:nvSpPr>
          <p:cNvPr id="3" name="Text 0"/>
          <p:cNvSpPr/>
          <p:nvPr>
            <p:ph idx="101" type="body" hasCustomPrompt="1"/>
          </p:nvPr>
        </p:nvSpPr>
        <p:spPr>
          <a:xfrm>
            <a:off x="640080" y="5349240"/>
            <a:ext cx="10881360" cy="548640"/>
          </a:xfrm>
          <a:prstGeom prst="rect">
            <a:avLst/>
          </a:prstGeom>
          <a:noFill/>
          <a:ln/>
        </p:spPr>
        <p:txBody>
          <a:bodyPr wrap="square" rtlCol="0"/>
          <a:lstStyle>
            <a:lvl1pPr algn="ctr" indent="0" marL="0">
              <a:buNone/>
              <a:defRPr lang="en-US" sz="2000" dirty="0">
                <a:solidFill>
                  <a:schemeClr val="accent2"/>
                </a:solidFill>
              </a:defRPr>
            </a:lvl1pPr>
          </a:lstStyle>
          <a:p>
            <a:pPr algn="ct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image" Target="../media/image-18-6.jp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554480"/>
          </a:xfrm>
          <a:prstGeom prst="rect">
            <a:avLst/>
          </a:prstGeom>
          <a:noFill/>
          <a:ln/>
        </p:spPr>
        <p:txBody>
          <a:bodyPr wrap="square" lIns="0" tIns="0" rIns="0" bIns="0" rtlCol="0" anchor="b"/>
          <a:lstStyle/>
          <a:p>
            <a:pPr algn="l" indent="0" marL="0">
              <a:buNone/>
            </a:pPr>
            <a:r>
              <a:rPr lang="en-US" sz="5400" b="1" dirty="0">
                <a:solidFill>
                  <a:schemeClr val="bg1"/>
                </a:solidFill>
              </a:rPr>
              <a:t>The Ramen Shop</a:t>
            </a:r>
            <a:endParaRPr lang="en-US" sz="5400" dirty="0"/>
          </a:p>
        </p:txBody>
      </p:sp>
      <p:sp>
        <p:nvSpPr>
          <p:cNvPr id="3" name="Text 0"/>
          <p:cNvSpPr/>
          <p:nvPr>
            <p:ph idx="101" type="body" hasCustomPrompt="1"/>
          </p:nvPr>
        </p:nvSpPr>
        <p:spPr>
          <a:xfrm>
            <a:off x="640080" y="3063240"/>
            <a:ext cx="4937760" cy="1097280"/>
          </a:xfrm>
          <a:prstGeom prst="rect">
            <a:avLst/>
          </a:prstGeom>
          <a:noFill/>
          <a:ln/>
        </p:spPr>
        <p:txBody>
          <a:bodyPr wrap="square" lIns="0" tIns="0" rIns="0" bIns="0" rtlCol="0" anchor="t"/>
          <a:lstStyle/>
          <a:p>
            <a:pPr algn="l" indent="0" marL="0">
              <a:buNone/>
            </a:pPr>
            <a:r>
              <a:rPr lang="en-US" sz="2000" dirty="0">
                <a:solidFill>
                  <a:schemeClr val="accent2"/>
                </a:solidFill>
              </a:rPr>
              <a:t>A Japanese ramen village in OpenGL</a:t>
            </a:r>
            <a:endParaRPr lang="en-US" sz="2000" dirty="0"/>
          </a:p>
          <a:p>
            <a:pPr algn="l" indent="0" marL="0">
              <a:buNone/>
            </a:pPr>
            <a:r>
              <a:rPr lang="en-US" sz="2000" dirty="0">
                <a:solidFill>
                  <a:schemeClr val="accent2"/>
                </a:solidFill>
              </a:rPr>
              <a:t>CSE 4102 · Computer Graphics Project</a:t>
            </a:r>
            <a:endParaRPr lang="en-US" sz="2000" dirty="0"/>
          </a:p>
        </p:txBody>
      </p:sp>
      <p:sp>
        <p:nvSpPr>
          <p:cNvPr id="4" name="Text 2"/>
          <p:cNvSpPr txBox="1"/>
          <p:nvPr/>
        </p:nvSpPr>
        <p:spPr>
          <a:xfrm>
            <a:off x="640080" y="4754880"/>
            <a:ext cx="5303520" cy="1005840"/>
          </a:xfrm>
          <a:prstGeom prst="rect">
            <a:avLst/>
          </a:prstGeom>
          <a:noFill/>
          <a:ln/>
        </p:spPr>
        <p:txBody>
          <a:bodyPr wrap="square" lIns="0" tIns="0" rIns="0" bIns="0" rtlCol="0" anchor="ctr"/>
          <a:lstStyle/>
          <a:p>
            <a:pPr indent="0" marL="0">
              <a:buNone/>
            </a:pPr>
            <a:r>
              <a:rPr lang="en-US" sz="1500" b="1" dirty="0">
                <a:solidFill>
                  <a:schemeClr val="bg1"/>
                </a:solidFill>
              </a:rPr>
              <a:t>Rajorshi Das</a:t>
            </a:r>
            <a:endParaRPr lang="en-US" sz="1500" dirty="0"/>
          </a:p>
          <a:p>
            <a:pPr indent="0" marL="0">
              <a:buNone/>
            </a:pPr>
            <a:r>
              <a:rPr lang="en-US" sz="1500" dirty="0">
                <a:solidFill>
                  <a:schemeClr val="bg1"/>
                </a:solidFill>
              </a:rPr>
              <a:t>Roll 2107060 · Dept. of CSE, KUET</a:t>
            </a:r>
            <a:endParaRPr lang="en-US" sz="1500" dirty="0"/>
          </a:p>
          <a:p>
            <a:pPr indent="0" marL="0">
              <a:buNone/>
            </a:pPr>
            <a:r>
              <a:rPr lang="en-US" sz="1500" dirty="0">
                <a:solidFill>
                  <a:schemeClr val="bg1"/>
                </a:solidFill>
              </a:rPr>
              <a:t>Supervisors: Md Tajmilur Rahman, Md. Mubtashim Abrar Nihal</a:t>
            </a:r>
            <a:endParaRPr lang="en-US" sz="1500" dirty="0"/>
          </a:p>
        </p:txBody>
      </p:sp>
      <p:pic>
        <p:nvPicPr>
          <p:cNvPr id="5" name="fig_ext_night" descr="G:/4-1/RamenShop/RamenShop/report/figs/fig_ext_night.jpg">    </p:cNvPr>
          <p:cNvPicPr>
            <a:picLocks noChangeAspect="1"/>
          </p:cNvPicPr>
          <p:nvPr/>
        </p:nvPicPr>
        <p:blipFill>
          <a:blip r:embed="rId1"/>
          <a:stretch>
            <a:fillRect/>
          </a:stretch>
        </p:blipFill>
        <p:spPr>
          <a:xfrm>
            <a:off x="6035040" y="2083872"/>
            <a:ext cx="5760720" cy="2690256"/>
          </a:xfrm>
          <a:prstGeom prst="rect">
            <a:avLst/>
          </a:prstGeom>
          <a:effectLst>
            <a:outerShdw sx="100000" sy="100000" kx="0" ky="0" algn="bl" rotWithShape="0" blurRad="76200" dist="254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Project overview</a:t>
            </a:r>
            <a:endParaRPr lang="en-US" sz="3400" dirty="0"/>
          </a:p>
        </p:txBody>
      </p:sp>
      <p:sp>
        <p:nvSpPr>
          <p:cNvPr id="3" name="Text 1"/>
          <p:cNvSpPr txBox="1"/>
          <p:nvPr/>
        </p:nvSpPr>
        <p:spPr>
          <a:xfrm>
            <a:off x="548640" y="1325880"/>
            <a:ext cx="5760720" cy="402336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accent1"/>
                </a:solidFill>
              </a:rPr>
              <a:t>Idea: </a:t>
            </a:r>
            <a:pPr indent="0" marL="0">
              <a:spcAft>
                <a:spcPts val="600"/>
              </a:spcAft>
              <a:buNone/>
            </a:pPr>
            <a:r>
              <a:rPr lang="en-US" sz="1700" dirty="0">
                <a:solidFill>
                  <a:schemeClr val="tx1"/>
                </a:solidFill>
              </a:rPr>
              <a:t>a small ramen-ya on a quiet Japanese street that can be explored day and night</a:t>
            </a:r>
            <a:endParaRPr lang="en-US" sz="1700" dirty="0"/>
          </a:p>
          <a:p>
            <a:pPr marL="342900" indent="-342900">
              <a:spcAft>
                <a:spcPts val="600"/>
              </a:spcAft>
              <a:buSzPct val="100000"/>
              <a:buChar char="•"/>
            </a:pPr>
            <a:r>
              <a:rPr lang="en-US" sz="1700" b="1" dirty="0">
                <a:solidFill>
                  <a:schemeClr val="accent1"/>
                </a:solidFill>
              </a:rPr>
              <a:t>The shop: </a:t>
            </a:r>
            <a:pPr indent="0" marL="0">
              <a:spcAft>
                <a:spcPts val="600"/>
              </a:spcAft>
              <a:buNone/>
            </a:pPr>
            <a:r>
              <a:rPr lang="en-US" sz="1700" dirty="0">
                <a:solidFill>
                  <a:schemeClr val="tx1"/>
                </a:solidFill>
              </a:rPr>
              <a:t>dining counter, open kitchen, two tables and a tatami room upstairs</a:t>
            </a:r>
            <a:endParaRPr lang="en-US" sz="1700" dirty="0"/>
          </a:p>
          <a:p>
            <a:pPr marL="342900" indent="-342900">
              <a:spcAft>
                <a:spcPts val="600"/>
              </a:spcAft>
              <a:buSzPct val="100000"/>
              <a:buChar char="•"/>
            </a:pPr>
            <a:r>
              <a:rPr lang="en-US" sz="1700" b="1" dirty="0">
                <a:solidFill>
                  <a:schemeClr val="accent1"/>
                </a:solidFill>
              </a:rPr>
              <a:t>The village: </a:t>
            </a:r>
            <a:pPr indent="0" marL="0">
              <a:spcAft>
                <a:spcPts val="600"/>
              </a:spcAft>
              <a:buNone/>
            </a:pPr>
            <a:r>
              <a:rPr lang="en-US" sz="1700" dirty="0">
                <a:solidFill>
                  <a:schemeClr val="tx1"/>
                </a:solidFill>
              </a:rPr>
              <a:t>10 houses, cobblestone street, 12 street lamps, cherry, maple and pine trees, a lake with ducks</a:t>
            </a:r>
            <a:endParaRPr lang="en-US" sz="1700" dirty="0"/>
          </a:p>
          <a:p>
            <a:pPr marL="342900" indent="-342900">
              <a:spcAft>
                <a:spcPts val="600"/>
              </a:spcAft>
              <a:buSzPct val="100000"/>
              <a:buChar char="•"/>
            </a:pPr>
            <a:r>
              <a:rPr lang="en-US" sz="1700" b="1" dirty="0">
                <a:solidFill>
                  <a:schemeClr val="accent1"/>
                </a:solidFill>
              </a:rPr>
              <a:t>Life: </a:t>
            </a:r>
            <a:pPr indent="0" marL="0">
              <a:spcAft>
                <a:spcPts val="600"/>
              </a:spcAft>
              <a:buNone/>
            </a:pPr>
            <a:r>
              <a:rPr lang="en-US" sz="1700" dirty="0">
                <a:solidFill>
                  <a:schemeClr val="tx1"/>
                </a:solidFill>
              </a:rPr>
              <a:t>a cyclist, a walking person, a cat, a wind chime, swaying trees, steam and fireflies</a:t>
            </a:r>
            <a:endParaRPr lang="en-US" sz="1700" dirty="0"/>
          </a:p>
          <a:p>
            <a:pPr marL="342900" indent="-342900">
              <a:spcAft>
                <a:spcPts val="600"/>
              </a:spcAft>
              <a:buSzPct val="100000"/>
              <a:buChar char="•"/>
            </a:pPr>
            <a:r>
              <a:rPr lang="en-US" sz="1700" b="1" dirty="0">
                <a:solidFill>
                  <a:schemeClr val="accent1"/>
                </a:solidFill>
              </a:rPr>
              <a:t>Built from scratch: </a:t>
            </a:r>
            <a:pPr indent="0" marL="0">
              <a:spcAft>
                <a:spcPts val="600"/>
              </a:spcAft>
              <a:buNone/>
            </a:pPr>
            <a:r>
              <a:rPr lang="en-US" sz="1700" dirty="0">
                <a:solidFill>
                  <a:schemeClr val="tx1"/>
                </a:solidFill>
              </a:rPr>
              <a:t>every object from basic shapes, every texture painted by the program</a:t>
            </a:r>
            <a:endParaRPr lang="en-US" sz="1700" dirty="0"/>
          </a:p>
        </p:txBody>
      </p:sp>
      <p:sp>
        <p:nvSpPr>
          <p:cNvPr id="4" name="stat card"/>
          <p:cNvSpPr/>
          <p:nvPr/>
        </p:nvSpPr>
        <p:spPr>
          <a:xfrm>
            <a:off x="6812280" y="1371600"/>
            <a:ext cx="2286000" cy="1828800"/>
          </a:xfrm>
          <a:prstGeom prst="roundRect">
            <a:avLst>
              <a:gd name="adj" fmla="val 6000"/>
            </a:avLst>
          </a:prstGeom>
          <a:solidFill>
            <a:schemeClr val="bg2"/>
          </a:solidFill>
          <a:ln w="12700">
            <a:solidFill>
              <a:schemeClr val="bg2"/>
            </a:solidFill>
            <a:prstDash val="solid"/>
          </a:ln>
        </p:spPr>
      </p:sp>
      <p:sp>
        <p:nvSpPr>
          <p:cNvPr id="5" name="Text 3"/>
          <p:cNvSpPr txBox="1"/>
          <p:nvPr/>
        </p:nvSpPr>
        <p:spPr>
          <a:xfrm>
            <a:off x="6812280" y="1508760"/>
            <a:ext cx="2286000" cy="100584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8</a:t>
            </a:r>
            <a:endParaRPr lang="en-US" sz="6000" dirty="0"/>
          </a:p>
        </p:txBody>
      </p:sp>
      <p:sp>
        <p:nvSpPr>
          <p:cNvPr id="6" name="Text 4"/>
          <p:cNvSpPr txBox="1"/>
          <p:nvPr/>
        </p:nvSpPr>
        <p:spPr>
          <a:xfrm>
            <a:off x="6949440" y="2514600"/>
            <a:ext cx="2011680" cy="548640"/>
          </a:xfrm>
          <a:prstGeom prst="rect">
            <a:avLst/>
          </a:prstGeom>
          <a:noFill/>
          <a:ln/>
        </p:spPr>
        <p:txBody>
          <a:bodyPr wrap="square" lIns="0" tIns="0" rIns="0" bIns="0" rtlCol="0" anchor="ctr"/>
          <a:lstStyle/>
          <a:p>
            <a:pPr algn="ctr" indent="0" marL="0">
              <a:buNone/>
            </a:pPr>
            <a:r>
              <a:rPr lang="en-US" sz="1400" dirty="0">
                <a:solidFill>
                  <a:schemeClr val="tx1"/>
                </a:solidFill>
              </a:rPr>
              <a:t>lights, each switchable</a:t>
            </a:r>
            <a:endParaRPr lang="en-US" sz="1400" dirty="0"/>
          </a:p>
        </p:txBody>
      </p:sp>
      <p:sp>
        <p:nvSpPr>
          <p:cNvPr id="7" name="stat card"/>
          <p:cNvSpPr/>
          <p:nvPr/>
        </p:nvSpPr>
        <p:spPr>
          <a:xfrm>
            <a:off x="9326880" y="1371600"/>
            <a:ext cx="2286000" cy="1828800"/>
          </a:xfrm>
          <a:prstGeom prst="roundRect">
            <a:avLst>
              <a:gd name="adj" fmla="val 6000"/>
            </a:avLst>
          </a:prstGeom>
          <a:solidFill>
            <a:schemeClr val="bg2"/>
          </a:solidFill>
          <a:ln w="12700">
            <a:solidFill>
              <a:schemeClr val="bg2"/>
            </a:solidFill>
            <a:prstDash val="solid"/>
          </a:ln>
        </p:spPr>
      </p:sp>
      <p:sp>
        <p:nvSpPr>
          <p:cNvPr id="8" name="Text 6"/>
          <p:cNvSpPr txBox="1"/>
          <p:nvPr/>
        </p:nvSpPr>
        <p:spPr>
          <a:xfrm>
            <a:off x="9326880" y="1508760"/>
            <a:ext cx="2286000" cy="100584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13</a:t>
            </a:r>
            <a:endParaRPr lang="en-US" sz="6000" dirty="0"/>
          </a:p>
        </p:txBody>
      </p:sp>
      <p:sp>
        <p:nvSpPr>
          <p:cNvPr id="9" name="Text 7"/>
          <p:cNvSpPr txBox="1"/>
          <p:nvPr/>
        </p:nvSpPr>
        <p:spPr>
          <a:xfrm>
            <a:off x="9464040" y="2514600"/>
            <a:ext cx="2011680" cy="548640"/>
          </a:xfrm>
          <a:prstGeom prst="rect">
            <a:avLst/>
          </a:prstGeom>
          <a:noFill/>
          <a:ln/>
        </p:spPr>
        <p:txBody>
          <a:bodyPr wrap="square" lIns="0" tIns="0" rIns="0" bIns="0" rtlCol="0" anchor="ctr"/>
          <a:lstStyle/>
          <a:p>
            <a:pPr algn="ctr" indent="0" marL="0">
              <a:buNone/>
            </a:pPr>
            <a:r>
              <a:rPr lang="en-US" sz="1400" dirty="0">
                <a:solidFill>
                  <a:schemeClr val="tx1"/>
                </a:solidFill>
              </a:rPr>
              <a:t>textures painted in code</a:t>
            </a:r>
            <a:endParaRPr lang="en-US" sz="1400" dirty="0"/>
          </a:p>
        </p:txBody>
      </p:sp>
      <p:sp>
        <p:nvSpPr>
          <p:cNvPr id="10" name="stat card"/>
          <p:cNvSpPr/>
          <p:nvPr/>
        </p:nvSpPr>
        <p:spPr>
          <a:xfrm>
            <a:off x="6812280" y="3429000"/>
            <a:ext cx="2286000" cy="1828800"/>
          </a:xfrm>
          <a:prstGeom prst="roundRect">
            <a:avLst>
              <a:gd name="adj" fmla="val 6000"/>
            </a:avLst>
          </a:prstGeom>
          <a:solidFill>
            <a:schemeClr val="bg2"/>
          </a:solidFill>
          <a:ln w="12700">
            <a:solidFill>
              <a:schemeClr val="bg2"/>
            </a:solidFill>
            <a:prstDash val="solid"/>
          </a:ln>
        </p:spPr>
      </p:sp>
      <p:sp>
        <p:nvSpPr>
          <p:cNvPr id="11" name="Text 9"/>
          <p:cNvSpPr txBox="1"/>
          <p:nvPr/>
        </p:nvSpPr>
        <p:spPr>
          <a:xfrm>
            <a:off x="6812280" y="3566160"/>
            <a:ext cx="2286000" cy="100584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7</a:t>
            </a:r>
            <a:endParaRPr lang="en-US" sz="6000" dirty="0"/>
          </a:p>
        </p:txBody>
      </p:sp>
      <p:sp>
        <p:nvSpPr>
          <p:cNvPr id="12" name="Text 10"/>
          <p:cNvSpPr txBox="1"/>
          <p:nvPr/>
        </p:nvSpPr>
        <p:spPr>
          <a:xfrm>
            <a:off x="6949440" y="4572000"/>
            <a:ext cx="2011680" cy="548640"/>
          </a:xfrm>
          <a:prstGeom prst="rect">
            <a:avLst/>
          </a:prstGeom>
          <a:noFill/>
          <a:ln/>
        </p:spPr>
        <p:txBody>
          <a:bodyPr wrap="square" lIns="0" tIns="0" rIns="0" bIns="0" rtlCol="0" anchor="ctr"/>
          <a:lstStyle/>
          <a:p>
            <a:pPr algn="ctr" indent="0" marL="0">
              <a:buNone/>
            </a:pPr>
            <a:r>
              <a:rPr lang="en-US" sz="1400" dirty="0">
                <a:solidFill>
                  <a:schemeClr val="tx1"/>
                </a:solidFill>
              </a:rPr>
              <a:t>camera modes</a:t>
            </a:r>
            <a:endParaRPr lang="en-US" sz="1400" dirty="0"/>
          </a:p>
        </p:txBody>
      </p:sp>
      <p:sp>
        <p:nvSpPr>
          <p:cNvPr id="13" name="stat card"/>
          <p:cNvSpPr/>
          <p:nvPr/>
        </p:nvSpPr>
        <p:spPr>
          <a:xfrm>
            <a:off x="9326880" y="3429000"/>
            <a:ext cx="2286000" cy="1828800"/>
          </a:xfrm>
          <a:prstGeom prst="roundRect">
            <a:avLst>
              <a:gd name="adj" fmla="val 6000"/>
            </a:avLst>
          </a:prstGeom>
          <a:solidFill>
            <a:schemeClr val="bg2"/>
          </a:solidFill>
          <a:ln w="12700">
            <a:solidFill>
              <a:schemeClr val="bg2"/>
            </a:solidFill>
            <a:prstDash val="solid"/>
          </a:ln>
        </p:spPr>
      </p:sp>
      <p:sp>
        <p:nvSpPr>
          <p:cNvPr id="14" name="Text 12"/>
          <p:cNvSpPr txBox="1"/>
          <p:nvPr/>
        </p:nvSpPr>
        <p:spPr>
          <a:xfrm>
            <a:off x="9326880" y="3566160"/>
            <a:ext cx="2286000" cy="100584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0</a:t>
            </a:r>
            <a:endParaRPr lang="en-US" sz="6000" dirty="0"/>
          </a:p>
        </p:txBody>
      </p:sp>
      <p:sp>
        <p:nvSpPr>
          <p:cNvPr id="15" name="Text 13"/>
          <p:cNvSpPr txBox="1"/>
          <p:nvPr/>
        </p:nvSpPr>
        <p:spPr>
          <a:xfrm>
            <a:off x="9464040" y="4572000"/>
            <a:ext cx="2011680" cy="548640"/>
          </a:xfrm>
          <a:prstGeom prst="rect">
            <a:avLst/>
          </a:prstGeom>
          <a:noFill/>
          <a:ln/>
        </p:spPr>
        <p:txBody>
          <a:bodyPr wrap="square" lIns="0" tIns="0" rIns="0" bIns="0" rtlCol="0" anchor="ctr"/>
          <a:lstStyle/>
          <a:p>
            <a:pPr algn="ctr" indent="0" marL="0">
              <a:buNone/>
            </a:pPr>
            <a:r>
              <a:rPr lang="en-US" sz="1400" dirty="0">
                <a:solidFill>
                  <a:schemeClr val="tx1"/>
                </a:solidFill>
              </a:rPr>
              <a:t>model or image files</a:t>
            </a:r>
            <a:endParaRPr lang="en-US" sz="1400" dirty="0"/>
          </a:p>
        </p:txBody>
      </p:sp>
      <p:sp>
        <p:nvSpPr>
          <p:cNvPr id="16" name="formula chip"/>
          <p:cNvSpPr/>
          <p:nvPr/>
        </p:nvSpPr>
        <p:spPr>
          <a:xfrm>
            <a:off x="548640" y="5669280"/>
            <a:ext cx="11064240" cy="502920"/>
          </a:xfrm>
          <a:prstGeom prst="roundRect">
            <a:avLst>
              <a:gd name="adj" fmla="val 21818"/>
            </a:avLst>
          </a:prstGeom>
          <a:solidFill>
            <a:schemeClr val="accent1"/>
          </a:solidFill>
          <a:ln w="12700">
            <a:solidFill>
              <a:schemeClr val="accent1"/>
            </a:solidFill>
            <a:prstDash val="solid"/>
          </a:ln>
        </p:spPr>
      </p:sp>
      <p:sp>
        <p:nvSpPr>
          <p:cNvPr id="17" name="Text 15"/>
          <p:cNvSpPr txBox="1"/>
          <p:nvPr/>
        </p:nvSpPr>
        <p:spPr>
          <a:xfrm>
            <a:off x="713232" y="5669280"/>
            <a:ext cx="10735056" cy="502920"/>
          </a:xfrm>
          <a:prstGeom prst="rect">
            <a:avLst/>
          </a:prstGeom>
          <a:noFill/>
          <a:ln/>
        </p:spPr>
        <p:txBody>
          <a:bodyPr wrap="square" lIns="0" tIns="0" rIns="0" bIns="0" rtlCol="0" anchor="ctr"/>
          <a:lstStyle/>
          <a:p>
            <a:pPr indent="0" marL="0">
              <a:buNone/>
            </a:pPr>
            <a:r>
              <a:rPr lang="en-US" sz="1600" dirty="0">
                <a:solidFill>
                  <a:schemeClr val="bg1"/>
                </a:solidFill>
                <a:latin typeface="Cambria" pitchFamily="34" charset="0"/>
                <a:ea typeface="Cambria" pitchFamily="34" charset="-122"/>
                <a:cs typeface="Cambria" pitchFamily="34" charset="-120"/>
              </a:rPr>
              <a:t>C++17  ·  OpenGL fixed function + GLSL 1.20 shaders  ·  FreeGLUT  ·  GLEW  ·  about 15,000 lines in 18 files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Proposed features and what I implemented</a:t>
            </a:r>
            <a:endParaRPr lang="en-US" sz="3400" dirty="0"/>
          </a:p>
        </p:txBody>
      </p:sp>
      <p:sp>
        <p:nvSpPr>
          <p:cNvPr id="3" name="Text 1"/>
          <p:cNvSpPr txBox="1"/>
          <p:nvPr/>
        </p:nvSpPr>
        <p:spPr>
          <a:xfrm>
            <a:off x="548640" y="1280160"/>
            <a:ext cx="5486400" cy="365760"/>
          </a:xfrm>
          <a:prstGeom prst="rect">
            <a:avLst/>
          </a:prstGeom>
          <a:noFill/>
          <a:ln/>
        </p:spPr>
        <p:txBody>
          <a:bodyPr wrap="square" lIns="0" tIns="0" rIns="0" bIns="0" rtlCol="0" anchor="ctr"/>
          <a:lstStyle/>
          <a:p>
            <a:pPr indent="0" marL="0">
              <a:buNone/>
            </a:pPr>
            <a:r>
              <a:rPr lang="en-US" sz="1800" b="1" dirty="0">
                <a:solidFill>
                  <a:schemeClr val="accent1"/>
                </a:solidFill>
              </a:rPr>
              <a:t>Proposed</a:t>
            </a:r>
            <a:endParaRPr lang="en-US" sz="1800" dirty="0"/>
          </a:p>
        </p:txBody>
      </p:sp>
      <p:sp>
        <p:nvSpPr>
          <p:cNvPr id="4" name="feature"/>
          <p:cNvSpPr/>
          <p:nvPr/>
        </p:nvSpPr>
        <p:spPr>
          <a:xfrm>
            <a:off x="548640" y="1737360"/>
            <a:ext cx="2651760" cy="658368"/>
          </a:xfrm>
          <a:prstGeom prst="roundRect">
            <a:avLst>
              <a:gd name="adj" fmla="val 11111"/>
            </a:avLst>
          </a:prstGeom>
          <a:solidFill>
            <a:schemeClr val="bg2"/>
          </a:solidFill>
          <a:ln w="12700">
            <a:solidFill>
              <a:schemeClr val="bg2"/>
            </a:solidFill>
            <a:prstDash val="solid"/>
          </a:ln>
        </p:spPr>
      </p:sp>
      <p:sp>
        <p:nvSpPr>
          <p:cNvPr id="5" name="Text 3"/>
          <p:cNvSpPr txBox="1"/>
          <p:nvPr/>
        </p:nvSpPr>
        <p:spPr>
          <a:xfrm>
            <a:off x="685800" y="1737360"/>
            <a:ext cx="1874520" cy="658368"/>
          </a:xfrm>
          <a:prstGeom prst="rect">
            <a:avLst/>
          </a:prstGeom>
          <a:noFill/>
          <a:ln/>
        </p:spPr>
        <p:txBody>
          <a:bodyPr wrap="square" lIns="0" tIns="0" rIns="0" bIns="0" rtlCol="0" anchor="ctr"/>
          <a:lstStyle/>
          <a:p>
            <a:pPr indent="0" marL="0">
              <a:buNone/>
            </a:pPr>
            <a:r>
              <a:rPr lang="en-US" sz="1400" dirty="0">
                <a:solidFill>
                  <a:schemeClr val="tx1"/>
                </a:solidFill>
              </a:rPr>
              <a:t>Translation, rotation, scaling</a:t>
            </a:r>
            <a:endParaRPr lang="en-US" sz="1400" dirty="0"/>
          </a:p>
        </p:txBody>
      </p:sp>
      <p:sp>
        <p:nvSpPr>
          <p:cNvPr id="6" name="Text 4"/>
          <p:cNvSpPr txBox="1"/>
          <p:nvPr/>
        </p:nvSpPr>
        <p:spPr>
          <a:xfrm>
            <a:off x="2560320" y="1737360"/>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7" name="feature"/>
          <p:cNvSpPr/>
          <p:nvPr/>
        </p:nvSpPr>
        <p:spPr>
          <a:xfrm>
            <a:off x="3337560" y="1737360"/>
            <a:ext cx="2651760" cy="658368"/>
          </a:xfrm>
          <a:prstGeom prst="roundRect">
            <a:avLst>
              <a:gd name="adj" fmla="val 11111"/>
            </a:avLst>
          </a:prstGeom>
          <a:solidFill>
            <a:schemeClr val="bg2"/>
          </a:solidFill>
          <a:ln w="12700">
            <a:solidFill>
              <a:schemeClr val="bg2"/>
            </a:solidFill>
            <a:prstDash val="solid"/>
          </a:ln>
        </p:spPr>
      </p:sp>
      <p:sp>
        <p:nvSpPr>
          <p:cNvPr id="8" name="Text 6"/>
          <p:cNvSpPr txBox="1"/>
          <p:nvPr/>
        </p:nvSpPr>
        <p:spPr>
          <a:xfrm>
            <a:off x="3474720" y="1737360"/>
            <a:ext cx="1874520" cy="658368"/>
          </a:xfrm>
          <a:prstGeom prst="rect">
            <a:avLst/>
          </a:prstGeom>
          <a:noFill/>
          <a:ln/>
        </p:spPr>
        <p:txBody>
          <a:bodyPr wrap="square" lIns="0" tIns="0" rIns="0" bIns="0" rtlCol="0" anchor="ctr"/>
          <a:lstStyle/>
          <a:p>
            <a:pPr indent="0" marL="0">
              <a:buNone/>
            </a:pPr>
            <a:r>
              <a:rPr lang="en-US" sz="1400" dirty="0">
                <a:solidFill>
                  <a:schemeClr val="tx1"/>
                </a:solidFill>
              </a:rPr>
              <a:t>Hierarchical modelling</a:t>
            </a:r>
            <a:endParaRPr lang="en-US" sz="1400" dirty="0"/>
          </a:p>
        </p:txBody>
      </p:sp>
      <p:sp>
        <p:nvSpPr>
          <p:cNvPr id="9" name="Text 7"/>
          <p:cNvSpPr txBox="1"/>
          <p:nvPr/>
        </p:nvSpPr>
        <p:spPr>
          <a:xfrm>
            <a:off x="5349240" y="1737360"/>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10" name="feature"/>
          <p:cNvSpPr/>
          <p:nvPr/>
        </p:nvSpPr>
        <p:spPr>
          <a:xfrm>
            <a:off x="548640" y="2523744"/>
            <a:ext cx="2651760" cy="658368"/>
          </a:xfrm>
          <a:prstGeom prst="roundRect">
            <a:avLst>
              <a:gd name="adj" fmla="val 11111"/>
            </a:avLst>
          </a:prstGeom>
          <a:solidFill>
            <a:schemeClr val="bg2"/>
          </a:solidFill>
          <a:ln w="12700">
            <a:solidFill>
              <a:schemeClr val="bg2"/>
            </a:solidFill>
            <a:prstDash val="solid"/>
          </a:ln>
        </p:spPr>
      </p:sp>
      <p:sp>
        <p:nvSpPr>
          <p:cNvPr id="11" name="Text 9"/>
          <p:cNvSpPr txBox="1"/>
          <p:nvPr/>
        </p:nvSpPr>
        <p:spPr>
          <a:xfrm>
            <a:off x="685800" y="2523744"/>
            <a:ext cx="1874520" cy="658368"/>
          </a:xfrm>
          <a:prstGeom prst="rect">
            <a:avLst/>
          </a:prstGeom>
          <a:noFill/>
          <a:ln/>
        </p:spPr>
        <p:txBody>
          <a:bodyPr wrap="square" lIns="0" tIns="0" rIns="0" bIns="0" rtlCol="0" anchor="ctr"/>
          <a:lstStyle/>
          <a:p>
            <a:pPr indent="0" marL="0">
              <a:buNone/>
            </a:pPr>
            <a:r>
              <a:rPr lang="en-US" sz="1400" dirty="0">
                <a:solidFill>
                  <a:schemeClr val="tx1"/>
                </a:solidFill>
              </a:rPr>
              <a:t>Perspective camera</a:t>
            </a:r>
            <a:endParaRPr lang="en-US" sz="1400" dirty="0"/>
          </a:p>
        </p:txBody>
      </p:sp>
      <p:sp>
        <p:nvSpPr>
          <p:cNvPr id="12" name="Text 10"/>
          <p:cNvSpPr txBox="1"/>
          <p:nvPr/>
        </p:nvSpPr>
        <p:spPr>
          <a:xfrm>
            <a:off x="2560320" y="2523744"/>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13" name="feature"/>
          <p:cNvSpPr/>
          <p:nvPr/>
        </p:nvSpPr>
        <p:spPr>
          <a:xfrm>
            <a:off x="3337560" y="2523744"/>
            <a:ext cx="2651760" cy="658368"/>
          </a:xfrm>
          <a:prstGeom prst="roundRect">
            <a:avLst>
              <a:gd name="adj" fmla="val 11111"/>
            </a:avLst>
          </a:prstGeom>
          <a:solidFill>
            <a:srgbClr val="FBEFE6"/>
          </a:solidFill>
          <a:ln w="12700">
            <a:solidFill>
              <a:srgbClr val="FBEFE6"/>
            </a:solidFill>
            <a:prstDash val="solid"/>
          </a:ln>
        </p:spPr>
      </p:sp>
      <p:sp>
        <p:nvSpPr>
          <p:cNvPr id="14" name="Text 12"/>
          <p:cNvSpPr txBox="1"/>
          <p:nvPr/>
        </p:nvSpPr>
        <p:spPr>
          <a:xfrm>
            <a:off x="3474720" y="2523744"/>
            <a:ext cx="1874520" cy="658368"/>
          </a:xfrm>
          <a:prstGeom prst="rect">
            <a:avLst/>
          </a:prstGeom>
          <a:noFill/>
          <a:ln/>
        </p:spPr>
        <p:txBody>
          <a:bodyPr wrap="square" lIns="0" tIns="0" rIns="0" bIns="0" rtlCol="0" anchor="ctr"/>
          <a:lstStyle/>
          <a:p>
            <a:pPr indent="0" marL="0">
              <a:buNone/>
            </a:pPr>
            <a:r>
              <a:rPr lang="en-US" sz="1400" dirty="0">
                <a:solidFill>
                  <a:schemeClr val="tx1"/>
                </a:solidFill>
              </a:rPr>
              <a:t>Orthographic view</a:t>
            </a:r>
            <a:endParaRPr lang="en-US" sz="1400" dirty="0"/>
          </a:p>
        </p:txBody>
      </p:sp>
      <p:sp>
        <p:nvSpPr>
          <p:cNvPr id="15" name="Text 13"/>
          <p:cNvSpPr txBox="1"/>
          <p:nvPr/>
        </p:nvSpPr>
        <p:spPr>
          <a:xfrm>
            <a:off x="5349240" y="2523744"/>
            <a:ext cx="548640" cy="658368"/>
          </a:xfrm>
          <a:prstGeom prst="rect">
            <a:avLst/>
          </a:prstGeom>
          <a:noFill/>
          <a:ln/>
        </p:spPr>
        <p:txBody>
          <a:bodyPr wrap="square" lIns="0" tIns="0" rIns="0" bIns="0" rtlCol="0" anchor="ctr"/>
          <a:lstStyle/>
          <a:p>
            <a:pPr algn="ctr" indent="0" marL="0">
              <a:buNone/>
            </a:pPr>
            <a:r>
              <a:rPr lang="en-US" sz="1300" b="1" dirty="0">
                <a:solidFill>
                  <a:schemeClr val="accent5"/>
                </a:solidFill>
              </a:rPr>
              <a:t>HUD</a:t>
            </a:r>
            <a:endParaRPr lang="en-US" sz="1300" dirty="0"/>
          </a:p>
        </p:txBody>
      </p:sp>
      <p:sp>
        <p:nvSpPr>
          <p:cNvPr id="16" name="feature"/>
          <p:cNvSpPr/>
          <p:nvPr/>
        </p:nvSpPr>
        <p:spPr>
          <a:xfrm>
            <a:off x="548640" y="3310128"/>
            <a:ext cx="2651760" cy="658368"/>
          </a:xfrm>
          <a:prstGeom prst="roundRect">
            <a:avLst>
              <a:gd name="adj" fmla="val 11111"/>
            </a:avLst>
          </a:prstGeom>
          <a:solidFill>
            <a:schemeClr val="bg2"/>
          </a:solidFill>
          <a:ln w="12700">
            <a:solidFill>
              <a:schemeClr val="bg2"/>
            </a:solidFill>
            <a:prstDash val="solid"/>
          </a:ln>
        </p:spPr>
      </p:sp>
      <p:sp>
        <p:nvSpPr>
          <p:cNvPr id="17" name="Text 15"/>
          <p:cNvSpPr txBox="1"/>
          <p:nvPr/>
        </p:nvSpPr>
        <p:spPr>
          <a:xfrm>
            <a:off x="685800" y="3310128"/>
            <a:ext cx="1874520" cy="658368"/>
          </a:xfrm>
          <a:prstGeom prst="rect">
            <a:avLst/>
          </a:prstGeom>
          <a:noFill/>
          <a:ln/>
        </p:spPr>
        <p:txBody>
          <a:bodyPr wrap="square" lIns="0" tIns="0" rIns="0" bIns="0" rtlCol="0" anchor="ctr"/>
          <a:lstStyle/>
          <a:p>
            <a:pPr indent="0" marL="0">
              <a:buNone/>
            </a:pPr>
            <a:r>
              <a:rPr lang="en-US" sz="1400" dirty="0">
                <a:solidFill>
                  <a:schemeClr val="tx1"/>
                </a:solidFill>
              </a:rPr>
              <a:t>Ambient · diffuse · specular</a:t>
            </a:r>
            <a:endParaRPr lang="en-US" sz="1400" dirty="0"/>
          </a:p>
        </p:txBody>
      </p:sp>
      <p:sp>
        <p:nvSpPr>
          <p:cNvPr id="18" name="Text 16"/>
          <p:cNvSpPr txBox="1"/>
          <p:nvPr/>
        </p:nvSpPr>
        <p:spPr>
          <a:xfrm>
            <a:off x="2560320" y="3310128"/>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19" name="feature"/>
          <p:cNvSpPr/>
          <p:nvPr/>
        </p:nvSpPr>
        <p:spPr>
          <a:xfrm>
            <a:off x="3337560" y="3310128"/>
            <a:ext cx="2651760" cy="658368"/>
          </a:xfrm>
          <a:prstGeom prst="roundRect">
            <a:avLst>
              <a:gd name="adj" fmla="val 11111"/>
            </a:avLst>
          </a:prstGeom>
          <a:solidFill>
            <a:schemeClr val="bg2"/>
          </a:solidFill>
          <a:ln w="12700">
            <a:solidFill>
              <a:schemeClr val="bg2"/>
            </a:solidFill>
            <a:prstDash val="solid"/>
          </a:ln>
        </p:spPr>
      </p:sp>
      <p:sp>
        <p:nvSpPr>
          <p:cNvPr id="20" name="Text 18"/>
          <p:cNvSpPr txBox="1"/>
          <p:nvPr/>
        </p:nvSpPr>
        <p:spPr>
          <a:xfrm>
            <a:off x="3474720" y="3310128"/>
            <a:ext cx="1874520" cy="658368"/>
          </a:xfrm>
          <a:prstGeom prst="rect">
            <a:avLst/>
          </a:prstGeom>
          <a:noFill/>
          <a:ln/>
        </p:spPr>
        <p:txBody>
          <a:bodyPr wrap="square" lIns="0" tIns="0" rIns="0" bIns="0" rtlCol="0" anchor="ctr"/>
          <a:lstStyle/>
          <a:p>
            <a:pPr indent="0" marL="0">
              <a:buNone/>
            </a:pPr>
            <a:r>
              <a:rPr lang="en-US" sz="1400" dirty="0">
                <a:solidFill>
                  <a:schemeClr val="tx1"/>
                </a:solidFill>
              </a:rPr>
              <a:t>Gouraud shading</a:t>
            </a:r>
            <a:endParaRPr lang="en-US" sz="1400" dirty="0"/>
          </a:p>
        </p:txBody>
      </p:sp>
      <p:sp>
        <p:nvSpPr>
          <p:cNvPr id="21" name="Text 19"/>
          <p:cNvSpPr txBox="1"/>
          <p:nvPr/>
        </p:nvSpPr>
        <p:spPr>
          <a:xfrm>
            <a:off x="5349240" y="3310128"/>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22" name="feature"/>
          <p:cNvSpPr/>
          <p:nvPr/>
        </p:nvSpPr>
        <p:spPr>
          <a:xfrm>
            <a:off x="548640" y="4096512"/>
            <a:ext cx="2651760" cy="658368"/>
          </a:xfrm>
          <a:prstGeom prst="roundRect">
            <a:avLst>
              <a:gd name="adj" fmla="val 11111"/>
            </a:avLst>
          </a:prstGeom>
          <a:solidFill>
            <a:schemeClr val="bg2"/>
          </a:solidFill>
          <a:ln w="12700">
            <a:solidFill>
              <a:schemeClr val="bg2"/>
            </a:solidFill>
            <a:prstDash val="solid"/>
          </a:ln>
        </p:spPr>
      </p:sp>
      <p:sp>
        <p:nvSpPr>
          <p:cNvPr id="23" name="Text 21"/>
          <p:cNvSpPr txBox="1"/>
          <p:nvPr/>
        </p:nvSpPr>
        <p:spPr>
          <a:xfrm>
            <a:off x="685800" y="4096512"/>
            <a:ext cx="1874520" cy="658368"/>
          </a:xfrm>
          <a:prstGeom prst="rect">
            <a:avLst/>
          </a:prstGeom>
          <a:noFill/>
          <a:ln/>
        </p:spPr>
        <p:txBody>
          <a:bodyPr wrap="square" lIns="0" tIns="0" rIns="0" bIns="0" rtlCol="0" anchor="ctr"/>
          <a:lstStyle/>
          <a:p>
            <a:pPr indent="0" marL="0">
              <a:buNone/>
            </a:pPr>
            <a:r>
              <a:rPr lang="en-US" sz="1400" dirty="0">
                <a:solidFill>
                  <a:schemeClr val="tx1"/>
                </a:solidFill>
              </a:rPr>
              <a:t>Phong shading</a:t>
            </a:r>
            <a:endParaRPr lang="en-US" sz="1400" dirty="0"/>
          </a:p>
        </p:txBody>
      </p:sp>
      <p:sp>
        <p:nvSpPr>
          <p:cNvPr id="24" name="Text 22"/>
          <p:cNvSpPr txBox="1"/>
          <p:nvPr/>
        </p:nvSpPr>
        <p:spPr>
          <a:xfrm>
            <a:off x="2560320" y="4096512"/>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25" name="feature"/>
          <p:cNvSpPr/>
          <p:nvPr/>
        </p:nvSpPr>
        <p:spPr>
          <a:xfrm>
            <a:off x="3337560" y="4096512"/>
            <a:ext cx="2651760" cy="658368"/>
          </a:xfrm>
          <a:prstGeom prst="roundRect">
            <a:avLst>
              <a:gd name="adj" fmla="val 11111"/>
            </a:avLst>
          </a:prstGeom>
          <a:solidFill>
            <a:srgbClr val="FBEFE6"/>
          </a:solidFill>
          <a:ln w="12700">
            <a:solidFill>
              <a:srgbClr val="FBEFE6"/>
            </a:solidFill>
            <a:prstDash val="solid"/>
          </a:ln>
        </p:spPr>
      </p:sp>
      <p:sp>
        <p:nvSpPr>
          <p:cNvPr id="26" name="Text 24"/>
          <p:cNvSpPr txBox="1"/>
          <p:nvPr/>
        </p:nvSpPr>
        <p:spPr>
          <a:xfrm>
            <a:off x="3474720" y="4096512"/>
            <a:ext cx="1874520" cy="658368"/>
          </a:xfrm>
          <a:prstGeom prst="rect">
            <a:avLst/>
          </a:prstGeom>
          <a:noFill/>
          <a:ln/>
        </p:spPr>
        <p:txBody>
          <a:bodyPr wrap="square" lIns="0" tIns="0" rIns="0" bIns="0" rtlCol="0" anchor="ctr"/>
          <a:lstStyle/>
          <a:p>
            <a:pPr indent="0" marL="0">
              <a:buNone/>
            </a:pPr>
            <a:r>
              <a:rPr lang="en-US" sz="1400" dirty="0">
                <a:solidFill>
                  <a:schemeClr val="tx1"/>
                </a:solidFill>
              </a:rPr>
              <a:t>Flat shading</a:t>
            </a:r>
            <a:endParaRPr lang="en-US" sz="1400" dirty="0"/>
          </a:p>
        </p:txBody>
      </p:sp>
      <p:sp>
        <p:nvSpPr>
          <p:cNvPr id="27" name="Text 25"/>
          <p:cNvSpPr txBox="1"/>
          <p:nvPr/>
        </p:nvSpPr>
        <p:spPr>
          <a:xfrm>
            <a:off x="5349240" y="4096512"/>
            <a:ext cx="548640" cy="658368"/>
          </a:xfrm>
          <a:prstGeom prst="rect">
            <a:avLst/>
          </a:prstGeom>
          <a:noFill/>
          <a:ln/>
        </p:spPr>
        <p:txBody>
          <a:bodyPr wrap="square" lIns="0" tIns="0" rIns="0" bIns="0" rtlCol="0" anchor="ctr"/>
          <a:lstStyle/>
          <a:p>
            <a:pPr algn="ctr" indent="0" marL="0">
              <a:buNone/>
            </a:pPr>
            <a:r>
              <a:rPr lang="en-US" sz="1300" b="1" dirty="0">
                <a:solidFill>
                  <a:schemeClr val="accent5"/>
                </a:solidFill>
              </a:rPr>
              <a:t>—</a:t>
            </a:r>
            <a:endParaRPr lang="en-US" sz="1300" dirty="0"/>
          </a:p>
        </p:txBody>
      </p:sp>
      <p:sp>
        <p:nvSpPr>
          <p:cNvPr id="28" name="feature"/>
          <p:cNvSpPr/>
          <p:nvPr/>
        </p:nvSpPr>
        <p:spPr>
          <a:xfrm>
            <a:off x="548640" y="4882896"/>
            <a:ext cx="2651760" cy="658368"/>
          </a:xfrm>
          <a:prstGeom prst="roundRect">
            <a:avLst>
              <a:gd name="adj" fmla="val 11111"/>
            </a:avLst>
          </a:prstGeom>
          <a:solidFill>
            <a:schemeClr val="bg2"/>
          </a:solidFill>
          <a:ln w="12700">
            <a:solidFill>
              <a:schemeClr val="bg2"/>
            </a:solidFill>
            <a:prstDash val="solid"/>
          </a:ln>
        </p:spPr>
      </p:sp>
      <p:sp>
        <p:nvSpPr>
          <p:cNvPr id="29" name="Text 27"/>
          <p:cNvSpPr txBox="1"/>
          <p:nvPr/>
        </p:nvSpPr>
        <p:spPr>
          <a:xfrm>
            <a:off x="685800" y="4882896"/>
            <a:ext cx="1874520" cy="658368"/>
          </a:xfrm>
          <a:prstGeom prst="rect">
            <a:avLst/>
          </a:prstGeom>
          <a:noFill/>
          <a:ln/>
        </p:spPr>
        <p:txBody>
          <a:bodyPr wrap="square" lIns="0" tIns="0" rIns="0" bIns="0" rtlCol="0" anchor="ctr"/>
          <a:lstStyle/>
          <a:p>
            <a:pPr indent="0" marL="0">
              <a:buNone/>
            </a:pPr>
            <a:r>
              <a:rPr lang="en-US" sz="1400" dirty="0">
                <a:solidFill>
                  <a:schemeClr val="tx1"/>
                </a:solidFill>
              </a:rPr>
              <a:t>Skybox</a:t>
            </a:r>
            <a:endParaRPr lang="en-US" sz="1400" dirty="0"/>
          </a:p>
        </p:txBody>
      </p:sp>
      <p:sp>
        <p:nvSpPr>
          <p:cNvPr id="30" name="Text 28"/>
          <p:cNvSpPr txBox="1"/>
          <p:nvPr/>
        </p:nvSpPr>
        <p:spPr>
          <a:xfrm>
            <a:off x="2560320" y="4882896"/>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31" name="feature"/>
          <p:cNvSpPr/>
          <p:nvPr/>
        </p:nvSpPr>
        <p:spPr>
          <a:xfrm>
            <a:off x="3337560" y="4882896"/>
            <a:ext cx="2651760" cy="658368"/>
          </a:xfrm>
          <a:prstGeom prst="roundRect">
            <a:avLst>
              <a:gd name="adj" fmla="val 11111"/>
            </a:avLst>
          </a:prstGeom>
          <a:solidFill>
            <a:schemeClr val="bg2"/>
          </a:solidFill>
          <a:ln w="12700">
            <a:solidFill>
              <a:schemeClr val="bg2"/>
            </a:solidFill>
            <a:prstDash val="solid"/>
          </a:ln>
        </p:spPr>
      </p:sp>
      <p:sp>
        <p:nvSpPr>
          <p:cNvPr id="32" name="Text 30"/>
          <p:cNvSpPr txBox="1"/>
          <p:nvPr/>
        </p:nvSpPr>
        <p:spPr>
          <a:xfrm>
            <a:off x="3474720" y="4882896"/>
            <a:ext cx="1874520" cy="658368"/>
          </a:xfrm>
          <a:prstGeom prst="rect">
            <a:avLst/>
          </a:prstGeom>
          <a:noFill/>
          <a:ln/>
        </p:spPr>
        <p:txBody>
          <a:bodyPr wrap="square" lIns="0" tIns="0" rIns="0" bIns="0" rtlCol="0" anchor="ctr"/>
          <a:lstStyle/>
          <a:p>
            <a:pPr indent="0" marL="0">
              <a:buNone/>
            </a:pPr>
            <a:r>
              <a:rPr lang="en-US" sz="1400" dirty="0">
                <a:solidFill>
                  <a:schemeClr val="tx1"/>
                </a:solidFill>
              </a:rPr>
              <a:t>Textures</a:t>
            </a:r>
            <a:endParaRPr lang="en-US" sz="1400" dirty="0"/>
          </a:p>
        </p:txBody>
      </p:sp>
      <p:sp>
        <p:nvSpPr>
          <p:cNvPr id="33" name="Text 31"/>
          <p:cNvSpPr txBox="1"/>
          <p:nvPr/>
        </p:nvSpPr>
        <p:spPr>
          <a:xfrm>
            <a:off x="5349240" y="4882896"/>
            <a:ext cx="548640" cy="658368"/>
          </a:xfrm>
          <a:prstGeom prst="rect">
            <a:avLst/>
          </a:prstGeom>
          <a:noFill/>
          <a:ln/>
        </p:spPr>
        <p:txBody>
          <a:bodyPr wrap="square" lIns="0" tIns="0" rIns="0" bIns="0" rtlCol="0" anchor="ctr"/>
          <a:lstStyle/>
          <a:p>
            <a:pPr algn="ctr" indent="0" marL="0">
              <a:buNone/>
            </a:pPr>
            <a:r>
              <a:rPr lang="en-US" sz="2000" b="1" dirty="0">
                <a:solidFill>
                  <a:schemeClr val="accent3"/>
                </a:solidFill>
              </a:rPr>
              <a:t>✓</a:t>
            </a:r>
            <a:endParaRPr lang="en-US" sz="2000" dirty="0"/>
          </a:p>
        </p:txBody>
      </p:sp>
      <p:sp>
        <p:nvSpPr>
          <p:cNvPr id="34" name="Text 32"/>
          <p:cNvSpPr txBox="1"/>
          <p:nvPr/>
        </p:nvSpPr>
        <p:spPr>
          <a:xfrm>
            <a:off x="6492240" y="128016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Added beyond the proposal</a:t>
            </a:r>
            <a:endParaRPr lang="en-US" sz="1800" dirty="0"/>
          </a:p>
        </p:txBody>
      </p:sp>
      <p:sp>
        <p:nvSpPr>
          <p:cNvPr id="35" name="extra"/>
          <p:cNvSpPr/>
          <p:nvPr/>
        </p:nvSpPr>
        <p:spPr>
          <a:xfrm>
            <a:off x="6492240" y="1737360"/>
            <a:ext cx="5120640" cy="548640"/>
          </a:xfrm>
          <a:prstGeom prst="roundRect">
            <a:avLst>
              <a:gd name="adj" fmla="val 13333"/>
            </a:avLst>
          </a:prstGeom>
          <a:solidFill>
            <a:schemeClr val="accent1"/>
          </a:solidFill>
          <a:ln w="12700">
            <a:solidFill>
              <a:schemeClr val="accent1"/>
            </a:solidFill>
            <a:prstDash val="solid"/>
          </a:ln>
        </p:spPr>
      </p:sp>
      <p:sp>
        <p:nvSpPr>
          <p:cNvPr id="36" name="Text 34"/>
          <p:cNvSpPr txBox="1"/>
          <p:nvPr/>
        </p:nvSpPr>
        <p:spPr>
          <a:xfrm>
            <a:off x="6675120" y="1737360"/>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Shadows (stencil + shadow map)</a:t>
            </a:r>
            <a:endParaRPr lang="en-US" sz="1600" dirty="0"/>
          </a:p>
        </p:txBody>
      </p:sp>
      <p:sp>
        <p:nvSpPr>
          <p:cNvPr id="37" name="extra"/>
          <p:cNvSpPr/>
          <p:nvPr/>
        </p:nvSpPr>
        <p:spPr>
          <a:xfrm>
            <a:off x="6492240" y="2395728"/>
            <a:ext cx="5120640" cy="548640"/>
          </a:xfrm>
          <a:prstGeom prst="roundRect">
            <a:avLst>
              <a:gd name="adj" fmla="val 13333"/>
            </a:avLst>
          </a:prstGeom>
          <a:solidFill>
            <a:schemeClr val="accent1"/>
          </a:solidFill>
          <a:ln w="12700">
            <a:solidFill>
              <a:schemeClr val="accent1"/>
            </a:solidFill>
            <a:prstDash val="solid"/>
          </a:ln>
        </p:spPr>
      </p:sp>
      <p:sp>
        <p:nvSpPr>
          <p:cNvPr id="38" name="Text 36"/>
          <p:cNvSpPr txBox="1"/>
          <p:nvPr/>
        </p:nvSpPr>
        <p:spPr>
          <a:xfrm>
            <a:off x="6675120" y="2395728"/>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Glass refraction</a:t>
            </a:r>
            <a:endParaRPr lang="en-US" sz="1600" dirty="0"/>
          </a:p>
        </p:txBody>
      </p:sp>
      <p:sp>
        <p:nvSpPr>
          <p:cNvPr id="39" name="extra"/>
          <p:cNvSpPr/>
          <p:nvPr/>
        </p:nvSpPr>
        <p:spPr>
          <a:xfrm>
            <a:off x="6492240" y="3054096"/>
            <a:ext cx="5120640" cy="548640"/>
          </a:xfrm>
          <a:prstGeom prst="roundRect">
            <a:avLst>
              <a:gd name="adj" fmla="val 13333"/>
            </a:avLst>
          </a:prstGeom>
          <a:solidFill>
            <a:schemeClr val="accent1"/>
          </a:solidFill>
          <a:ln w="12700">
            <a:solidFill>
              <a:schemeClr val="accent1"/>
            </a:solidFill>
            <a:prstDash val="solid"/>
          </a:ln>
        </p:spPr>
      </p:sp>
      <p:sp>
        <p:nvSpPr>
          <p:cNvPr id="40" name="Text 38"/>
          <p:cNvSpPr txBox="1"/>
          <p:nvPr/>
        </p:nvSpPr>
        <p:spPr>
          <a:xfrm>
            <a:off x="6675120" y="3054096"/>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CPU ray tracing</a:t>
            </a:r>
            <a:endParaRPr lang="en-US" sz="1600" dirty="0"/>
          </a:p>
        </p:txBody>
      </p:sp>
      <p:sp>
        <p:nvSpPr>
          <p:cNvPr id="41" name="extra"/>
          <p:cNvSpPr/>
          <p:nvPr/>
        </p:nvSpPr>
        <p:spPr>
          <a:xfrm>
            <a:off x="6492240" y="3712464"/>
            <a:ext cx="5120640" cy="548640"/>
          </a:xfrm>
          <a:prstGeom prst="roundRect">
            <a:avLst>
              <a:gd name="adj" fmla="val 13333"/>
            </a:avLst>
          </a:prstGeom>
          <a:solidFill>
            <a:schemeClr val="accent1"/>
          </a:solidFill>
          <a:ln w="12700">
            <a:solidFill>
              <a:schemeClr val="accent1"/>
            </a:solidFill>
            <a:prstDash val="solid"/>
          </a:ln>
        </p:spPr>
      </p:sp>
      <p:sp>
        <p:nvSpPr>
          <p:cNvPr id="42" name="Text 40"/>
          <p:cNvSpPr txBox="1"/>
          <p:nvPr/>
        </p:nvSpPr>
        <p:spPr>
          <a:xfrm>
            <a:off x="6675120" y="3712464"/>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Animated characters</a:t>
            </a:r>
            <a:endParaRPr lang="en-US" sz="1600" dirty="0"/>
          </a:p>
        </p:txBody>
      </p:sp>
      <p:sp>
        <p:nvSpPr>
          <p:cNvPr id="43" name="extra"/>
          <p:cNvSpPr/>
          <p:nvPr/>
        </p:nvSpPr>
        <p:spPr>
          <a:xfrm>
            <a:off x="6492240" y="4370832"/>
            <a:ext cx="5120640" cy="548640"/>
          </a:xfrm>
          <a:prstGeom prst="roundRect">
            <a:avLst>
              <a:gd name="adj" fmla="val 13333"/>
            </a:avLst>
          </a:prstGeom>
          <a:solidFill>
            <a:schemeClr val="accent1"/>
          </a:solidFill>
          <a:ln w="12700">
            <a:solidFill>
              <a:schemeClr val="accent1"/>
            </a:solidFill>
            <a:prstDash val="solid"/>
          </a:ln>
        </p:spPr>
      </p:sp>
      <p:sp>
        <p:nvSpPr>
          <p:cNvPr id="44" name="Text 42"/>
          <p:cNvSpPr txBox="1"/>
          <p:nvPr/>
        </p:nvSpPr>
        <p:spPr>
          <a:xfrm>
            <a:off x="6675120" y="4370832"/>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Physics wind chime</a:t>
            </a:r>
            <a:endParaRPr lang="en-US" sz="1600" dirty="0"/>
          </a:p>
        </p:txBody>
      </p:sp>
      <p:sp>
        <p:nvSpPr>
          <p:cNvPr id="45" name="extra"/>
          <p:cNvSpPr/>
          <p:nvPr/>
        </p:nvSpPr>
        <p:spPr>
          <a:xfrm>
            <a:off x="6492240" y="5029200"/>
            <a:ext cx="5120640" cy="548640"/>
          </a:xfrm>
          <a:prstGeom prst="roundRect">
            <a:avLst>
              <a:gd name="adj" fmla="val 13333"/>
            </a:avLst>
          </a:prstGeom>
          <a:solidFill>
            <a:schemeClr val="accent1"/>
          </a:solidFill>
          <a:ln w="12700">
            <a:solidFill>
              <a:schemeClr val="accent1"/>
            </a:solidFill>
            <a:prstDash val="solid"/>
          </a:ln>
        </p:spPr>
      </p:sp>
      <p:sp>
        <p:nvSpPr>
          <p:cNvPr id="46" name="Text 44"/>
          <p:cNvSpPr txBox="1"/>
          <p:nvPr/>
        </p:nvSpPr>
        <p:spPr>
          <a:xfrm>
            <a:off x="6675120" y="5029200"/>
            <a:ext cx="4754880" cy="548640"/>
          </a:xfrm>
          <a:prstGeom prst="rect">
            <a:avLst/>
          </a:prstGeom>
          <a:noFill/>
          <a:ln/>
        </p:spPr>
        <p:txBody>
          <a:bodyPr wrap="square" lIns="0" tIns="0" rIns="0" bIns="0" rtlCol="0" anchor="ctr"/>
          <a:lstStyle/>
          <a:p>
            <a:pPr indent="0" marL="0">
              <a:buNone/>
            </a:pPr>
            <a:r>
              <a:rPr lang="en-US" sz="1600" b="1" dirty="0">
                <a:solidFill>
                  <a:schemeClr val="bg1"/>
                </a:solidFill>
              </a:rPr>
              <a:t>+  Ramen cooking game</a:t>
            </a:r>
            <a:endParaRPr lang="en-US" sz="1600" dirty="0"/>
          </a:p>
        </p:txBody>
      </p:sp>
      <p:sp>
        <p:nvSpPr>
          <p:cNvPr id="47" name="Text 45"/>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 implemented   ·   HUD = used for the game's 2D overlay   ·   — not implemented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How the program is organised</a:t>
            </a:r>
            <a:endParaRPr lang="en-US" sz="3400" dirty="0"/>
          </a:p>
        </p:txBody>
      </p:sp>
      <p:sp>
        <p:nvSpPr>
          <p:cNvPr id="3" name="card"/>
          <p:cNvSpPr/>
          <p:nvPr/>
        </p:nvSpPr>
        <p:spPr>
          <a:xfrm>
            <a:off x="548640" y="1325880"/>
            <a:ext cx="2651760" cy="987552"/>
          </a:xfrm>
          <a:prstGeom prst="roundRect">
            <a:avLst>
              <a:gd name="adj" fmla="val 9259"/>
            </a:avLst>
          </a:prstGeom>
          <a:solidFill>
            <a:schemeClr val="bg2"/>
          </a:solidFill>
          <a:ln w="12700">
            <a:solidFill>
              <a:schemeClr val="bg2"/>
            </a:solidFill>
            <a:prstDash val="solid"/>
          </a:ln>
        </p:spPr>
      </p:sp>
      <p:sp>
        <p:nvSpPr>
          <p:cNvPr id="4" name="Text 2"/>
          <p:cNvSpPr txBox="1"/>
          <p:nvPr/>
        </p:nvSpPr>
        <p:spPr>
          <a:xfrm>
            <a:off x="731520" y="1435608"/>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main · camera</a:t>
            </a:r>
            <a:endParaRPr lang="en-US" sz="1600" dirty="0"/>
          </a:p>
          <a:p>
            <a:pPr indent="0" marL="0">
              <a:spcAft>
                <a:spcPts val="400"/>
              </a:spcAft>
              <a:buNone/>
            </a:pPr>
            <a:r>
              <a:rPr lang="en-US" sz="1400" dirty="0">
                <a:solidFill>
                  <a:schemeClr val="tx1"/>
                </a:solidFill>
              </a:rPr>
              <a:t>window, frame loop, 7 cameras, input</a:t>
            </a:r>
            <a:endParaRPr lang="en-US" sz="1600" dirty="0"/>
          </a:p>
        </p:txBody>
      </p:sp>
      <p:sp>
        <p:nvSpPr>
          <p:cNvPr id="5" name="card"/>
          <p:cNvSpPr/>
          <p:nvPr/>
        </p:nvSpPr>
        <p:spPr>
          <a:xfrm>
            <a:off x="3337560" y="1325880"/>
            <a:ext cx="2651760" cy="987552"/>
          </a:xfrm>
          <a:prstGeom prst="roundRect">
            <a:avLst>
              <a:gd name="adj" fmla="val 9259"/>
            </a:avLst>
          </a:prstGeom>
          <a:solidFill>
            <a:schemeClr val="bg2"/>
          </a:solidFill>
          <a:ln w="12700">
            <a:solidFill>
              <a:schemeClr val="bg2"/>
            </a:solidFill>
            <a:prstDash val="solid"/>
          </a:ln>
        </p:spPr>
      </p:sp>
      <p:sp>
        <p:nvSpPr>
          <p:cNvPr id="6" name="Text 4"/>
          <p:cNvSpPr txBox="1"/>
          <p:nvPr/>
        </p:nvSpPr>
        <p:spPr>
          <a:xfrm>
            <a:off x="3520440" y="1435608"/>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shapes · texture</a:t>
            </a:r>
            <a:endParaRPr lang="en-US" sz="1600" dirty="0"/>
          </a:p>
          <a:p>
            <a:pPr indent="0" marL="0">
              <a:spcAft>
                <a:spcPts val="400"/>
              </a:spcAft>
              <a:buNone/>
            </a:pPr>
            <a:r>
              <a:rPr lang="en-US" sz="1400" dirty="0">
                <a:solidFill>
                  <a:schemeClr val="tx1"/>
                </a:solidFill>
              </a:rPr>
              <a:t>primitives, materials, 13 textures</a:t>
            </a:r>
            <a:endParaRPr lang="en-US" sz="1600" dirty="0"/>
          </a:p>
        </p:txBody>
      </p:sp>
      <p:sp>
        <p:nvSpPr>
          <p:cNvPr id="7" name="card"/>
          <p:cNvSpPr/>
          <p:nvPr/>
        </p:nvSpPr>
        <p:spPr>
          <a:xfrm>
            <a:off x="548640" y="2441448"/>
            <a:ext cx="2651760" cy="987552"/>
          </a:xfrm>
          <a:prstGeom prst="roundRect">
            <a:avLst>
              <a:gd name="adj" fmla="val 9259"/>
            </a:avLst>
          </a:prstGeom>
          <a:solidFill>
            <a:schemeClr val="bg2"/>
          </a:solidFill>
          <a:ln w="12700">
            <a:solidFill>
              <a:schemeClr val="bg2"/>
            </a:solidFill>
            <a:prstDash val="solid"/>
          </a:ln>
        </p:spPr>
      </p:sp>
      <p:sp>
        <p:nvSpPr>
          <p:cNvPr id="8" name="Text 6"/>
          <p:cNvSpPr txBox="1"/>
          <p:nvPr/>
        </p:nvSpPr>
        <p:spPr>
          <a:xfrm>
            <a:off x="731520" y="2551176"/>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scene · exterior</a:t>
            </a:r>
            <a:endParaRPr lang="en-US" sz="1600" dirty="0"/>
          </a:p>
          <a:p>
            <a:pPr indent="0" marL="0">
              <a:spcAft>
                <a:spcPts val="400"/>
              </a:spcAft>
              <a:buNone/>
            </a:pPr>
            <a:r>
              <a:rPr lang="en-US" sz="1400" dirty="0">
                <a:solidFill>
                  <a:schemeClr val="tx1"/>
                </a:solidFill>
              </a:rPr>
              <a:t>sky, shop, village, characters</a:t>
            </a:r>
            <a:endParaRPr lang="en-US" sz="1600" dirty="0"/>
          </a:p>
        </p:txBody>
      </p:sp>
      <p:sp>
        <p:nvSpPr>
          <p:cNvPr id="9" name="card"/>
          <p:cNvSpPr/>
          <p:nvPr/>
        </p:nvSpPr>
        <p:spPr>
          <a:xfrm>
            <a:off x="3337560" y="2441448"/>
            <a:ext cx="2651760" cy="987552"/>
          </a:xfrm>
          <a:prstGeom prst="roundRect">
            <a:avLst>
              <a:gd name="adj" fmla="val 9259"/>
            </a:avLst>
          </a:prstGeom>
          <a:solidFill>
            <a:schemeClr val="bg2"/>
          </a:solidFill>
          <a:ln w="12700">
            <a:solidFill>
              <a:schemeClr val="bg2"/>
            </a:solidFill>
            <a:prstDash val="solid"/>
          </a:ln>
        </p:spPr>
      </p:sp>
      <p:sp>
        <p:nvSpPr>
          <p:cNvPr id="10" name="Text 8"/>
          <p:cNvSpPr txBox="1"/>
          <p:nvPr/>
        </p:nvSpPr>
        <p:spPr>
          <a:xfrm>
            <a:off x="3520440" y="2551176"/>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furniture · food</a:t>
            </a:r>
            <a:endParaRPr lang="en-US" sz="1600" dirty="0"/>
          </a:p>
          <a:p>
            <a:pPr indent="0" marL="0">
              <a:spcAft>
                <a:spcPts val="400"/>
              </a:spcAft>
              <a:buNone/>
            </a:pPr>
            <a:r>
              <a:rPr lang="en-US" sz="1400" dirty="0">
                <a:solidFill>
                  <a:schemeClr val="tx1"/>
                </a:solidFill>
              </a:rPr>
              <a:t>counter, kitchen, bowls, lanterns</a:t>
            </a:r>
            <a:endParaRPr lang="en-US" sz="1600" dirty="0"/>
          </a:p>
        </p:txBody>
      </p:sp>
      <p:sp>
        <p:nvSpPr>
          <p:cNvPr id="11" name="card"/>
          <p:cNvSpPr/>
          <p:nvPr/>
        </p:nvSpPr>
        <p:spPr>
          <a:xfrm>
            <a:off x="548640" y="3557016"/>
            <a:ext cx="2651760" cy="987552"/>
          </a:xfrm>
          <a:prstGeom prst="roundRect">
            <a:avLst>
              <a:gd name="adj" fmla="val 9259"/>
            </a:avLst>
          </a:prstGeom>
          <a:solidFill>
            <a:schemeClr val="bg2"/>
          </a:solidFill>
          <a:ln w="12700">
            <a:solidFill>
              <a:schemeClr val="bg2"/>
            </a:solidFill>
            <a:prstDash val="solid"/>
          </a:ln>
        </p:spPr>
      </p:sp>
      <p:sp>
        <p:nvSpPr>
          <p:cNvPr id="12" name="Text 10"/>
          <p:cNvSpPr txBox="1"/>
          <p:nvPr/>
        </p:nvSpPr>
        <p:spPr>
          <a:xfrm>
            <a:off x="731520" y="3666744"/>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lighting · shader</a:t>
            </a:r>
            <a:endParaRPr lang="en-US" sz="1600" dirty="0"/>
          </a:p>
          <a:p>
            <a:pPr indent="0" marL="0">
              <a:spcAft>
                <a:spcPts val="400"/>
              </a:spcAft>
              <a:buNone/>
            </a:pPr>
            <a:r>
              <a:rPr lang="en-US" sz="1400" dirty="0">
                <a:solidFill>
                  <a:schemeClr val="tx1"/>
                </a:solidFill>
              </a:rPr>
              <a:t>8 lights, Phong GLSL shader, fog</a:t>
            </a:r>
            <a:endParaRPr lang="en-US" sz="1600" dirty="0"/>
          </a:p>
        </p:txBody>
      </p:sp>
      <p:sp>
        <p:nvSpPr>
          <p:cNvPr id="13" name="card"/>
          <p:cNvSpPr/>
          <p:nvPr/>
        </p:nvSpPr>
        <p:spPr>
          <a:xfrm>
            <a:off x="3337560" y="3557016"/>
            <a:ext cx="2651760" cy="987552"/>
          </a:xfrm>
          <a:prstGeom prst="roundRect">
            <a:avLst>
              <a:gd name="adj" fmla="val 9259"/>
            </a:avLst>
          </a:prstGeom>
          <a:solidFill>
            <a:schemeClr val="bg2"/>
          </a:solidFill>
          <a:ln w="12700">
            <a:solidFill>
              <a:schemeClr val="bg2"/>
            </a:solidFill>
            <a:prstDash val="solid"/>
          </a:ln>
        </p:spPr>
      </p:sp>
      <p:sp>
        <p:nvSpPr>
          <p:cNvPr id="14" name="Text 12"/>
          <p:cNvSpPr txBox="1"/>
          <p:nvPr/>
        </p:nvSpPr>
        <p:spPr>
          <a:xfrm>
            <a:off x="3520440" y="3666744"/>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shadowmap · refraction</a:t>
            </a:r>
            <a:endParaRPr lang="en-US" sz="1600" dirty="0"/>
          </a:p>
          <a:p>
            <a:pPr indent="0" marL="0">
              <a:spcAft>
                <a:spcPts val="400"/>
              </a:spcAft>
              <a:buNone/>
            </a:pPr>
            <a:r>
              <a:rPr lang="en-US" sz="1400" dirty="0">
                <a:solidFill>
                  <a:schemeClr val="tx1"/>
                </a:solidFill>
              </a:rPr>
              <a:t>soft shadows, glass refraction</a:t>
            </a:r>
            <a:endParaRPr lang="en-US" sz="1600" dirty="0"/>
          </a:p>
        </p:txBody>
      </p:sp>
      <p:sp>
        <p:nvSpPr>
          <p:cNvPr id="15" name="card"/>
          <p:cNvSpPr/>
          <p:nvPr/>
        </p:nvSpPr>
        <p:spPr>
          <a:xfrm>
            <a:off x="548640" y="4672584"/>
            <a:ext cx="2651760" cy="987552"/>
          </a:xfrm>
          <a:prstGeom prst="roundRect">
            <a:avLst>
              <a:gd name="adj" fmla="val 9259"/>
            </a:avLst>
          </a:prstGeom>
          <a:solidFill>
            <a:schemeClr val="bg2"/>
          </a:solidFill>
          <a:ln w="12700">
            <a:solidFill>
              <a:schemeClr val="bg2"/>
            </a:solidFill>
            <a:prstDash val="solid"/>
          </a:ln>
        </p:spPr>
      </p:sp>
      <p:sp>
        <p:nvSpPr>
          <p:cNvPr id="16" name="Text 14"/>
          <p:cNvSpPr txBox="1"/>
          <p:nvPr/>
        </p:nvSpPr>
        <p:spPr>
          <a:xfrm>
            <a:off x="731520" y="4782312"/>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rtcore · rtscene · rtpass</a:t>
            </a:r>
            <a:endParaRPr lang="en-US" sz="1600" dirty="0"/>
          </a:p>
          <a:p>
            <a:pPr indent="0" marL="0">
              <a:spcAft>
                <a:spcPts val="400"/>
              </a:spcAft>
              <a:buNone/>
            </a:pPr>
            <a:r>
              <a:rPr lang="en-US" sz="1400" dirty="0">
                <a:solidFill>
                  <a:schemeClr val="tx1"/>
                </a:solidFill>
              </a:rPr>
              <a:t>CPU ray tracer and compositing</a:t>
            </a:r>
            <a:endParaRPr lang="en-US" sz="1600" dirty="0"/>
          </a:p>
        </p:txBody>
      </p:sp>
      <p:sp>
        <p:nvSpPr>
          <p:cNvPr id="17" name="card"/>
          <p:cNvSpPr/>
          <p:nvPr/>
        </p:nvSpPr>
        <p:spPr>
          <a:xfrm>
            <a:off x="3337560" y="4672584"/>
            <a:ext cx="2651760" cy="987552"/>
          </a:xfrm>
          <a:prstGeom prst="roundRect">
            <a:avLst>
              <a:gd name="adj" fmla="val 9259"/>
            </a:avLst>
          </a:prstGeom>
          <a:solidFill>
            <a:schemeClr val="bg2"/>
          </a:solidFill>
          <a:ln w="12700">
            <a:solidFill>
              <a:schemeClr val="bg2"/>
            </a:solidFill>
            <a:prstDash val="solid"/>
          </a:ln>
        </p:spPr>
      </p:sp>
      <p:sp>
        <p:nvSpPr>
          <p:cNvPr id="18" name="Text 16"/>
          <p:cNvSpPr txBox="1"/>
          <p:nvPr/>
        </p:nvSpPr>
        <p:spPr>
          <a:xfrm>
            <a:off x="3520440" y="4782312"/>
            <a:ext cx="2286000" cy="768096"/>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game · objects</a:t>
            </a:r>
            <a:endParaRPr lang="en-US" sz="1600" dirty="0"/>
          </a:p>
          <a:p>
            <a:pPr indent="0" marL="0">
              <a:spcAft>
                <a:spcPts val="400"/>
              </a:spcAft>
              <a:buNone/>
            </a:pPr>
            <a:r>
              <a:rPr lang="en-US" sz="1400" dirty="0">
                <a:solidFill>
                  <a:schemeClr val="tx1"/>
                </a:solidFill>
              </a:rPr>
              <a:t>cooking game, movable objects</a:t>
            </a:r>
            <a:endParaRPr lang="en-US" sz="1600" dirty="0"/>
          </a:p>
        </p:txBody>
      </p:sp>
      <p:sp>
        <p:nvSpPr>
          <p:cNvPr id="19" name="Text 17"/>
          <p:cNvSpPr txBox="1"/>
          <p:nvPr/>
        </p:nvSpPr>
        <p:spPr>
          <a:xfrm>
            <a:off x="6537960" y="1280160"/>
            <a:ext cx="5029200" cy="365760"/>
          </a:xfrm>
          <a:prstGeom prst="rect">
            <a:avLst/>
          </a:prstGeom>
          <a:noFill/>
          <a:ln/>
        </p:spPr>
        <p:txBody>
          <a:bodyPr wrap="square" lIns="0" tIns="0" rIns="0" bIns="0" rtlCol="0" anchor="ctr"/>
          <a:lstStyle/>
          <a:p>
            <a:pPr indent="0" marL="0">
              <a:buNone/>
            </a:pPr>
            <a:r>
              <a:rPr lang="en-US" sz="1800" b="1" dirty="0">
                <a:solidFill>
                  <a:schemeClr val="accent1"/>
                </a:solidFill>
              </a:rPr>
              <a:t>Every frame (16 ms)</a:t>
            </a:r>
            <a:endParaRPr lang="en-US" sz="1800" dirty="0"/>
          </a:p>
        </p:txBody>
      </p:sp>
      <p:sp>
        <p:nvSpPr>
          <p:cNvPr id="20" name="step badge"/>
          <p:cNvSpPr/>
          <p:nvPr/>
        </p:nvSpPr>
        <p:spPr>
          <a:xfrm>
            <a:off x="6537960" y="1773936"/>
            <a:ext cx="384048" cy="384048"/>
          </a:xfrm>
          <a:prstGeom prst="ellipse">
            <a:avLst/>
          </a:prstGeom>
          <a:solidFill>
            <a:schemeClr val="accent2"/>
          </a:solidFill>
          <a:ln w="12700">
            <a:solidFill>
              <a:schemeClr val="accent2"/>
            </a:solidFill>
            <a:prstDash val="solid"/>
          </a:ln>
        </p:spPr>
      </p:sp>
      <p:sp>
        <p:nvSpPr>
          <p:cNvPr id="21" name="Text 19"/>
          <p:cNvSpPr txBox="1"/>
          <p:nvPr/>
        </p:nvSpPr>
        <p:spPr>
          <a:xfrm>
            <a:off x="6537960" y="177393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2" name="step"/>
          <p:cNvSpPr/>
          <p:nvPr/>
        </p:nvSpPr>
        <p:spPr>
          <a:xfrm>
            <a:off x="7086600" y="1737360"/>
            <a:ext cx="4526280" cy="457200"/>
          </a:xfrm>
          <a:prstGeom prst="roundRect">
            <a:avLst>
              <a:gd name="adj" fmla="val 16000"/>
            </a:avLst>
          </a:prstGeom>
          <a:solidFill>
            <a:schemeClr val="bg2"/>
          </a:solidFill>
          <a:ln w="12700">
            <a:solidFill>
              <a:schemeClr val="bg2"/>
            </a:solidFill>
            <a:prstDash val="solid"/>
          </a:ln>
        </p:spPr>
      </p:sp>
      <p:sp>
        <p:nvSpPr>
          <p:cNvPr id="23" name="Text 21"/>
          <p:cNvSpPr txBox="1"/>
          <p:nvPr/>
        </p:nvSpPr>
        <p:spPr>
          <a:xfrm>
            <a:off x="7269480" y="1737360"/>
            <a:ext cx="4206240" cy="457200"/>
          </a:xfrm>
          <a:prstGeom prst="rect">
            <a:avLst/>
          </a:prstGeom>
          <a:noFill/>
          <a:ln/>
        </p:spPr>
        <p:txBody>
          <a:bodyPr wrap="square" lIns="0" tIns="0" rIns="0" bIns="0" rtlCol="0" anchor="ctr"/>
          <a:lstStyle/>
          <a:p>
            <a:pPr indent="0" marL="0">
              <a:buNone/>
            </a:pPr>
            <a:r>
              <a:rPr lang="en-US" sz="1500" dirty="0">
                <a:solidFill>
                  <a:schemeClr val="tx1"/>
                </a:solidFill>
              </a:rPr>
              <a:t>Input + clock</a:t>
            </a:r>
            <a:endParaRPr lang="en-US" sz="1500" dirty="0"/>
          </a:p>
        </p:txBody>
      </p:sp>
      <p:sp>
        <p:nvSpPr>
          <p:cNvPr id="24" name="step badge"/>
          <p:cNvSpPr/>
          <p:nvPr/>
        </p:nvSpPr>
        <p:spPr>
          <a:xfrm>
            <a:off x="6537960" y="2377440"/>
            <a:ext cx="384048" cy="384048"/>
          </a:xfrm>
          <a:prstGeom prst="ellipse">
            <a:avLst/>
          </a:prstGeom>
          <a:solidFill>
            <a:schemeClr val="accent2"/>
          </a:solidFill>
          <a:ln w="12700">
            <a:solidFill>
              <a:schemeClr val="accent2"/>
            </a:solidFill>
            <a:prstDash val="solid"/>
          </a:ln>
        </p:spPr>
      </p:sp>
      <p:sp>
        <p:nvSpPr>
          <p:cNvPr id="25" name="Text 23"/>
          <p:cNvSpPr txBox="1"/>
          <p:nvPr/>
        </p:nvSpPr>
        <p:spPr>
          <a:xfrm>
            <a:off x="6537960" y="23774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6" name="step"/>
          <p:cNvSpPr/>
          <p:nvPr/>
        </p:nvSpPr>
        <p:spPr>
          <a:xfrm>
            <a:off x="7086600" y="2340864"/>
            <a:ext cx="4526280" cy="457200"/>
          </a:xfrm>
          <a:prstGeom prst="roundRect">
            <a:avLst>
              <a:gd name="adj" fmla="val 16000"/>
            </a:avLst>
          </a:prstGeom>
          <a:solidFill>
            <a:schemeClr val="bg2"/>
          </a:solidFill>
          <a:ln w="12700">
            <a:solidFill>
              <a:schemeClr val="bg2"/>
            </a:solidFill>
            <a:prstDash val="solid"/>
          </a:ln>
        </p:spPr>
      </p:sp>
      <p:sp>
        <p:nvSpPr>
          <p:cNvPr id="27" name="Text 25"/>
          <p:cNvSpPr txBox="1"/>
          <p:nvPr/>
        </p:nvSpPr>
        <p:spPr>
          <a:xfrm>
            <a:off x="7269480" y="2340864"/>
            <a:ext cx="4206240" cy="457200"/>
          </a:xfrm>
          <a:prstGeom prst="rect">
            <a:avLst/>
          </a:prstGeom>
          <a:noFill/>
          <a:ln/>
        </p:spPr>
        <p:txBody>
          <a:bodyPr wrap="square" lIns="0" tIns="0" rIns="0" bIns="0" rtlCol="0" anchor="ctr"/>
          <a:lstStyle/>
          <a:p>
            <a:pPr indent="0" marL="0">
              <a:buNone/>
            </a:pPr>
            <a:r>
              <a:rPr lang="en-US" sz="1500" dirty="0">
                <a:solidFill>
                  <a:schemeClr val="tx1"/>
                </a:solidFill>
              </a:rPr>
              <a:t>Camera + lights</a:t>
            </a:r>
            <a:endParaRPr lang="en-US" sz="1500" dirty="0"/>
          </a:p>
        </p:txBody>
      </p:sp>
      <p:sp>
        <p:nvSpPr>
          <p:cNvPr id="28" name="step badge"/>
          <p:cNvSpPr/>
          <p:nvPr/>
        </p:nvSpPr>
        <p:spPr>
          <a:xfrm>
            <a:off x="6537960" y="2980944"/>
            <a:ext cx="384048" cy="384048"/>
          </a:xfrm>
          <a:prstGeom prst="ellipse">
            <a:avLst/>
          </a:prstGeom>
          <a:solidFill>
            <a:schemeClr val="accent2"/>
          </a:solidFill>
          <a:ln w="12700">
            <a:solidFill>
              <a:schemeClr val="accent2"/>
            </a:solidFill>
            <a:prstDash val="solid"/>
          </a:ln>
        </p:spPr>
      </p:sp>
      <p:sp>
        <p:nvSpPr>
          <p:cNvPr id="29" name="Text 27"/>
          <p:cNvSpPr txBox="1"/>
          <p:nvPr/>
        </p:nvSpPr>
        <p:spPr>
          <a:xfrm>
            <a:off x="6537960" y="298094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30" name="step"/>
          <p:cNvSpPr/>
          <p:nvPr/>
        </p:nvSpPr>
        <p:spPr>
          <a:xfrm>
            <a:off x="7086600" y="2944368"/>
            <a:ext cx="4526280" cy="457200"/>
          </a:xfrm>
          <a:prstGeom prst="roundRect">
            <a:avLst>
              <a:gd name="adj" fmla="val 16000"/>
            </a:avLst>
          </a:prstGeom>
          <a:solidFill>
            <a:schemeClr val="bg2"/>
          </a:solidFill>
          <a:ln w="12700">
            <a:solidFill>
              <a:schemeClr val="bg2"/>
            </a:solidFill>
            <a:prstDash val="solid"/>
          </a:ln>
        </p:spPr>
      </p:sp>
      <p:sp>
        <p:nvSpPr>
          <p:cNvPr id="31" name="Text 29"/>
          <p:cNvSpPr txBox="1"/>
          <p:nvPr/>
        </p:nvSpPr>
        <p:spPr>
          <a:xfrm>
            <a:off x="7269480" y="2944368"/>
            <a:ext cx="4206240" cy="457200"/>
          </a:xfrm>
          <a:prstGeom prst="rect">
            <a:avLst/>
          </a:prstGeom>
          <a:noFill/>
          <a:ln/>
        </p:spPr>
        <p:txBody>
          <a:bodyPr wrap="square" lIns="0" tIns="0" rIns="0" bIns="0" rtlCol="0" anchor="ctr"/>
          <a:lstStyle/>
          <a:p>
            <a:pPr indent="0" marL="0">
              <a:buNone/>
            </a:pPr>
            <a:r>
              <a:rPr lang="en-US" sz="1500" dirty="0">
                <a:solidFill>
                  <a:schemeClr val="tx1"/>
                </a:solidFill>
              </a:rPr>
              <a:t>Shadow map</a:t>
            </a:r>
            <a:endParaRPr lang="en-US" sz="1500" dirty="0"/>
          </a:p>
        </p:txBody>
      </p:sp>
      <p:sp>
        <p:nvSpPr>
          <p:cNvPr id="32" name="step badge"/>
          <p:cNvSpPr/>
          <p:nvPr/>
        </p:nvSpPr>
        <p:spPr>
          <a:xfrm>
            <a:off x="6537960" y="3584448"/>
            <a:ext cx="384048" cy="384048"/>
          </a:xfrm>
          <a:prstGeom prst="ellipse">
            <a:avLst/>
          </a:prstGeom>
          <a:solidFill>
            <a:schemeClr val="accent2"/>
          </a:solidFill>
          <a:ln w="12700">
            <a:solidFill>
              <a:schemeClr val="accent2"/>
            </a:solidFill>
            <a:prstDash val="solid"/>
          </a:ln>
        </p:spPr>
      </p:sp>
      <p:sp>
        <p:nvSpPr>
          <p:cNvPr id="33" name="Text 31"/>
          <p:cNvSpPr txBox="1"/>
          <p:nvPr/>
        </p:nvSpPr>
        <p:spPr>
          <a:xfrm>
            <a:off x="6537960" y="358444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4" name="step"/>
          <p:cNvSpPr/>
          <p:nvPr/>
        </p:nvSpPr>
        <p:spPr>
          <a:xfrm>
            <a:off x="7086600" y="3547872"/>
            <a:ext cx="4526280" cy="457200"/>
          </a:xfrm>
          <a:prstGeom prst="roundRect">
            <a:avLst>
              <a:gd name="adj" fmla="val 16000"/>
            </a:avLst>
          </a:prstGeom>
          <a:solidFill>
            <a:schemeClr val="bg2"/>
          </a:solidFill>
          <a:ln w="12700">
            <a:solidFill>
              <a:schemeClr val="bg2"/>
            </a:solidFill>
            <a:prstDash val="solid"/>
          </a:ln>
        </p:spPr>
      </p:sp>
      <p:sp>
        <p:nvSpPr>
          <p:cNvPr id="35" name="Text 33"/>
          <p:cNvSpPr txBox="1"/>
          <p:nvPr/>
        </p:nvSpPr>
        <p:spPr>
          <a:xfrm>
            <a:off x="7269480" y="3547872"/>
            <a:ext cx="4206240" cy="457200"/>
          </a:xfrm>
          <a:prstGeom prst="rect">
            <a:avLst/>
          </a:prstGeom>
          <a:noFill/>
          <a:ln/>
        </p:spPr>
        <p:txBody>
          <a:bodyPr wrap="square" lIns="0" tIns="0" rIns="0" bIns="0" rtlCol="0" anchor="ctr"/>
          <a:lstStyle/>
          <a:p>
            <a:pPr indent="0" marL="0">
              <a:buNone/>
            </a:pPr>
            <a:r>
              <a:rPr lang="en-US" sz="1500" dirty="0">
                <a:solidFill>
                  <a:schemeClr val="tx1"/>
                </a:solidFill>
              </a:rPr>
              <a:t>Sky + ground</a:t>
            </a:r>
            <a:endParaRPr lang="en-US" sz="1500" dirty="0"/>
          </a:p>
        </p:txBody>
      </p:sp>
      <p:sp>
        <p:nvSpPr>
          <p:cNvPr id="36" name="step badge"/>
          <p:cNvSpPr/>
          <p:nvPr/>
        </p:nvSpPr>
        <p:spPr>
          <a:xfrm>
            <a:off x="6537960" y="4187952"/>
            <a:ext cx="384048" cy="384048"/>
          </a:xfrm>
          <a:prstGeom prst="ellipse">
            <a:avLst/>
          </a:prstGeom>
          <a:solidFill>
            <a:schemeClr val="accent2"/>
          </a:solidFill>
          <a:ln w="12700">
            <a:solidFill>
              <a:schemeClr val="accent2"/>
            </a:solidFill>
            <a:prstDash val="solid"/>
          </a:ln>
        </p:spPr>
      </p:sp>
      <p:sp>
        <p:nvSpPr>
          <p:cNvPr id="37" name="Text 35"/>
          <p:cNvSpPr txBox="1"/>
          <p:nvPr/>
        </p:nvSpPr>
        <p:spPr>
          <a:xfrm>
            <a:off x="6537960" y="418795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8" name="step"/>
          <p:cNvSpPr/>
          <p:nvPr/>
        </p:nvSpPr>
        <p:spPr>
          <a:xfrm>
            <a:off x="7086600" y="4151376"/>
            <a:ext cx="4526280" cy="457200"/>
          </a:xfrm>
          <a:prstGeom prst="roundRect">
            <a:avLst>
              <a:gd name="adj" fmla="val 16000"/>
            </a:avLst>
          </a:prstGeom>
          <a:solidFill>
            <a:schemeClr val="bg2"/>
          </a:solidFill>
          <a:ln w="12700">
            <a:solidFill>
              <a:schemeClr val="bg2"/>
            </a:solidFill>
            <a:prstDash val="solid"/>
          </a:ln>
        </p:spPr>
      </p:sp>
      <p:sp>
        <p:nvSpPr>
          <p:cNvPr id="39" name="Text 37"/>
          <p:cNvSpPr txBox="1"/>
          <p:nvPr/>
        </p:nvSpPr>
        <p:spPr>
          <a:xfrm>
            <a:off x="7269480" y="4151376"/>
            <a:ext cx="4206240" cy="457200"/>
          </a:xfrm>
          <a:prstGeom prst="rect">
            <a:avLst/>
          </a:prstGeom>
          <a:noFill/>
          <a:ln/>
        </p:spPr>
        <p:txBody>
          <a:bodyPr wrap="square" lIns="0" tIns="0" rIns="0" bIns="0" rtlCol="0" anchor="ctr"/>
          <a:lstStyle/>
          <a:p>
            <a:pPr indent="0" marL="0">
              <a:buNone/>
            </a:pPr>
            <a:r>
              <a:rPr lang="en-US" sz="1500" dirty="0">
                <a:solidFill>
                  <a:schemeClr val="tx1"/>
                </a:solidFill>
              </a:rPr>
              <a:t>Exterior + interior</a:t>
            </a:r>
            <a:endParaRPr lang="en-US" sz="1500" dirty="0"/>
          </a:p>
        </p:txBody>
      </p:sp>
      <p:sp>
        <p:nvSpPr>
          <p:cNvPr id="40" name="step badge"/>
          <p:cNvSpPr/>
          <p:nvPr/>
        </p:nvSpPr>
        <p:spPr>
          <a:xfrm>
            <a:off x="6537960" y="4791456"/>
            <a:ext cx="384048" cy="384048"/>
          </a:xfrm>
          <a:prstGeom prst="ellipse">
            <a:avLst/>
          </a:prstGeom>
          <a:solidFill>
            <a:schemeClr val="accent2"/>
          </a:solidFill>
          <a:ln w="12700">
            <a:solidFill>
              <a:schemeClr val="accent2"/>
            </a:solidFill>
            <a:prstDash val="solid"/>
          </a:ln>
        </p:spPr>
      </p:sp>
      <p:sp>
        <p:nvSpPr>
          <p:cNvPr id="41" name="Text 39"/>
          <p:cNvSpPr txBox="1"/>
          <p:nvPr/>
        </p:nvSpPr>
        <p:spPr>
          <a:xfrm>
            <a:off x="6537960" y="479145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42" name="step"/>
          <p:cNvSpPr/>
          <p:nvPr/>
        </p:nvSpPr>
        <p:spPr>
          <a:xfrm>
            <a:off x="7086600" y="4754880"/>
            <a:ext cx="4526280" cy="457200"/>
          </a:xfrm>
          <a:prstGeom prst="roundRect">
            <a:avLst>
              <a:gd name="adj" fmla="val 16000"/>
            </a:avLst>
          </a:prstGeom>
          <a:solidFill>
            <a:schemeClr val="bg2"/>
          </a:solidFill>
          <a:ln w="12700">
            <a:solidFill>
              <a:schemeClr val="bg2"/>
            </a:solidFill>
            <a:prstDash val="solid"/>
          </a:ln>
        </p:spPr>
      </p:sp>
      <p:sp>
        <p:nvSpPr>
          <p:cNvPr id="43" name="Text 41"/>
          <p:cNvSpPr txBox="1"/>
          <p:nvPr/>
        </p:nvSpPr>
        <p:spPr>
          <a:xfrm>
            <a:off x="7269480" y="4754880"/>
            <a:ext cx="4206240" cy="457200"/>
          </a:xfrm>
          <a:prstGeom prst="rect">
            <a:avLst/>
          </a:prstGeom>
          <a:noFill/>
          <a:ln/>
        </p:spPr>
        <p:txBody>
          <a:bodyPr wrap="square" lIns="0" tIns="0" rIns="0" bIns="0" rtlCol="0" anchor="ctr"/>
          <a:lstStyle/>
          <a:p>
            <a:pPr indent="0" marL="0">
              <a:buNone/>
            </a:pPr>
            <a:r>
              <a:rPr lang="en-US" sz="1500" dirty="0">
                <a:solidFill>
                  <a:schemeClr val="tx1"/>
                </a:solidFill>
              </a:rPr>
              <a:t>Glass + ray tracing</a:t>
            </a:r>
            <a:endParaRPr lang="en-US" sz="1500" dirty="0"/>
          </a:p>
        </p:txBody>
      </p:sp>
      <p:sp>
        <p:nvSpPr>
          <p:cNvPr id="44" name="step badge"/>
          <p:cNvSpPr/>
          <p:nvPr/>
        </p:nvSpPr>
        <p:spPr>
          <a:xfrm>
            <a:off x="6537960" y="5394960"/>
            <a:ext cx="384048" cy="384048"/>
          </a:xfrm>
          <a:prstGeom prst="ellipse">
            <a:avLst/>
          </a:prstGeom>
          <a:solidFill>
            <a:schemeClr val="accent2"/>
          </a:solidFill>
          <a:ln w="12700">
            <a:solidFill>
              <a:schemeClr val="accent2"/>
            </a:solidFill>
            <a:prstDash val="solid"/>
          </a:ln>
        </p:spPr>
      </p:sp>
      <p:sp>
        <p:nvSpPr>
          <p:cNvPr id="45" name="Text 43"/>
          <p:cNvSpPr txBox="1"/>
          <p:nvPr/>
        </p:nvSpPr>
        <p:spPr>
          <a:xfrm>
            <a:off x="6537960" y="5394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46" name="step"/>
          <p:cNvSpPr/>
          <p:nvPr/>
        </p:nvSpPr>
        <p:spPr>
          <a:xfrm>
            <a:off x="7086600" y="5358384"/>
            <a:ext cx="4526280" cy="457200"/>
          </a:xfrm>
          <a:prstGeom prst="roundRect">
            <a:avLst>
              <a:gd name="adj" fmla="val 16000"/>
            </a:avLst>
          </a:prstGeom>
          <a:solidFill>
            <a:schemeClr val="bg2"/>
          </a:solidFill>
          <a:ln w="12700">
            <a:solidFill>
              <a:schemeClr val="bg2"/>
            </a:solidFill>
            <a:prstDash val="solid"/>
          </a:ln>
        </p:spPr>
      </p:sp>
      <p:sp>
        <p:nvSpPr>
          <p:cNvPr id="47" name="Text 45"/>
          <p:cNvSpPr txBox="1"/>
          <p:nvPr/>
        </p:nvSpPr>
        <p:spPr>
          <a:xfrm>
            <a:off x="7269480" y="5358384"/>
            <a:ext cx="4206240" cy="457200"/>
          </a:xfrm>
          <a:prstGeom prst="rect">
            <a:avLst/>
          </a:prstGeom>
          <a:noFill/>
          <a:ln/>
        </p:spPr>
        <p:txBody>
          <a:bodyPr wrap="square" lIns="0" tIns="0" rIns="0" bIns="0" rtlCol="0" anchor="ctr"/>
          <a:lstStyle/>
          <a:p>
            <a:pPr indent="0" marL="0">
              <a:buNone/>
            </a:pPr>
            <a:r>
              <a:rPr lang="en-US" sz="1500" dirty="0">
                <a:solidFill>
                  <a:schemeClr val="tx1"/>
                </a:solidFill>
              </a:rPr>
              <a:t>HUD + swap</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Project demo</a:t>
            </a:r>
            <a:endParaRPr lang="en-US" sz="3400" dirty="0"/>
          </a:p>
        </p:txBody>
      </p:sp>
      <p:pic>
        <p:nvPicPr>
          <p:cNvPr id="3" name="demo video area" descr="C:\Users\LENOVO\AppData\Local\Temp\claude\G--4-1-RamenShop-RamenShop\0cfaffcf-72c4-4a41-8c2d-f86a7f36803f\scratchpad\poster.jpg">    </p:cNvPr>
          <p:cNvPicPr>
            <a:picLocks noChangeAspect="1"/>
          </p:cNvPicPr>
          <p:nvPr/>
        </p:nvPicPr>
        <p:blipFill>
          <a:blip r:embed="rId1"/>
          <a:stretch>
            <a:fillRect/>
          </a:stretch>
        </p:blipFill>
        <p:spPr>
          <a:xfrm>
            <a:off x="2219718" y="1143000"/>
            <a:ext cx="7752260"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Modelling: every object from basic shapes</a:t>
            </a:r>
            <a:endParaRPr lang="en-US" sz="3400" dirty="0"/>
          </a:p>
        </p:txBody>
      </p:sp>
      <p:pic>
        <p:nvPicPr>
          <p:cNvPr id="3" name="r_bowl" descr="G:/4-1/RamenShop/RamenShop/report/figs/r_bowl.jpg">    </p:cNvPr>
          <p:cNvPicPr>
            <a:picLocks noChangeAspect="1"/>
          </p:cNvPicPr>
          <p:nvPr/>
        </p:nvPicPr>
        <p:blipFill>
          <a:blip r:embed="rId1"/>
          <a:stretch>
            <a:fillRect/>
          </a:stretch>
        </p:blipFill>
        <p:spPr>
          <a:xfrm>
            <a:off x="548640" y="1308506"/>
            <a:ext cx="3657600" cy="2183587"/>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Ramen bowl: lathe, tori, ellipsoids</a:t>
            </a:r>
            <a:endParaRPr lang="en-US" sz="1200" dirty="0"/>
          </a:p>
        </p:txBody>
      </p:sp>
      <p:pic>
        <p:nvPicPr>
          <p:cNvPr id="5" name="c_cherry" descr="G:/4-1/RamenShop/RamenShop/report/figs/c_cherry.jpg">    </p:cNvPr>
          <p:cNvPicPr>
            <a:picLocks noChangeAspect="1"/>
          </p:cNvPicPr>
          <p:nvPr/>
        </p:nvPicPr>
        <p:blipFill>
          <a:blip r:embed="rId2"/>
          <a:stretch>
            <a:fillRect/>
          </a:stretch>
        </p:blipFill>
        <p:spPr>
          <a:xfrm>
            <a:off x="5006912" y="1280160"/>
            <a:ext cx="2184273" cy="224028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5006912" y="3566160"/>
            <a:ext cx="2184273" cy="274320"/>
          </a:xfrm>
          <a:prstGeom prst="rect">
            <a:avLst/>
          </a:prstGeom>
          <a:noFill/>
          <a:ln/>
        </p:spPr>
        <p:txBody>
          <a:bodyPr wrap="square" lIns="0" tIns="0" rIns="0" bIns="0" rtlCol="0" anchor="ctr"/>
          <a:lstStyle/>
          <a:p>
            <a:pPr algn="ctr" indent="0" marL="0">
              <a:buNone/>
            </a:pPr>
            <a:r>
              <a:rPr lang="en-US" sz="1200" i="1" dirty="0">
                <a:solidFill>
                  <a:schemeClr val="accent6"/>
                </a:solidFill>
              </a:rPr>
              <a:t>Cherry tree: recursive branches</a:t>
            </a:r>
            <a:endParaRPr lang="en-US" sz="1200" dirty="0"/>
          </a:p>
        </p:txBody>
      </p:sp>
      <p:pic>
        <p:nvPicPr>
          <p:cNvPr id="7" name="r_upper1" descr="G:/4-1/RamenShop/RamenShop/report/figs/r_upper1.jpg">    </p:cNvPr>
          <p:cNvPicPr>
            <a:picLocks noChangeAspect="1"/>
          </p:cNvPicPr>
          <p:nvPr/>
        </p:nvPicPr>
        <p:blipFill>
          <a:blip r:embed="rId3"/>
          <a:stretch>
            <a:fillRect/>
          </a:stretch>
        </p:blipFill>
        <p:spPr>
          <a:xfrm>
            <a:off x="7982712" y="1308506"/>
            <a:ext cx="3657600" cy="2183587"/>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7982712"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Tatami room: boxes and textures</a:t>
            </a:r>
            <a:endParaRPr lang="en-US" sz="1200" dirty="0"/>
          </a:p>
        </p:txBody>
      </p:sp>
      <p:sp>
        <p:nvSpPr>
          <p:cNvPr id="9" name="Text 4"/>
          <p:cNvSpPr txBox="1"/>
          <p:nvPr/>
        </p:nvSpPr>
        <p:spPr>
          <a:xfrm>
            <a:off x="548640" y="4023360"/>
            <a:ext cx="6766560" cy="21945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accent1"/>
                </a:solidFill>
              </a:rPr>
              <a:t>Primitives: </a:t>
            </a:r>
            <a:pPr indent="0" marL="0">
              <a:spcAft>
                <a:spcPts val="600"/>
              </a:spcAft>
              <a:buNone/>
            </a:pPr>
            <a:r>
              <a:rPr lang="en-US" sz="1500" dirty="0">
                <a:solidFill>
                  <a:schemeClr val="tx1"/>
                </a:solidFill>
              </a:rPr>
              <a:t>cube, cylinder / cone, sphere, torus, planes and wedges, scaled into planks, ellipsoids and tubes</a:t>
            </a:r>
            <a:endParaRPr lang="en-US" sz="1500" dirty="0"/>
          </a:p>
          <a:p>
            <a:pPr marL="342900" indent="-342900">
              <a:spcAft>
                <a:spcPts val="600"/>
              </a:spcAft>
              <a:buSzPct val="100000"/>
              <a:buChar char="•"/>
            </a:pPr>
            <a:r>
              <a:rPr lang="en-US" sz="1500" b="1" dirty="0">
                <a:solidFill>
                  <a:schemeClr val="accent1"/>
                </a:solidFill>
              </a:rPr>
              <a:t>Lathe: </a:t>
            </a:r>
            <a:pPr indent="0" marL="0">
              <a:spcAft>
                <a:spcPts val="600"/>
              </a:spcAft>
              <a:buNone/>
            </a:pPr>
            <a:r>
              <a:rPr lang="en-US" sz="1500" dirty="0">
                <a:solidFill>
                  <a:schemeClr val="tx1"/>
                </a:solidFill>
              </a:rPr>
              <a:t>a profile turned around the y axis makes bowls, lamp shades and the wind-chime bell</a:t>
            </a:r>
            <a:endParaRPr lang="en-US" sz="1500" dirty="0"/>
          </a:p>
          <a:p>
            <a:pPr marL="342900" indent="-342900">
              <a:spcAft>
                <a:spcPts val="600"/>
              </a:spcAft>
              <a:buSzPct val="100000"/>
              <a:buChar char="•"/>
            </a:pPr>
            <a:r>
              <a:rPr lang="en-US" sz="1500" b="1" dirty="0">
                <a:solidFill>
                  <a:schemeClr val="accent1"/>
                </a:solidFill>
              </a:rPr>
              <a:t>Recursion: </a:t>
            </a:r>
            <a:pPr indent="0" marL="0">
              <a:spcAft>
                <a:spcPts val="600"/>
              </a:spcAft>
              <a:buNone/>
            </a:pPr>
            <a:r>
              <a:rPr lang="en-US" sz="1500" dirty="0">
                <a:solidFill>
                  <a:schemeClr val="tx1"/>
                </a:solidFill>
              </a:rPr>
              <a:t>a branch spawns 3, then 2 thinner children; compiled once into display lists</a:t>
            </a:r>
            <a:endParaRPr lang="en-US" sz="1500" dirty="0"/>
          </a:p>
        </p:txBody>
      </p:sp>
      <p:sp>
        <p:nvSpPr>
          <p:cNvPr id="10" name="formula chip"/>
          <p:cNvSpPr/>
          <p:nvPr/>
        </p:nvSpPr>
        <p:spPr>
          <a:xfrm>
            <a:off x="7452360" y="4069080"/>
            <a:ext cx="4160520" cy="1188720"/>
          </a:xfrm>
          <a:prstGeom prst="roundRect">
            <a:avLst>
              <a:gd name="adj" fmla="val 9231"/>
            </a:avLst>
          </a:prstGeom>
          <a:solidFill>
            <a:schemeClr val="accent1"/>
          </a:solidFill>
          <a:ln w="12700">
            <a:solidFill>
              <a:schemeClr val="accent1"/>
            </a:solidFill>
            <a:prstDash val="solid"/>
          </a:ln>
        </p:spPr>
      </p:sp>
      <p:sp>
        <p:nvSpPr>
          <p:cNvPr id="11" name="Text 6"/>
          <p:cNvSpPr txBox="1"/>
          <p:nvPr/>
        </p:nvSpPr>
        <p:spPr>
          <a:xfrm>
            <a:off x="7616952" y="4069080"/>
            <a:ext cx="3831336" cy="118872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every part:  M = T · Rx · Ry · Rz · S</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lathe:  p(s,θ) = (r cos θ, y, r sin θ)</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3D transformations and hierarchies</a:t>
            </a:r>
            <a:endParaRPr lang="en-US" sz="3400" dirty="0"/>
          </a:p>
        </p:txBody>
      </p:sp>
      <p:pic>
        <p:nvPicPr>
          <p:cNvPr id="3" name="fig_street_all" descr="G:/4-1/RamenShop/RamenShop/report/figs/fig_street_all.jpg">    </p:cNvPr>
          <p:cNvPicPr>
            <a:picLocks noChangeAspect="1"/>
          </p:cNvPicPr>
          <p:nvPr/>
        </p:nvPicPr>
        <p:blipFill>
          <a:blip r:embed="rId1"/>
          <a:stretch>
            <a:fillRect/>
          </a:stretch>
        </p:blipFill>
        <p:spPr>
          <a:xfrm>
            <a:off x="557549" y="1280160"/>
            <a:ext cx="6657302" cy="3108960"/>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57549" y="4434840"/>
            <a:ext cx="6657302" cy="274320"/>
          </a:xfrm>
          <a:prstGeom prst="rect">
            <a:avLst/>
          </a:prstGeom>
          <a:noFill/>
          <a:ln/>
        </p:spPr>
        <p:txBody>
          <a:bodyPr wrap="square" lIns="0" tIns="0" rIns="0" bIns="0" rtlCol="0" anchor="ctr"/>
          <a:lstStyle/>
          <a:p>
            <a:pPr algn="ctr" indent="0" marL="0">
              <a:buNone/>
            </a:pPr>
            <a:r>
              <a:rPr lang="en-US" sz="1200" i="1" dirty="0">
                <a:solidFill>
                  <a:schemeClr val="accent6"/>
                </a:solidFill>
              </a:rPr>
              <a:t>Cyclist, person and cat: joint hierarchies</a:t>
            </a:r>
            <a:endParaRPr lang="en-US" sz="1200" dirty="0"/>
          </a:p>
        </p:txBody>
      </p:sp>
      <p:pic>
        <p:nvPicPr>
          <p:cNvPr id="5" name="r_pc" descr="G:/4-1/RamenShop/RamenShop/report/figs/r_pc.jpg">    </p:cNvPr>
          <p:cNvPicPr>
            <a:picLocks noChangeAspect="1"/>
          </p:cNvPicPr>
          <p:nvPr/>
        </p:nvPicPr>
        <p:blipFill>
          <a:blip r:embed="rId2"/>
          <a:stretch>
            <a:fillRect/>
          </a:stretch>
        </p:blipFill>
        <p:spPr>
          <a:xfrm>
            <a:off x="7741920" y="1280160"/>
            <a:ext cx="3627120" cy="310896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7741920" y="4434840"/>
            <a:ext cx="3627120" cy="274320"/>
          </a:xfrm>
          <a:prstGeom prst="rect">
            <a:avLst/>
          </a:prstGeom>
          <a:noFill/>
          <a:ln/>
        </p:spPr>
        <p:txBody>
          <a:bodyPr wrap="square" lIns="0" tIns="0" rIns="0" bIns="0" rtlCol="0" anchor="ctr"/>
          <a:lstStyle/>
          <a:p>
            <a:pPr algn="ctr" indent="0" marL="0">
              <a:buNone/>
            </a:pPr>
            <a:r>
              <a:rPr lang="en-US" sz="1200" i="1" dirty="0">
                <a:solidFill>
                  <a:schemeClr val="accent6"/>
                </a:solidFill>
              </a:rPr>
              <a:t>A child part moves with its parent</a:t>
            </a:r>
            <a:endParaRPr lang="en-US" sz="1200" dirty="0"/>
          </a:p>
        </p:txBody>
      </p:sp>
      <p:sp>
        <p:nvSpPr>
          <p:cNvPr id="7" name="Text 3"/>
          <p:cNvSpPr txBox="1"/>
          <p:nvPr/>
        </p:nvSpPr>
        <p:spPr>
          <a:xfrm>
            <a:off x="548640" y="4800600"/>
            <a:ext cx="6766560" cy="146304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accent1"/>
                </a:solidFill>
              </a:rPr>
              <a:t>Translation: </a:t>
            </a:r>
            <a:pPr indent="0" marL="0">
              <a:spcAft>
                <a:spcPts val="600"/>
              </a:spcAft>
              <a:buNone/>
            </a:pPr>
            <a:r>
              <a:rPr lang="en-US" sz="1500" dirty="0">
                <a:solidFill>
                  <a:schemeClr val="tx1"/>
                </a:solidFill>
              </a:rPr>
              <a:t>cyclist, person, cat, ducks, sliding doors, steam</a:t>
            </a:r>
            <a:endParaRPr lang="en-US" sz="1500" dirty="0"/>
          </a:p>
          <a:p>
            <a:pPr marL="342900" indent="-342900">
              <a:spcAft>
                <a:spcPts val="600"/>
              </a:spcAft>
              <a:buSzPct val="100000"/>
              <a:buChar char="•"/>
            </a:pPr>
            <a:r>
              <a:rPr lang="en-US" sz="1500" b="1" dirty="0">
                <a:solidFill>
                  <a:schemeClr val="accent1"/>
                </a:solidFill>
              </a:rPr>
              <a:t>Rotation: </a:t>
            </a:r>
            <a:pPr indent="0" marL="0">
              <a:spcAft>
                <a:spcPts val="600"/>
              </a:spcAft>
              <a:buNone/>
            </a:pPr>
            <a:r>
              <a:rPr lang="en-US" sz="1500" dirty="0">
                <a:solidFill>
                  <a:schemeClr val="tx1"/>
                </a:solidFill>
              </a:rPr>
              <a:t>wheels θ = d / r, fan blades, doors, pendulums, swaying branches (pivot)</a:t>
            </a:r>
            <a:endParaRPr lang="en-US" sz="1500" dirty="0"/>
          </a:p>
          <a:p>
            <a:pPr marL="342900" indent="-342900">
              <a:spcAft>
                <a:spcPts val="600"/>
              </a:spcAft>
              <a:buSzPct val="100000"/>
              <a:buChar char="•"/>
            </a:pPr>
            <a:r>
              <a:rPr lang="en-US" sz="1500" b="1" dirty="0">
                <a:solidFill>
                  <a:schemeClr val="accent1"/>
                </a:solidFill>
              </a:rPr>
              <a:t>Scaling: </a:t>
            </a:r>
            <a:pPr indent="0" marL="0">
              <a:spcAft>
                <a:spcPts val="600"/>
              </a:spcAft>
              <a:buNone/>
            </a:pPr>
            <a:r>
              <a:rPr lang="en-US" sz="1500" dirty="0">
                <a:solidFill>
                  <a:schemeClr val="tx1"/>
                </a:solidFill>
              </a:rPr>
              <a:t>planks from cubes, cat × 1.8, bicycle × 1.4, user scaling of objects</a:t>
            </a:r>
            <a:endParaRPr lang="en-US" sz="1500" dirty="0"/>
          </a:p>
        </p:txBody>
      </p:sp>
      <p:sp>
        <p:nvSpPr>
          <p:cNvPr id="8" name="formula chip"/>
          <p:cNvSpPr/>
          <p:nvPr/>
        </p:nvSpPr>
        <p:spPr>
          <a:xfrm>
            <a:off x="7452360" y="4846320"/>
            <a:ext cx="4160520" cy="1097280"/>
          </a:xfrm>
          <a:prstGeom prst="roundRect">
            <a:avLst>
              <a:gd name="adj" fmla="val 10000"/>
            </a:avLst>
          </a:prstGeom>
          <a:solidFill>
            <a:schemeClr val="accent1"/>
          </a:solidFill>
          <a:ln w="12700">
            <a:solidFill>
              <a:schemeClr val="accent1"/>
            </a:solidFill>
            <a:prstDash val="solid"/>
          </a:ln>
        </p:spPr>
      </p:sp>
      <p:sp>
        <p:nvSpPr>
          <p:cNvPr id="9" name="Text 5"/>
          <p:cNvSpPr txBox="1"/>
          <p:nvPr/>
        </p:nvSpPr>
        <p:spPr>
          <a:xfrm>
            <a:off x="7616952" y="4846320"/>
            <a:ext cx="3831336" cy="109728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pivot rotation:  T(c) · R(θ) · T(−c)</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glPushMatrix / glPopMatrix</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Sky: sun, moon, stars and clouds</a:t>
            </a:r>
            <a:endParaRPr lang="en-US" sz="3400" dirty="0"/>
          </a:p>
        </p:txBody>
      </p:sp>
      <p:pic>
        <p:nvPicPr>
          <p:cNvPr id="3" name="r_cyclist" descr="G:/4-1/RamenShop/RamenShop/report/figs/r_cyclist.jpg">    </p:cNvPr>
          <p:cNvPicPr>
            <a:picLocks noChangeAspect="1"/>
          </p:cNvPicPr>
          <p:nvPr/>
        </p:nvPicPr>
        <p:blipFill>
          <a:blip r:embed="rId1"/>
          <a:stretch>
            <a:fillRect/>
          </a:stretch>
        </p:blipFill>
        <p:spPr>
          <a:xfrm>
            <a:off x="548640" y="1288390"/>
            <a:ext cx="5486400" cy="3275381"/>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609490"/>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Day: sun glow and blue sky</a:t>
            </a:r>
            <a:endParaRPr lang="en-US" sz="1200" dirty="0"/>
          </a:p>
        </p:txBody>
      </p:sp>
      <p:pic>
        <p:nvPicPr>
          <p:cNvPr id="5" name="r_moon" descr="G:/4-1/RamenShop/RamenShop/report/figs/r_moon.jpg">    </p:cNvPr>
          <p:cNvPicPr>
            <a:picLocks noChangeAspect="1"/>
          </p:cNvPicPr>
          <p:nvPr/>
        </p:nvPicPr>
        <p:blipFill>
          <a:blip r:embed="rId2"/>
          <a:stretch>
            <a:fillRect/>
          </a:stretch>
        </p:blipFill>
        <p:spPr>
          <a:xfrm>
            <a:off x="6172200" y="1288390"/>
            <a:ext cx="5486400" cy="3275381"/>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6172200" y="4609490"/>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Night: cratered moon, fireflies, lamp</a:t>
            </a:r>
            <a:endParaRPr lang="en-US" sz="1200" dirty="0"/>
          </a:p>
        </p:txBody>
      </p:sp>
      <p:sp>
        <p:nvSpPr>
          <p:cNvPr id="7" name="Text 3"/>
          <p:cNvSpPr txBox="1"/>
          <p:nvPr/>
        </p:nvSpPr>
        <p:spPr>
          <a:xfrm>
            <a:off x="548640" y="4983480"/>
            <a:ext cx="67665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Skybox: drawn first with depth writes off and the camera translation removed, so it is infinitely far</a:t>
            </a:r>
            <a:endParaRPr lang="en-US" sz="1400" dirty="0"/>
          </a:p>
          <a:p>
            <a:pPr marL="342900" indent="-342900">
              <a:spcAft>
                <a:spcPts val="600"/>
              </a:spcAft>
              <a:buSzPct val="100000"/>
              <a:buChar char="•"/>
            </a:pPr>
            <a:r>
              <a:rPr lang="en-US" sz="1400" dirty="0">
                <a:solidFill>
                  <a:schemeClr val="tx1"/>
                </a:solidFill>
              </a:rPr>
              <a:t>Sun = 5 camera-facing discs with additive halos; moon = disc + 6 craters; 132 twinkling stars; 12 billboard clouds</a:t>
            </a:r>
            <a:endParaRPr lang="en-US" sz="1400" dirty="0"/>
          </a:p>
          <a:p>
            <a:pPr marL="342900" indent="-342900">
              <a:spcAft>
                <a:spcPts val="600"/>
              </a:spcAft>
              <a:buSzPct val="100000"/>
              <a:buChar char="•"/>
            </a:pPr>
            <a:r>
              <a:rPr lang="en-US" sz="1400" dirty="0">
                <a:solidFill>
                  <a:schemeClr val="tx1"/>
                </a:solidFill>
              </a:rPr>
              <a:t>Key T switches day and night: sky, sun / moon light, lamp glow, fog and shadows</a:t>
            </a:r>
            <a:endParaRPr lang="en-US" sz="1400" dirty="0"/>
          </a:p>
        </p:txBody>
      </p:sp>
      <p:sp>
        <p:nvSpPr>
          <p:cNvPr id="8" name="formula chip"/>
          <p:cNvSpPr/>
          <p:nvPr/>
        </p:nvSpPr>
        <p:spPr>
          <a:xfrm>
            <a:off x="7452360" y="5029200"/>
            <a:ext cx="4160520" cy="1097280"/>
          </a:xfrm>
          <a:prstGeom prst="roundRect">
            <a:avLst>
              <a:gd name="adj" fmla="val 10000"/>
            </a:avLst>
          </a:prstGeom>
          <a:solidFill>
            <a:schemeClr val="accent1"/>
          </a:solidFill>
          <a:ln w="12700">
            <a:solidFill>
              <a:schemeClr val="accent1"/>
            </a:solidFill>
            <a:prstDash val="solid"/>
          </a:ln>
        </p:spPr>
      </p:sp>
      <p:sp>
        <p:nvSpPr>
          <p:cNvPr id="9" name="Text 5"/>
          <p:cNvSpPr txBox="1"/>
          <p:nvPr/>
        </p:nvSpPr>
        <p:spPr>
          <a:xfrm>
            <a:off x="7616952" y="5029200"/>
            <a:ext cx="3831336" cy="1097280"/>
          </a:xfrm>
          <a:prstGeom prst="rect">
            <a:avLst/>
          </a:prstGeom>
          <a:noFill/>
          <a:ln/>
        </p:spPr>
        <p:txBody>
          <a:bodyPr wrap="square" lIns="0" tIns="0" rIns="0" bIns="0" rtlCol="0" anchor="ctr"/>
          <a:lstStyle/>
          <a:p>
            <a:pPr indent="0" marL="0">
              <a:buNone/>
            </a:pPr>
            <a:r>
              <a:rPr lang="en-US" sz="1400" dirty="0">
                <a:solidFill>
                  <a:schemeClr val="bg1"/>
                </a:solidFill>
                <a:latin typeface="Cambria" pitchFamily="34" charset="0"/>
                <a:ea typeface="Cambria" pitchFamily="34" charset="-122"/>
                <a:cs typeface="Cambria" pitchFamily="34" charset="-120"/>
              </a:rPr>
              <a:t>sky: mix(horizon, zenith, t),  t = (e/90°)^0.55</a:t>
            </a:r>
            <a:endParaRPr lang="en-US" sz="1400" dirty="0"/>
          </a:p>
          <a:p>
            <a:pPr indent="0" marL="0">
              <a:buNone/>
            </a:pPr>
            <a:r>
              <a:rPr lang="en-US" sz="1400" dirty="0">
                <a:solidFill>
                  <a:schemeClr val="bg1"/>
                </a:solidFill>
                <a:latin typeface="Cambria" pitchFamily="34" charset="0"/>
                <a:ea typeface="Cambria" pitchFamily="34" charset="-122"/>
                <a:cs typeface="Cambria" pitchFamily="34" charset="-120"/>
              </a:rPr>
              <a:t>glow (additive):  C = α·Cs + Cd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Procedural textures: grass and cobblestone street</a:t>
            </a:r>
            <a:endParaRPr lang="en-US" sz="3400" dirty="0"/>
          </a:p>
        </p:txBody>
      </p:sp>
      <p:pic>
        <p:nvPicPr>
          <p:cNvPr id="3" name="r_grass" descr="G:/4-1/RamenShop/RamenShop/report/figs/r_grass.jpg">    </p:cNvPr>
          <p:cNvPicPr>
            <a:picLocks noChangeAspect="1"/>
          </p:cNvPicPr>
          <p:nvPr/>
        </p:nvPicPr>
        <p:blipFill>
          <a:blip r:embed="rId1"/>
          <a:stretch>
            <a:fillRect/>
          </a:stretch>
        </p:blipFill>
        <p:spPr>
          <a:xfrm>
            <a:off x="548640" y="1288390"/>
            <a:ext cx="5486400" cy="3275381"/>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609490"/>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Grass texture with 3D tufts and flowers</a:t>
            </a:r>
            <a:endParaRPr lang="en-US" sz="1200" dirty="0"/>
          </a:p>
        </p:txBody>
      </p:sp>
      <p:pic>
        <p:nvPicPr>
          <p:cNvPr id="5" name="r_street" descr="G:/4-1/RamenShop/RamenShop/report/figs/r_street.jpg">    </p:cNvPr>
          <p:cNvPicPr>
            <a:picLocks noChangeAspect="1"/>
          </p:cNvPicPr>
          <p:nvPr/>
        </p:nvPicPr>
        <p:blipFill>
          <a:blip r:embed="rId2"/>
          <a:stretch>
            <a:fillRect/>
          </a:stretch>
        </p:blipFill>
        <p:spPr>
          <a:xfrm>
            <a:off x="6172200" y="1288390"/>
            <a:ext cx="5486400" cy="3275381"/>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6172200" y="4609490"/>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Cobblestone street and flagstone sidewalk</a:t>
            </a:r>
            <a:endParaRPr lang="en-US" sz="1200" dirty="0"/>
          </a:p>
        </p:txBody>
      </p:sp>
      <p:sp>
        <p:nvSpPr>
          <p:cNvPr id="7" name="Text 3"/>
          <p:cNvSpPr txBox="1"/>
          <p:nvPr/>
        </p:nvSpPr>
        <p:spPr>
          <a:xfrm>
            <a:off x="548640" y="4983480"/>
            <a:ext cx="67665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Grass: 4 greens mixed by noise, thousands of thin blade strokes, grain; a large macro layer hides the repeat</a:t>
            </a:r>
            <a:endParaRPr lang="en-US" sz="1400" dirty="0"/>
          </a:p>
          <a:p>
            <a:pPr marL="342900" indent="-342900">
              <a:spcAft>
                <a:spcPts val="600"/>
              </a:spcAft>
              <a:buSzPct val="100000"/>
              <a:buChar char="•"/>
            </a:pPr>
            <a:r>
              <a:rPr lang="en-US" sz="1400" dirty="0">
                <a:solidFill>
                  <a:schemeClr val="tx1"/>
                </a:solidFill>
              </a:rPr>
              <a:t>About 500 real 3D grass tufts (30 arching blades each) sway in the wind</a:t>
            </a:r>
            <a:endParaRPr lang="en-US" sz="1400" dirty="0"/>
          </a:p>
          <a:p>
            <a:pPr marL="342900" indent="-342900">
              <a:spcAft>
                <a:spcPts val="600"/>
              </a:spcAft>
              <a:buSzPct val="100000"/>
              <a:buChar char="•"/>
            </a:pPr>
            <a:r>
              <a:rPr lang="en-US" sz="1400" dirty="0">
                <a:solidFill>
                  <a:schemeClr val="tx1"/>
                </a:solidFill>
              </a:rPr>
              <a:t>Also painted in code: wood, floor tile, plaster, roof tile, tatami, water, clouds</a:t>
            </a:r>
            <a:endParaRPr lang="en-US" sz="1400" dirty="0"/>
          </a:p>
        </p:txBody>
      </p:sp>
      <p:sp>
        <p:nvSpPr>
          <p:cNvPr id="8" name="formula chip"/>
          <p:cNvSpPr/>
          <p:nvPr/>
        </p:nvSpPr>
        <p:spPr>
          <a:xfrm>
            <a:off x="7452360" y="5029200"/>
            <a:ext cx="4160520" cy="1097280"/>
          </a:xfrm>
          <a:prstGeom prst="roundRect">
            <a:avLst>
              <a:gd name="adj" fmla="val 10000"/>
            </a:avLst>
          </a:prstGeom>
          <a:solidFill>
            <a:schemeClr val="accent1"/>
          </a:solidFill>
          <a:ln w="12700">
            <a:solidFill>
              <a:schemeClr val="accent1"/>
            </a:solidFill>
            <a:prstDash val="solid"/>
          </a:ln>
        </p:spPr>
      </p:sp>
      <p:sp>
        <p:nvSpPr>
          <p:cNvPr id="9" name="Text 5"/>
          <p:cNvSpPr txBox="1"/>
          <p:nvPr/>
        </p:nvSpPr>
        <p:spPr>
          <a:xfrm>
            <a:off x="7616952" y="5029200"/>
            <a:ext cx="3831336" cy="1097280"/>
          </a:xfrm>
          <a:prstGeom prst="rect">
            <a:avLst/>
          </a:prstGeom>
          <a:noFill/>
          <a:ln/>
        </p:spPr>
        <p:txBody>
          <a:bodyPr wrap="square" lIns="0" tIns="0" rIns="0" bIns="0" rtlCol="0" anchor="ctr"/>
          <a:lstStyle/>
          <a:p>
            <a:pPr indent="0" marL="0">
              <a:buNone/>
            </a:pPr>
            <a:r>
              <a:rPr lang="en-US" sz="1400" dirty="0">
                <a:solidFill>
                  <a:schemeClr val="bg1"/>
                </a:solidFill>
                <a:latin typeface="Cambria" pitchFamily="34" charset="0"/>
                <a:ea typeface="Cambria" pitchFamily="34" charset="-122"/>
                <a:cs typeface="Cambria" pitchFamily="34" charset="-120"/>
              </a:rPr>
              <a:t>value noise + fractal Brownian motion</a:t>
            </a:r>
            <a:endParaRPr lang="en-US" sz="1400" dirty="0"/>
          </a:p>
          <a:p>
            <a:pPr indent="0" marL="0">
              <a:buNone/>
            </a:pPr>
            <a:r>
              <a:rPr lang="en-US" sz="1400" dirty="0">
                <a:solidFill>
                  <a:schemeClr val="bg1"/>
                </a:solidFill>
                <a:latin typeface="Cambria" pitchFamily="34" charset="0"/>
                <a:ea typeface="Cambria" pitchFamily="34" charset="-122"/>
                <a:cs typeface="Cambria" pitchFamily="34" charset="-120"/>
              </a:rPr>
              <a:t>fBm = Σ 2^−(k+1) · n(2^k x, 2^k 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Lighting: ambient, diffuse and specular</a:t>
            </a:r>
            <a:endParaRPr lang="en-US" sz="3400" dirty="0"/>
          </a:p>
        </p:txBody>
      </p:sp>
      <p:pic>
        <p:nvPicPr>
          <p:cNvPr id="3" name="fig_l_all" descr="G:/4-1/RamenShop/RamenShop/report/figs/fig_l_all.jpg">    </p:cNvPr>
          <p:cNvPicPr>
            <a:picLocks noChangeAspect="1"/>
          </p:cNvPicPr>
          <p:nvPr/>
        </p:nvPicPr>
        <p:blipFill>
          <a:blip r:embed="rId1"/>
          <a:stretch>
            <a:fillRect/>
          </a:stretch>
        </p:blipFill>
        <p:spPr>
          <a:xfrm>
            <a:off x="548640" y="1280526"/>
            <a:ext cx="6949440" cy="3245388"/>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571634"/>
            <a:ext cx="6949440" cy="274320"/>
          </a:xfrm>
          <a:prstGeom prst="rect">
            <a:avLst/>
          </a:prstGeom>
          <a:noFill/>
          <a:ln/>
        </p:spPr>
        <p:txBody>
          <a:bodyPr wrap="square" lIns="0" tIns="0" rIns="0" bIns="0" rtlCol="0" anchor="ctr"/>
          <a:lstStyle/>
          <a:p>
            <a:pPr algn="ctr" indent="0" marL="0">
              <a:buNone/>
            </a:pPr>
            <a:r>
              <a:rPr lang="en-US" sz="1200" i="1" dirty="0">
                <a:solidFill>
                  <a:schemeClr val="accent6"/>
                </a:solidFill>
              </a:rPr>
              <a:t>All terms on (night)</a:t>
            </a:r>
            <a:endParaRPr lang="en-US" sz="1200" dirty="0"/>
          </a:p>
        </p:txBody>
      </p:sp>
      <p:pic>
        <p:nvPicPr>
          <p:cNvPr id="5" name="fig_l_noamb" descr="G:/4-1/RamenShop/RamenShop/report/figs/fig_l_noamb.jpg">    </p:cNvPr>
          <p:cNvPicPr>
            <a:picLocks noChangeAspect="1"/>
          </p:cNvPicPr>
          <p:nvPr/>
        </p:nvPicPr>
        <p:blipFill>
          <a:blip r:embed="rId2"/>
          <a:stretch>
            <a:fillRect/>
          </a:stretch>
        </p:blipFill>
        <p:spPr>
          <a:xfrm>
            <a:off x="8318788" y="1280160"/>
            <a:ext cx="2839143" cy="132588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8318788" y="2651760"/>
            <a:ext cx="2839143" cy="274320"/>
          </a:xfrm>
          <a:prstGeom prst="rect">
            <a:avLst/>
          </a:prstGeom>
          <a:noFill/>
          <a:ln/>
        </p:spPr>
        <p:txBody>
          <a:bodyPr wrap="square" lIns="0" tIns="0" rIns="0" bIns="0" rtlCol="0" anchor="ctr"/>
          <a:lstStyle/>
          <a:p>
            <a:pPr algn="ctr" indent="0" marL="0">
              <a:buNone/>
            </a:pPr>
            <a:r>
              <a:rPr lang="en-US" sz="1200" i="1" dirty="0">
                <a:solidFill>
                  <a:schemeClr val="accent6"/>
                </a:solidFill>
              </a:rPr>
              <a:t>No ambient</a:t>
            </a:r>
            <a:endParaRPr lang="en-US" sz="1200" dirty="0"/>
          </a:p>
        </p:txBody>
      </p:sp>
      <p:pic>
        <p:nvPicPr>
          <p:cNvPr id="7" name="fig_l_nodif" descr="G:/4-1/RamenShop/RamenShop/report/figs/fig_l_nodif.jpg">    </p:cNvPr>
          <p:cNvPicPr>
            <a:picLocks noChangeAspect="1"/>
          </p:cNvPicPr>
          <p:nvPr/>
        </p:nvPicPr>
        <p:blipFill>
          <a:blip r:embed="rId3"/>
          <a:stretch>
            <a:fillRect/>
          </a:stretch>
        </p:blipFill>
        <p:spPr>
          <a:xfrm>
            <a:off x="8318788" y="2953512"/>
            <a:ext cx="2839143" cy="1325880"/>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8318788" y="4325112"/>
            <a:ext cx="2839143" cy="274320"/>
          </a:xfrm>
          <a:prstGeom prst="rect">
            <a:avLst/>
          </a:prstGeom>
          <a:noFill/>
          <a:ln/>
        </p:spPr>
        <p:txBody>
          <a:bodyPr wrap="square" lIns="0" tIns="0" rIns="0" bIns="0" rtlCol="0" anchor="ctr"/>
          <a:lstStyle/>
          <a:p>
            <a:pPr algn="ctr" indent="0" marL="0">
              <a:buNone/>
            </a:pPr>
            <a:r>
              <a:rPr lang="en-US" sz="1200" i="1" dirty="0">
                <a:solidFill>
                  <a:schemeClr val="accent6"/>
                </a:solidFill>
              </a:rPr>
              <a:t>No diffuse</a:t>
            </a:r>
            <a:endParaRPr lang="en-US" sz="1200" dirty="0"/>
          </a:p>
        </p:txBody>
      </p:sp>
      <p:pic>
        <p:nvPicPr>
          <p:cNvPr id="9" name="fig_l_nospec" descr="G:/4-1/RamenShop/RamenShop/report/figs/fig_l_nospec.jpg">    </p:cNvPr>
          <p:cNvPicPr>
            <a:picLocks noChangeAspect="1"/>
          </p:cNvPicPr>
          <p:nvPr/>
        </p:nvPicPr>
        <p:blipFill>
          <a:blip r:embed="rId4"/>
          <a:stretch>
            <a:fillRect/>
          </a:stretch>
        </p:blipFill>
        <p:spPr>
          <a:xfrm>
            <a:off x="8318788" y="4626864"/>
            <a:ext cx="2839143" cy="1325880"/>
          </a:xfrm>
          <a:prstGeom prst="rect">
            <a:avLst/>
          </a:prstGeom>
          <a:effectLst>
            <a:outerShdw sx="100000" sy="100000" kx="0" ky="0" algn="bl" rotWithShape="0" blurRad="76200" dist="25400" dir="5400000">
              <a:srgbClr val="000000">
                <a:alpha val="25000"/>
              </a:srgbClr>
            </a:outerShdw>
          </a:effectLst>
        </p:spPr>
      </p:pic>
      <p:sp>
        <p:nvSpPr>
          <p:cNvPr id="10" name="Text 4"/>
          <p:cNvSpPr txBox="1"/>
          <p:nvPr/>
        </p:nvSpPr>
        <p:spPr>
          <a:xfrm>
            <a:off x="8318788" y="5998464"/>
            <a:ext cx="2839143" cy="274320"/>
          </a:xfrm>
          <a:prstGeom prst="rect">
            <a:avLst/>
          </a:prstGeom>
          <a:noFill/>
          <a:ln/>
        </p:spPr>
        <p:txBody>
          <a:bodyPr wrap="square" lIns="0" tIns="0" rIns="0" bIns="0" rtlCol="0" anchor="ctr"/>
          <a:lstStyle/>
          <a:p>
            <a:pPr algn="ctr" indent="0" marL="0">
              <a:buNone/>
            </a:pPr>
            <a:r>
              <a:rPr lang="en-US" sz="1200" i="1" dirty="0">
                <a:solidFill>
                  <a:schemeClr val="accent6"/>
                </a:solidFill>
              </a:rPr>
              <a:t>No specular</a:t>
            </a:r>
            <a:endParaRPr lang="en-US" sz="1200" dirty="0"/>
          </a:p>
        </p:txBody>
      </p:sp>
      <p:sp>
        <p:nvSpPr>
          <p:cNvPr id="11" name="formula chip"/>
          <p:cNvSpPr/>
          <p:nvPr/>
        </p:nvSpPr>
        <p:spPr>
          <a:xfrm>
            <a:off x="548640" y="4892040"/>
            <a:ext cx="6949440" cy="548640"/>
          </a:xfrm>
          <a:prstGeom prst="roundRect">
            <a:avLst>
              <a:gd name="adj" fmla="val 20000"/>
            </a:avLst>
          </a:prstGeom>
          <a:solidFill>
            <a:schemeClr val="accent1"/>
          </a:solidFill>
          <a:ln w="12700">
            <a:solidFill>
              <a:schemeClr val="accent1"/>
            </a:solidFill>
            <a:prstDash val="solid"/>
          </a:ln>
        </p:spPr>
      </p:sp>
      <p:sp>
        <p:nvSpPr>
          <p:cNvPr id="12" name="Text 6"/>
          <p:cNvSpPr txBox="1"/>
          <p:nvPr/>
        </p:nvSpPr>
        <p:spPr>
          <a:xfrm>
            <a:off x="713232" y="4892040"/>
            <a:ext cx="6620256" cy="54864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I = e + Σ aᵢ [ ka·La + kd·Ld·(N·L) + ks·Ls·(N·H)ⁿ ],   aᵢ = 1 / (kc + kl·d + kq·d²)</a:t>
            </a:r>
            <a:endParaRPr lang="en-US" sz="1500" dirty="0"/>
          </a:p>
        </p:txBody>
      </p:sp>
      <p:sp>
        <p:nvSpPr>
          <p:cNvPr id="13" name="Text 7"/>
          <p:cNvSpPr txBox="1"/>
          <p:nvPr/>
        </p:nvSpPr>
        <p:spPr>
          <a:xfrm>
            <a:off x="548640" y="5532120"/>
            <a:ext cx="6949440" cy="777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8 lights: sun / moon (directional), lamps (point), table lamps (spot 28°)</a:t>
            </a:r>
            <a:endParaRPr lang="en-US" sz="1400" dirty="0"/>
          </a:p>
          <a:p>
            <a:pPr marL="342900" indent="-342900">
              <a:spcAft>
                <a:spcPts val="600"/>
              </a:spcAft>
              <a:buSzPct val="100000"/>
              <a:buChar char="•"/>
            </a:pPr>
            <a:r>
              <a:rPr lang="en-US" sz="1400" dirty="0">
                <a:solidFill>
                  <a:schemeClr val="tx1"/>
                </a:solidFill>
              </a:rPr>
              <a:t>Keys 1–7 switch each lamp; − = \ remove one term from every light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Eight switchable lights</a:t>
            </a:r>
            <a:endParaRPr lang="en-US" sz="3400" dirty="0"/>
          </a:p>
        </p:txBody>
      </p:sp>
      <p:pic>
        <p:nvPicPr>
          <p:cNvPr id="3" name="fig_tour0" descr="G:/4-1/RamenShop/RamenShop/report/figs/fig_tour0.jpg">    </p:cNvPr>
          <p:cNvPicPr>
            <a:picLocks noChangeAspect="1"/>
          </p:cNvPicPr>
          <p:nvPr/>
        </p:nvPicPr>
        <p:blipFill>
          <a:blip r:embed="rId1"/>
          <a:stretch>
            <a:fillRect/>
          </a:stretch>
        </p:blipFill>
        <p:spPr>
          <a:xfrm>
            <a:off x="548640" y="1621094"/>
            <a:ext cx="2651760" cy="1238372"/>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2905186"/>
            <a:ext cx="2651760" cy="274320"/>
          </a:xfrm>
          <a:prstGeom prst="rect">
            <a:avLst/>
          </a:prstGeom>
          <a:noFill/>
          <a:ln/>
        </p:spPr>
        <p:txBody>
          <a:bodyPr wrap="square" lIns="0" tIns="0" rIns="0" bIns="0" rtlCol="0" anchor="ctr"/>
          <a:lstStyle/>
          <a:p>
            <a:pPr algn="ctr" indent="0" marL="0">
              <a:buNone/>
            </a:pPr>
            <a:r>
              <a:rPr lang="en-US" sz="1200" i="1" dirty="0">
                <a:solidFill>
                  <a:schemeClr val="accent6"/>
                </a:solidFill>
              </a:rPr>
              <a:t>Pendant lamps (1)</a:t>
            </a:r>
            <a:endParaRPr lang="en-US" sz="1200" dirty="0"/>
          </a:p>
        </p:txBody>
      </p:sp>
      <p:pic>
        <p:nvPicPr>
          <p:cNvPr id="5" name="fig_dining_b" descr="G:/4-1/RamenShop/RamenShop/report/figs/fig_dining_b.jpg">    </p:cNvPr>
          <p:cNvPicPr>
            <a:picLocks noChangeAspect="1"/>
          </p:cNvPicPr>
          <p:nvPr/>
        </p:nvPicPr>
        <p:blipFill>
          <a:blip r:embed="rId2"/>
          <a:stretch>
            <a:fillRect/>
          </a:stretch>
        </p:blipFill>
        <p:spPr>
          <a:xfrm>
            <a:off x="3337560" y="1621094"/>
            <a:ext cx="2651760" cy="1238372"/>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3337560" y="2905186"/>
            <a:ext cx="2651760" cy="274320"/>
          </a:xfrm>
          <a:prstGeom prst="rect">
            <a:avLst/>
          </a:prstGeom>
          <a:noFill/>
          <a:ln/>
        </p:spPr>
        <p:txBody>
          <a:bodyPr wrap="square" lIns="0" tIns="0" rIns="0" bIns="0" rtlCol="0" anchor="ctr"/>
          <a:lstStyle/>
          <a:p>
            <a:pPr algn="ctr" indent="0" marL="0">
              <a:buNone/>
            </a:pPr>
            <a:r>
              <a:rPr lang="en-US" sz="1200" i="1" dirty="0">
                <a:solidFill>
                  <a:schemeClr val="accent6"/>
                </a:solidFill>
              </a:rPr>
              <a:t>Table spot lamp (2)</a:t>
            </a:r>
            <a:endParaRPr lang="en-US" sz="1200" dirty="0"/>
          </a:p>
        </p:txBody>
      </p:sp>
      <p:pic>
        <p:nvPicPr>
          <p:cNvPr id="7" name="fig_tour3" descr="G:/4-1/RamenShop/RamenShop/report/figs/fig_tour3.jpg">    </p:cNvPr>
          <p:cNvPicPr>
            <a:picLocks noChangeAspect="1"/>
          </p:cNvPicPr>
          <p:nvPr/>
        </p:nvPicPr>
        <p:blipFill>
          <a:blip r:embed="rId3"/>
          <a:stretch>
            <a:fillRect/>
          </a:stretch>
        </p:blipFill>
        <p:spPr>
          <a:xfrm>
            <a:off x="548640" y="3952814"/>
            <a:ext cx="2651760" cy="1238372"/>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548640" y="5236906"/>
            <a:ext cx="2651760" cy="274320"/>
          </a:xfrm>
          <a:prstGeom prst="rect">
            <a:avLst/>
          </a:prstGeom>
          <a:noFill/>
          <a:ln/>
        </p:spPr>
        <p:txBody>
          <a:bodyPr wrap="square" lIns="0" tIns="0" rIns="0" bIns="0" rtlCol="0" anchor="ctr"/>
          <a:lstStyle/>
          <a:p>
            <a:pPr algn="ctr" indent="0" marL="0">
              <a:buNone/>
            </a:pPr>
            <a:r>
              <a:rPr lang="en-US" sz="1200" i="1" dirty="0">
                <a:solidFill>
                  <a:schemeClr val="accent6"/>
                </a:solidFill>
              </a:rPr>
              <a:t>Box lanterns (4)</a:t>
            </a:r>
            <a:endParaRPr lang="en-US" sz="1200" dirty="0"/>
          </a:p>
        </p:txBody>
      </p:sp>
      <p:pic>
        <p:nvPicPr>
          <p:cNvPr id="9" name="fig_tour5" descr="G:/4-1/RamenShop/RamenShop/report/figs/fig_tour5.jpg">    </p:cNvPr>
          <p:cNvPicPr>
            <a:picLocks noChangeAspect="1"/>
          </p:cNvPicPr>
          <p:nvPr/>
        </p:nvPicPr>
        <p:blipFill>
          <a:blip r:embed="rId4"/>
          <a:stretch>
            <a:fillRect/>
          </a:stretch>
        </p:blipFill>
        <p:spPr>
          <a:xfrm>
            <a:off x="3337560" y="3952814"/>
            <a:ext cx="2651760" cy="1238372"/>
          </a:xfrm>
          <a:prstGeom prst="rect">
            <a:avLst/>
          </a:prstGeom>
          <a:effectLst>
            <a:outerShdw sx="100000" sy="100000" kx="0" ky="0" algn="bl" rotWithShape="0" blurRad="76200" dist="25400" dir="5400000">
              <a:srgbClr val="000000">
                <a:alpha val="25000"/>
              </a:srgbClr>
            </a:outerShdw>
          </a:effectLst>
        </p:spPr>
      </p:pic>
      <p:sp>
        <p:nvSpPr>
          <p:cNvPr id="10" name="Text 4"/>
          <p:cNvSpPr txBox="1"/>
          <p:nvPr/>
        </p:nvSpPr>
        <p:spPr>
          <a:xfrm>
            <a:off x="3337560" y="5236906"/>
            <a:ext cx="2651760" cy="274320"/>
          </a:xfrm>
          <a:prstGeom prst="rect">
            <a:avLst/>
          </a:prstGeom>
          <a:noFill/>
          <a:ln/>
        </p:spPr>
        <p:txBody>
          <a:bodyPr wrap="square" lIns="0" tIns="0" rIns="0" bIns="0" rtlCol="0" anchor="ctr"/>
          <a:lstStyle/>
          <a:p>
            <a:pPr algn="ctr" indent="0" marL="0">
              <a:buNone/>
            </a:pPr>
            <a:r>
              <a:rPr lang="en-US" sz="1200" i="1" dirty="0">
                <a:solidFill>
                  <a:schemeClr val="accent6"/>
                </a:solidFill>
              </a:rPr>
              <a:t>Lantern tower (6)</a:t>
            </a:r>
            <a:endParaRPr lang="en-US" sz="1200" dirty="0"/>
          </a:p>
        </p:txBody>
      </p:sp>
      <p:sp>
        <p:nvSpPr>
          <p:cNvPr id="11" name="card"/>
          <p:cNvSpPr/>
          <p:nvPr/>
        </p:nvSpPr>
        <p:spPr>
          <a:xfrm>
            <a:off x="6355080" y="1325880"/>
            <a:ext cx="5257800" cy="1325880"/>
          </a:xfrm>
          <a:prstGeom prst="roundRect">
            <a:avLst>
              <a:gd name="adj" fmla="val 6897"/>
            </a:avLst>
          </a:prstGeom>
          <a:solidFill>
            <a:schemeClr val="bg2"/>
          </a:solidFill>
          <a:ln w="12700">
            <a:solidFill>
              <a:schemeClr val="bg2"/>
            </a:solidFill>
            <a:prstDash val="solid"/>
          </a:ln>
        </p:spPr>
      </p:sp>
      <p:sp>
        <p:nvSpPr>
          <p:cNvPr id="12" name="Text 6"/>
          <p:cNvSpPr txBox="1"/>
          <p:nvPr/>
        </p:nvSpPr>
        <p:spPr>
          <a:xfrm>
            <a:off x="6537960" y="1435608"/>
            <a:ext cx="4892040" cy="110642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Only 8 OpenGL lights</a:t>
            </a:r>
            <a:endParaRPr lang="en-US" sz="1600" dirty="0"/>
          </a:p>
          <a:p>
            <a:pPr indent="0" marL="0">
              <a:spcAft>
                <a:spcPts val="400"/>
              </a:spcAft>
              <a:buNone/>
            </a:pPr>
            <a:r>
              <a:rPr lang="en-US" sz="1400" dirty="0">
                <a:solidFill>
                  <a:schemeClr val="tx1"/>
                </a:solidFill>
              </a:rPr>
              <a:t>The four outdoor lights (lanterns, street lamps, sign) are re-assigned to interior lamps while the inside is drawn.</a:t>
            </a:r>
            <a:endParaRPr lang="en-US" sz="1600" dirty="0"/>
          </a:p>
        </p:txBody>
      </p:sp>
      <p:sp>
        <p:nvSpPr>
          <p:cNvPr id="13" name="card"/>
          <p:cNvSpPr/>
          <p:nvPr/>
        </p:nvSpPr>
        <p:spPr>
          <a:xfrm>
            <a:off x="6355080" y="2834640"/>
            <a:ext cx="5257800" cy="1325880"/>
          </a:xfrm>
          <a:prstGeom prst="roundRect">
            <a:avLst>
              <a:gd name="adj" fmla="val 6897"/>
            </a:avLst>
          </a:prstGeom>
          <a:solidFill>
            <a:schemeClr val="bg2"/>
          </a:solidFill>
          <a:ln w="12700">
            <a:solidFill>
              <a:schemeClr val="bg2"/>
            </a:solidFill>
            <a:prstDash val="solid"/>
          </a:ln>
        </p:spPr>
      </p:sp>
      <p:sp>
        <p:nvSpPr>
          <p:cNvPr id="14" name="Text 8"/>
          <p:cNvSpPr txBox="1"/>
          <p:nvPr/>
        </p:nvSpPr>
        <p:spPr>
          <a:xfrm>
            <a:off x="6537960" y="2944368"/>
            <a:ext cx="4892040" cy="110642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A lamp that is off lights nothing</a:t>
            </a:r>
            <a:endParaRPr lang="en-US" sz="1600" dirty="0"/>
          </a:p>
          <a:p>
            <a:pPr indent="0" marL="0">
              <a:spcAft>
                <a:spcPts val="400"/>
              </a:spcAft>
              <a:buNone/>
            </a:pPr>
            <a:r>
              <a:rPr lang="en-US" sz="1400" dirty="0">
                <a:solidFill>
                  <a:schemeClr val="tx1"/>
                </a:solidFill>
              </a:rPr>
              <a:t>Global ambient is zero, and glowing paper fades with its lamp.</a:t>
            </a:r>
            <a:endParaRPr lang="en-US" sz="1600" dirty="0"/>
          </a:p>
        </p:txBody>
      </p:sp>
      <p:sp>
        <p:nvSpPr>
          <p:cNvPr id="15" name="card"/>
          <p:cNvSpPr/>
          <p:nvPr/>
        </p:nvSpPr>
        <p:spPr>
          <a:xfrm>
            <a:off x="6355080" y="4343400"/>
            <a:ext cx="5257800" cy="1325880"/>
          </a:xfrm>
          <a:prstGeom prst="roundRect">
            <a:avLst>
              <a:gd name="adj" fmla="val 6897"/>
            </a:avLst>
          </a:prstGeom>
          <a:solidFill>
            <a:schemeClr val="bg2"/>
          </a:solidFill>
          <a:ln w="12700">
            <a:solidFill>
              <a:schemeClr val="bg2"/>
            </a:solidFill>
            <a:prstDash val="solid"/>
          </a:ln>
        </p:spPr>
      </p:sp>
      <p:sp>
        <p:nvSpPr>
          <p:cNvPr id="16" name="Text 10"/>
          <p:cNvSpPr txBox="1"/>
          <p:nvPr/>
        </p:nvSpPr>
        <p:spPr>
          <a:xfrm>
            <a:off x="6537960" y="4453128"/>
            <a:ext cx="4892040" cy="110642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Light tour (key 8)</a:t>
            </a:r>
            <a:endParaRPr lang="en-US" sz="1600" dirty="0"/>
          </a:p>
          <a:p>
            <a:pPr indent="0" marL="0">
              <a:spcAft>
                <a:spcPts val="400"/>
              </a:spcAft>
              <a:buNone/>
            </a:pPr>
            <a:r>
              <a:rPr lang="en-US" sz="1400" dirty="0">
                <a:solidFill>
                  <a:schemeClr val="tx1"/>
                </a:solidFill>
              </a:rPr>
              <a:t>The camera flies to each fixture and switches it on, showing its glow and light pool.</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Gouraud vs Phong shading</a:t>
            </a:r>
            <a:endParaRPr lang="en-US" sz="3400" dirty="0"/>
          </a:p>
        </p:txBody>
      </p:sp>
      <p:pic>
        <p:nvPicPr>
          <p:cNvPr id="3" name="fig_gouraud" descr="G:/4-1/RamenShop/RamenShop/report/figs/fig_gouraud.jpg">    </p:cNvPr>
          <p:cNvPicPr>
            <a:picLocks noChangeAspect="1"/>
          </p:cNvPicPr>
          <p:nvPr/>
        </p:nvPicPr>
        <p:blipFill>
          <a:blip r:embed="rId1"/>
          <a:stretch>
            <a:fillRect/>
          </a:stretch>
        </p:blipFill>
        <p:spPr>
          <a:xfrm>
            <a:off x="548640" y="1302106"/>
            <a:ext cx="5486400" cy="2562149"/>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909974"/>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Gouraud: light per vertex, colour interpolated</a:t>
            </a:r>
            <a:endParaRPr lang="en-US" sz="1200" dirty="0"/>
          </a:p>
        </p:txBody>
      </p:sp>
      <p:pic>
        <p:nvPicPr>
          <p:cNvPr id="5" name="fig_l_all" descr="G:/4-1/RamenShop/RamenShop/report/figs/fig_l_all.jpg">    </p:cNvPr>
          <p:cNvPicPr>
            <a:picLocks noChangeAspect="1"/>
          </p:cNvPicPr>
          <p:nvPr/>
        </p:nvPicPr>
        <p:blipFill>
          <a:blip r:embed="rId2"/>
          <a:stretch>
            <a:fillRect/>
          </a:stretch>
        </p:blipFill>
        <p:spPr>
          <a:xfrm>
            <a:off x="6172200" y="1302106"/>
            <a:ext cx="5486400" cy="2562149"/>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6172200" y="3909974"/>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Phong: normal interpolated, light per pixel</a:t>
            </a:r>
            <a:endParaRPr lang="en-US" sz="1200" dirty="0"/>
          </a:p>
        </p:txBody>
      </p:sp>
      <p:sp>
        <p:nvSpPr>
          <p:cNvPr id="7" name="Text 3"/>
          <p:cNvSpPr txBox="1"/>
          <p:nvPr/>
        </p:nvSpPr>
        <p:spPr>
          <a:xfrm>
            <a:off x="548640" y="4343400"/>
            <a:ext cx="67665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Gouraud = fixed-function path; a highlight inside a triangle is lost</a:t>
            </a:r>
            <a:endParaRPr lang="en-US" sz="1500" dirty="0"/>
          </a:p>
          <a:p>
            <a:pPr marL="342900" indent="-342900">
              <a:spcAft>
                <a:spcPts val="600"/>
              </a:spcAft>
              <a:buSzPct val="100000"/>
              <a:buChar char="•"/>
            </a:pPr>
            <a:r>
              <a:rPr lang="en-US" sz="1500" dirty="0">
                <a:solidFill>
                  <a:schemeClr val="tx1"/>
                </a:solidFill>
              </a:rPr>
              <a:t>Phong = my GLSL 1.20 fragment shader: 8 lights, spot cones, attenuation, fog and the shadow lookup</a:t>
            </a:r>
            <a:endParaRPr lang="en-US" sz="1500" dirty="0"/>
          </a:p>
          <a:p>
            <a:pPr marL="342900" indent="-342900">
              <a:spcAft>
                <a:spcPts val="600"/>
              </a:spcAft>
              <a:buSzPct val="100000"/>
              <a:buChar char="•"/>
            </a:pPr>
            <a:r>
              <a:rPr lang="en-US" sz="1500" dirty="0">
                <a:solidFill>
                  <a:schemeClr val="tx1"/>
                </a:solidFill>
              </a:rPr>
              <a:t>Specular uses Blinn's half vector H = normalize(L + V); key G switches the two</a:t>
            </a:r>
            <a:endParaRPr lang="en-US" sz="1500" dirty="0"/>
          </a:p>
        </p:txBody>
      </p:sp>
      <p:sp>
        <p:nvSpPr>
          <p:cNvPr id="8" name="formula chip"/>
          <p:cNvSpPr/>
          <p:nvPr/>
        </p:nvSpPr>
        <p:spPr>
          <a:xfrm>
            <a:off x="7452360" y="4434840"/>
            <a:ext cx="4160520" cy="1188720"/>
          </a:xfrm>
          <a:prstGeom prst="roundRect">
            <a:avLst>
              <a:gd name="adj" fmla="val 9231"/>
            </a:avLst>
          </a:prstGeom>
          <a:solidFill>
            <a:schemeClr val="accent1"/>
          </a:solidFill>
          <a:ln w="12700">
            <a:solidFill>
              <a:schemeClr val="accent1"/>
            </a:solidFill>
            <a:prstDash val="solid"/>
          </a:ln>
        </p:spPr>
      </p:sp>
      <p:sp>
        <p:nvSpPr>
          <p:cNvPr id="9" name="Text 5"/>
          <p:cNvSpPr txBox="1"/>
          <p:nvPr/>
        </p:nvSpPr>
        <p:spPr>
          <a:xfrm>
            <a:off x="7616952" y="4434840"/>
            <a:ext cx="3831336" cy="118872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Gouraud:  C = λ₁C₁ + λ₂C₂ + λ₃C₃</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Phong:  N = normalize(λ₁N₁ + λ₂N₂ + λ₃N₃)</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Shadows: stencil projection and soft shadow map</a:t>
            </a:r>
            <a:endParaRPr lang="en-US" sz="3400" dirty="0"/>
          </a:p>
        </p:txBody>
      </p:sp>
      <p:pic>
        <p:nvPicPr>
          <p:cNvPr id="3" name="fig_ext_day" descr="G:/4-1/RamenShop/RamenShop/report/figs/fig_ext_day.jpg">    </p:cNvPr>
          <p:cNvPicPr>
            <a:picLocks noChangeAspect="1"/>
          </p:cNvPicPr>
          <p:nvPr/>
        </p:nvPicPr>
        <p:blipFill>
          <a:blip r:embed="rId1"/>
          <a:stretch>
            <a:fillRect/>
          </a:stretch>
        </p:blipFill>
        <p:spPr>
          <a:xfrm>
            <a:off x="548640" y="1523390"/>
            <a:ext cx="3657600" cy="1708099"/>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27721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Sun shadows (stencil)</a:t>
            </a:r>
            <a:endParaRPr lang="en-US" sz="1200" dirty="0"/>
          </a:p>
        </p:txBody>
      </p:sp>
      <p:pic>
        <p:nvPicPr>
          <p:cNvPr id="5" name="fig_sh_off" descr="G:/4-1/RamenShop/RamenShop/report/figs/fig_sh_off.jpg">    </p:cNvPr>
          <p:cNvPicPr>
            <a:picLocks noChangeAspect="1"/>
          </p:cNvPicPr>
          <p:nvPr/>
        </p:nvPicPr>
        <p:blipFill>
          <a:blip r:embed="rId2"/>
          <a:stretch>
            <a:fillRect/>
          </a:stretch>
        </p:blipFill>
        <p:spPr>
          <a:xfrm>
            <a:off x="4270248" y="1523390"/>
            <a:ext cx="3657600" cy="1708099"/>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4270248" y="327721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Projected only</a:t>
            </a:r>
            <a:endParaRPr lang="en-US" sz="1200" dirty="0"/>
          </a:p>
        </p:txBody>
      </p:sp>
      <p:pic>
        <p:nvPicPr>
          <p:cNvPr id="7" name="fig_sh_on" descr="G:/4-1/RamenShop/RamenShop/report/figs/fig_sh_on.jpg">    </p:cNvPr>
          <p:cNvPicPr>
            <a:picLocks noChangeAspect="1"/>
          </p:cNvPicPr>
          <p:nvPr/>
        </p:nvPicPr>
        <p:blipFill>
          <a:blip r:embed="rId3"/>
          <a:stretch>
            <a:fillRect/>
          </a:stretch>
        </p:blipFill>
        <p:spPr>
          <a:xfrm>
            <a:off x="7982712" y="1523390"/>
            <a:ext cx="3657600" cy="1708099"/>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7982712" y="327721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Shadow map + PCF (key Y)</a:t>
            </a:r>
            <a:endParaRPr lang="en-US" sz="1200" dirty="0"/>
          </a:p>
        </p:txBody>
      </p:sp>
      <p:sp>
        <p:nvSpPr>
          <p:cNvPr id="9" name="Text 4"/>
          <p:cNvSpPr txBox="1"/>
          <p:nvPr/>
        </p:nvSpPr>
        <p:spPr>
          <a:xfrm>
            <a:off x="548640" y="3977640"/>
            <a:ext cx="676656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Sun: the outdoor scene is flattened onto the ground into the stencil buffer, then one dark layer is blended, so overlaps never darken twice</a:t>
            </a:r>
            <a:endParaRPr lang="en-US" sz="1500" dirty="0"/>
          </a:p>
          <a:p>
            <a:pPr marL="342900" indent="-342900">
              <a:spcAft>
                <a:spcPts val="600"/>
              </a:spcAft>
              <a:buSzPct val="100000"/>
              <a:buChar char="•"/>
            </a:pPr>
            <a:r>
              <a:rPr lang="en-US" sz="1500" dirty="0">
                <a:solidFill>
                  <a:schemeClr val="tx1"/>
                </a:solidFill>
              </a:rPr>
              <a:t>Inside: furniture projected from the lamps; key Y adds a 512 × 512 depth map with 3 × 3 percentage-closer filtering</a:t>
            </a:r>
            <a:endParaRPr lang="en-US" sz="1500" dirty="0"/>
          </a:p>
        </p:txBody>
      </p:sp>
      <p:sp>
        <p:nvSpPr>
          <p:cNvPr id="10" name="formula chip"/>
          <p:cNvSpPr/>
          <p:nvPr/>
        </p:nvSpPr>
        <p:spPr>
          <a:xfrm>
            <a:off x="7452360" y="4069080"/>
            <a:ext cx="4160520" cy="1188720"/>
          </a:xfrm>
          <a:prstGeom prst="roundRect">
            <a:avLst>
              <a:gd name="adj" fmla="val 9231"/>
            </a:avLst>
          </a:prstGeom>
          <a:solidFill>
            <a:schemeClr val="accent1"/>
          </a:solidFill>
          <a:ln w="12700">
            <a:solidFill>
              <a:schemeClr val="accent1"/>
            </a:solidFill>
            <a:prstDash val="solid"/>
          </a:ln>
        </p:spPr>
      </p:sp>
      <p:sp>
        <p:nvSpPr>
          <p:cNvPr id="11" name="Text 6"/>
          <p:cNvSpPr txBox="1"/>
          <p:nvPr/>
        </p:nvSpPr>
        <p:spPr>
          <a:xfrm>
            <a:off x="7616952" y="4069080"/>
            <a:ext cx="3831336" cy="118872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x' = x − (sₓ / s_y)·y,   z' = z − (s_z / s_y)·y</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soft:  s = (1/9) Σ [ z_L ≤ z_map + ε ]</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Glass refraction</a:t>
            </a:r>
            <a:endParaRPr lang="en-US" sz="3400" dirty="0"/>
          </a:p>
        </p:txBody>
      </p:sp>
      <p:pic>
        <p:nvPicPr>
          <p:cNvPr id="3" name="fig_refr_off" descr="G:/4-1/RamenShop/RamenShop/report/figs/fig_refr_off.jpg">    </p:cNvPr>
          <p:cNvPicPr>
            <a:picLocks noChangeAspect="1"/>
          </p:cNvPicPr>
          <p:nvPr/>
        </p:nvPicPr>
        <p:blipFill>
          <a:blip r:embed="rId1"/>
          <a:stretch>
            <a:fillRect/>
          </a:stretch>
        </p:blipFill>
        <p:spPr>
          <a:xfrm>
            <a:off x="548640" y="1507846"/>
            <a:ext cx="5486400" cy="2562149"/>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115714"/>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Key Z off: plain transparent glass</a:t>
            </a:r>
            <a:endParaRPr lang="en-US" sz="1200" dirty="0"/>
          </a:p>
        </p:txBody>
      </p:sp>
      <p:pic>
        <p:nvPicPr>
          <p:cNvPr id="5" name="fig_refr_on" descr="G:/4-1/RamenShop/RamenShop/report/figs/fig_refr_on.jpg">    </p:cNvPr>
          <p:cNvPicPr>
            <a:picLocks noChangeAspect="1"/>
          </p:cNvPicPr>
          <p:nvPr/>
        </p:nvPicPr>
        <p:blipFill>
          <a:blip r:embed="rId2"/>
          <a:stretch>
            <a:fillRect/>
          </a:stretch>
        </p:blipFill>
        <p:spPr>
          <a:xfrm>
            <a:off x="6172200" y="1507846"/>
            <a:ext cx="5486400" cy="2562149"/>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6172200" y="4115714"/>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Key Z on: the table behind is bent</a:t>
            </a:r>
            <a:endParaRPr lang="en-US" sz="1200" dirty="0"/>
          </a:p>
        </p:txBody>
      </p:sp>
      <p:sp>
        <p:nvSpPr>
          <p:cNvPr id="7" name="Text 3"/>
          <p:cNvSpPr txBox="1"/>
          <p:nvPr/>
        </p:nvSpPr>
        <p:spPr>
          <a:xfrm>
            <a:off x="548640" y="4709160"/>
            <a:ext cx="676656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tumbler is drawn last; the screen behind it is copied into a texture</a:t>
            </a:r>
            <a:endParaRPr lang="en-US" sz="1500" dirty="0"/>
          </a:p>
          <a:p>
            <a:pPr marL="342900" indent="-342900">
              <a:spcAft>
                <a:spcPts val="600"/>
              </a:spcAft>
              <a:buSzPct val="100000"/>
              <a:buChar char="•"/>
            </a:pPr>
            <a:r>
              <a:rPr lang="en-US" sz="1500" dirty="0">
                <a:solidFill>
                  <a:schemeClr val="tx1"/>
                </a:solidFill>
              </a:rPr>
              <a:t>A GLSL shader shifts the lookup by refract(I, N, 1/1.5) and adds a Fresnel reflection and a sharp highlight</a:t>
            </a:r>
            <a:endParaRPr lang="en-US" sz="1500" dirty="0"/>
          </a:p>
          <a:p>
            <a:pPr marL="342900" indent="-342900">
              <a:spcAft>
                <a:spcPts val="600"/>
              </a:spcAft>
              <a:buSzPct val="100000"/>
              <a:buChar char="•"/>
            </a:pPr>
            <a:r>
              <a:rPr lang="en-US" sz="1500" dirty="0">
                <a:solidFill>
                  <a:schemeClr val="tx1"/>
                </a:solidFill>
              </a:rPr>
              <a:t>All other glassware is alpha-blended in a final transparent pass with depth writes off</a:t>
            </a:r>
            <a:endParaRPr lang="en-US" sz="1500" dirty="0"/>
          </a:p>
        </p:txBody>
      </p:sp>
      <p:sp>
        <p:nvSpPr>
          <p:cNvPr id="8" name="formula chip"/>
          <p:cNvSpPr/>
          <p:nvPr/>
        </p:nvSpPr>
        <p:spPr>
          <a:xfrm>
            <a:off x="7452360" y="4754880"/>
            <a:ext cx="4160520" cy="1097280"/>
          </a:xfrm>
          <a:prstGeom prst="roundRect">
            <a:avLst>
              <a:gd name="adj" fmla="val 10000"/>
            </a:avLst>
          </a:prstGeom>
          <a:solidFill>
            <a:schemeClr val="accent1"/>
          </a:solidFill>
          <a:ln w="12700">
            <a:solidFill>
              <a:schemeClr val="accent1"/>
            </a:solidFill>
            <a:prstDash val="solid"/>
          </a:ln>
        </p:spPr>
      </p:sp>
      <p:sp>
        <p:nvSpPr>
          <p:cNvPr id="9" name="Text 5"/>
          <p:cNvSpPr txBox="1"/>
          <p:nvPr/>
        </p:nvSpPr>
        <p:spPr>
          <a:xfrm>
            <a:off x="7616952" y="4754880"/>
            <a:ext cx="3831336" cy="109728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Snell:  n₁ sin θ₁ = n₂ sin θ₂   (glass n = 1.5)</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Schlick:  F = 0.04 + 0.96(1 − cos θ)⁵</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Ray tracing: real reflection and refraction</a:t>
            </a:r>
            <a:endParaRPr lang="en-US" sz="3400" dirty="0"/>
          </a:p>
        </p:txBody>
      </p:sp>
      <p:pic>
        <p:nvPicPr>
          <p:cNvPr id="3" name="rt_pots_off" descr="G:/4-1/RamenShop/RamenShop/report/figs/rt_pots_off.jpg">    </p:cNvPr>
          <p:cNvPicPr>
            <a:picLocks noChangeAspect="1"/>
          </p:cNvPicPr>
          <p:nvPr/>
        </p:nvPicPr>
        <p:blipFill>
          <a:blip r:embed="rId1"/>
          <a:stretch>
            <a:fillRect/>
          </a:stretch>
        </p:blipFill>
        <p:spPr>
          <a:xfrm>
            <a:off x="548640" y="1308506"/>
            <a:ext cx="3657600" cy="2183587"/>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OpenGL only (R off)</a:t>
            </a:r>
            <a:endParaRPr lang="en-US" sz="1200" dirty="0"/>
          </a:p>
        </p:txBody>
      </p:sp>
      <p:pic>
        <p:nvPicPr>
          <p:cNvPr id="5" name="rt_pots_on" descr="G:/4-1/RamenShop/RamenShop/report/figs/rt_pots_on.jpg">    </p:cNvPr>
          <p:cNvPicPr>
            <a:picLocks noChangeAspect="1"/>
          </p:cNvPicPr>
          <p:nvPr/>
        </p:nvPicPr>
        <p:blipFill>
          <a:blip r:embed="rId2"/>
          <a:stretch>
            <a:fillRect/>
          </a:stretch>
        </p:blipFill>
        <p:spPr>
          <a:xfrm>
            <a:off x="4270248" y="1308506"/>
            <a:ext cx="3657600" cy="2183587"/>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4270248"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Ray traced: pots reflect the shop</a:t>
            </a:r>
            <a:endParaRPr lang="en-US" sz="1200" dirty="0"/>
          </a:p>
        </p:txBody>
      </p:sp>
      <p:pic>
        <p:nvPicPr>
          <p:cNvPr id="7" name="r_bowlrt" descr="G:/4-1/RamenShop/RamenShop/report/figs/r_bowlrt.jpg">    </p:cNvPr>
          <p:cNvPicPr>
            <a:picLocks noChangeAspect="1"/>
          </p:cNvPicPr>
          <p:nvPr/>
        </p:nvPicPr>
        <p:blipFill>
          <a:blip r:embed="rId3"/>
          <a:stretch>
            <a:fillRect/>
          </a:stretch>
        </p:blipFill>
        <p:spPr>
          <a:xfrm>
            <a:off x="7982712" y="1308506"/>
            <a:ext cx="3657600" cy="2183587"/>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7982712"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Glass ball refracts the counter</a:t>
            </a:r>
            <a:endParaRPr lang="en-US" sz="1200" dirty="0"/>
          </a:p>
        </p:txBody>
      </p:sp>
      <p:sp>
        <p:nvSpPr>
          <p:cNvPr id="9" name="Text 4"/>
          <p:cNvSpPr txBox="1"/>
          <p:nvPr/>
        </p:nvSpPr>
        <p:spPr>
          <a:xfrm>
            <a:off x="548640" y="4023360"/>
            <a:ext cx="676656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CPU ray tracer for 8 objects: 2 steel pots, 4 ramen bowls, the glass ball and the mirror</a:t>
            </a:r>
            <a:endParaRPr lang="en-US" sz="1500" dirty="0"/>
          </a:p>
          <a:p>
            <a:pPr marL="342900" indent="-342900">
              <a:spcAft>
                <a:spcPts val="600"/>
              </a:spcAft>
              <a:buSzPct val="100000"/>
              <a:buChar char="•"/>
            </a:pPr>
            <a:r>
              <a:rPr lang="en-US" sz="1500" dirty="0">
                <a:solidFill>
                  <a:schemeClr val="tx1"/>
                </a:solidFill>
              </a:rPr>
              <a:t>Exact ray–sphere, cone, disk and box tests; a BVH skips groups of shapes; up to 3 bounces</a:t>
            </a:r>
            <a:endParaRPr lang="en-US" sz="1500" dirty="0"/>
          </a:p>
          <a:p>
            <a:pPr marL="342900" indent="-342900">
              <a:spcAft>
                <a:spcPts val="600"/>
              </a:spcAft>
              <a:buSzPct val="100000"/>
              <a:buChar char="•"/>
            </a:pPr>
            <a:r>
              <a:rPr lang="en-US" sz="1500" dirty="0">
                <a:solidFill>
                  <a:schemeClr val="tx1"/>
                </a:solidFill>
              </a:rPr>
              <a:t>8 threads and a ray budget keep it near 13 ms; the result is composited where the depth matches</a:t>
            </a:r>
            <a:endParaRPr lang="en-US" sz="1500" dirty="0"/>
          </a:p>
        </p:txBody>
      </p:sp>
      <p:sp>
        <p:nvSpPr>
          <p:cNvPr id="10" name="formula chip"/>
          <p:cNvSpPr/>
          <p:nvPr/>
        </p:nvSpPr>
        <p:spPr>
          <a:xfrm>
            <a:off x="7452360" y="4069080"/>
            <a:ext cx="4160520" cy="1508760"/>
          </a:xfrm>
          <a:prstGeom prst="roundRect">
            <a:avLst>
              <a:gd name="adj" fmla="val 7273"/>
            </a:avLst>
          </a:prstGeom>
          <a:solidFill>
            <a:schemeClr val="accent1"/>
          </a:solidFill>
          <a:ln w="12700">
            <a:solidFill>
              <a:schemeClr val="accent1"/>
            </a:solidFill>
            <a:prstDash val="solid"/>
          </a:ln>
        </p:spPr>
      </p:sp>
      <p:sp>
        <p:nvSpPr>
          <p:cNvPr id="11" name="Text 6"/>
          <p:cNvSpPr txBox="1"/>
          <p:nvPr/>
        </p:nvSpPr>
        <p:spPr>
          <a:xfrm>
            <a:off x="7616952" y="4069080"/>
            <a:ext cx="3831336" cy="150876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reflect:  r = d − 2(d·n)n</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refract:  n₁ sin θ₁ = n₂ sin θ₂</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Fresnel:  F = F₀ + (1 − F₀)(1 − cos θ)⁵</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Animated characters: cyclist, person and cat</a:t>
            </a:r>
            <a:endParaRPr lang="en-US" sz="3400" dirty="0"/>
          </a:p>
        </p:txBody>
      </p:sp>
      <p:pic>
        <p:nvPicPr>
          <p:cNvPr id="3" name="r_cyclist" descr="G:/4-1/RamenShop/RamenShop/report/figs/r_cyclist.jpg">    </p:cNvPr>
          <p:cNvPicPr>
            <a:picLocks noChangeAspect="1"/>
          </p:cNvPicPr>
          <p:nvPr/>
        </p:nvPicPr>
        <p:blipFill>
          <a:blip r:embed="rId1"/>
          <a:stretch>
            <a:fillRect/>
          </a:stretch>
        </p:blipFill>
        <p:spPr>
          <a:xfrm>
            <a:off x="548640" y="1288390"/>
            <a:ext cx="5486400" cy="3275381"/>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609490"/>
            <a:ext cx="5486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Cyclist: rolling wheels, legs on the pedals</a:t>
            </a:r>
            <a:endParaRPr lang="en-US" sz="1200" dirty="0"/>
          </a:p>
        </p:txBody>
      </p:sp>
      <p:pic>
        <p:nvPicPr>
          <p:cNvPr id="5" name="r_pc" descr="G:/4-1/RamenShop/RamenShop/report/figs/r_pc.jpg">    </p:cNvPr>
          <p:cNvPicPr>
            <a:picLocks noChangeAspect="1"/>
          </p:cNvPicPr>
          <p:nvPr/>
        </p:nvPicPr>
        <p:blipFill>
          <a:blip r:embed="rId2"/>
          <a:stretch>
            <a:fillRect/>
          </a:stretch>
        </p:blipFill>
        <p:spPr>
          <a:xfrm>
            <a:off x="6995160" y="1280160"/>
            <a:ext cx="3840480" cy="329184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6995160" y="4617720"/>
            <a:ext cx="3840480" cy="274320"/>
          </a:xfrm>
          <a:prstGeom prst="rect">
            <a:avLst/>
          </a:prstGeom>
          <a:noFill/>
          <a:ln/>
        </p:spPr>
        <p:txBody>
          <a:bodyPr wrap="square" lIns="0" tIns="0" rIns="0" bIns="0" rtlCol="0" anchor="ctr"/>
          <a:lstStyle/>
          <a:p>
            <a:pPr algn="ctr" indent="0" marL="0">
              <a:buNone/>
            </a:pPr>
            <a:r>
              <a:rPr lang="en-US" sz="1200" i="1" dirty="0">
                <a:solidFill>
                  <a:schemeClr val="accent6"/>
                </a:solidFill>
              </a:rPr>
              <a:t>Walking person and the shop cat</a:t>
            </a:r>
            <a:endParaRPr lang="en-US" sz="1200" dirty="0"/>
          </a:p>
        </p:txBody>
      </p:sp>
      <p:sp>
        <p:nvSpPr>
          <p:cNvPr id="7" name="Text 3"/>
          <p:cNvSpPr txBox="1"/>
          <p:nvPr/>
        </p:nvSpPr>
        <p:spPr>
          <a:xfrm>
            <a:off x="548640" y="4983480"/>
            <a:ext cx="67665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Cyclist: wheels turn by θ = d / r; knees from two-bone inverse kinematics</a:t>
            </a:r>
            <a:endParaRPr lang="en-US" sz="1400" dirty="0"/>
          </a:p>
          <a:p>
            <a:pPr marL="342900" indent="-342900">
              <a:spcAft>
                <a:spcPts val="600"/>
              </a:spcAft>
              <a:buSzPct val="100000"/>
              <a:buChar char="•"/>
            </a:pPr>
            <a:r>
              <a:rPr lang="en-US" sz="1400" dirty="0">
                <a:solidFill>
                  <a:schemeClr val="tx1"/>
                </a:solidFill>
              </a:rPr>
              <a:t>Person: hip → knee → foot hierarchy, thigh ±28°, knee bend 35°, arms swing opposite</a:t>
            </a:r>
            <a:endParaRPr lang="en-US" sz="1400" dirty="0"/>
          </a:p>
          <a:p>
            <a:pPr marL="342900" indent="-342900">
              <a:spcAft>
                <a:spcPts val="600"/>
              </a:spcAft>
              <a:buSzPct val="100000"/>
              <a:buChar char="•"/>
            </a:pPr>
            <a:r>
              <a:rPr lang="en-US" sz="1400" dirty="0">
                <a:solidFill>
                  <a:schemeClr val="tx1"/>
                </a:solidFill>
              </a:rPr>
              <a:t>Cat: a state machine — walk, turn, sit and wash its face, then walk on</a:t>
            </a:r>
            <a:endParaRPr lang="en-US" sz="1400" dirty="0"/>
          </a:p>
        </p:txBody>
      </p:sp>
      <p:sp>
        <p:nvSpPr>
          <p:cNvPr id="8" name="formula chip"/>
          <p:cNvSpPr/>
          <p:nvPr/>
        </p:nvSpPr>
        <p:spPr>
          <a:xfrm>
            <a:off x="7452360" y="5029200"/>
            <a:ext cx="4160520" cy="1097280"/>
          </a:xfrm>
          <a:prstGeom prst="roundRect">
            <a:avLst>
              <a:gd name="adj" fmla="val 10000"/>
            </a:avLst>
          </a:prstGeom>
          <a:solidFill>
            <a:schemeClr val="accent1"/>
          </a:solidFill>
          <a:ln w="12700">
            <a:solidFill>
              <a:schemeClr val="accent1"/>
            </a:solidFill>
            <a:prstDash val="solid"/>
          </a:ln>
        </p:spPr>
      </p:sp>
      <p:sp>
        <p:nvSpPr>
          <p:cNvPr id="9" name="Text 5"/>
          <p:cNvSpPr txBox="1"/>
          <p:nvPr/>
        </p:nvSpPr>
        <p:spPr>
          <a:xfrm>
            <a:off x="7616952" y="5029200"/>
            <a:ext cx="3831336" cy="109728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two-bone IK:  a = (L₁² − L₂² + d²) / 2d</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h = √(L₁² − a²)</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Physics: the glass wind chime and the banner</a:t>
            </a:r>
            <a:endParaRPr lang="en-US" sz="3400" dirty="0"/>
          </a:p>
        </p:txBody>
      </p:sp>
      <p:pic>
        <p:nvPicPr>
          <p:cNvPr id="3" name="p_chime" descr="G:/4-1/RamenShop/RamenShop/report/figs/p_chime.jpg">    </p:cNvPr>
          <p:cNvPicPr>
            <a:picLocks noChangeAspect="1"/>
          </p:cNvPicPr>
          <p:nvPr/>
        </p:nvPicPr>
        <p:blipFill>
          <a:blip r:embed="rId1"/>
          <a:stretch>
            <a:fillRect/>
          </a:stretch>
        </p:blipFill>
        <p:spPr>
          <a:xfrm>
            <a:off x="548640" y="1522207"/>
            <a:ext cx="3840480" cy="2259106"/>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827033"/>
            <a:ext cx="3840480" cy="274320"/>
          </a:xfrm>
          <a:prstGeom prst="rect">
            <a:avLst/>
          </a:prstGeom>
          <a:noFill/>
          <a:ln/>
        </p:spPr>
        <p:txBody>
          <a:bodyPr wrap="square" lIns="0" tIns="0" rIns="0" bIns="0" rtlCol="0" anchor="ctr"/>
          <a:lstStyle/>
          <a:p>
            <a:pPr algn="ctr" indent="0" marL="0">
              <a:buNone/>
            </a:pPr>
            <a:r>
              <a:rPr lang="en-US" sz="1200" i="1" dirty="0">
                <a:solidFill>
                  <a:schemeClr val="accent6"/>
                </a:solidFill>
              </a:rPr>
              <a:t>Bell, clapper and paper strip</a:t>
            </a:r>
            <a:endParaRPr lang="en-US" sz="1200" dirty="0"/>
          </a:p>
        </p:txBody>
      </p:sp>
      <p:pic>
        <p:nvPicPr>
          <p:cNvPr id="5" name="fig_porch" descr="G:/4-1/RamenShop/RamenShop/report/figs/fig_porch.jpg">    </p:cNvPr>
          <p:cNvPicPr>
            <a:picLocks noChangeAspect="1"/>
          </p:cNvPicPr>
          <p:nvPr/>
        </p:nvPicPr>
        <p:blipFill>
          <a:blip r:embed="rId2"/>
          <a:stretch>
            <a:fillRect/>
          </a:stretch>
        </p:blipFill>
        <p:spPr>
          <a:xfrm>
            <a:off x="4855229" y="1280160"/>
            <a:ext cx="6657302" cy="310896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4855229" y="4434840"/>
            <a:ext cx="6657302" cy="274320"/>
          </a:xfrm>
          <a:prstGeom prst="rect">
            <a:avLst/>
          </a:prstGeom>
          <a:noFill/>
          <a:ln/>
        </p:spPr>
        <p:txBody>
          <a:bodyPr wrap="square" lIns="0" tIns="0" rIns="0" bIns="0" rtlCol="0" anchor="ctr"/>
          <a:lstStyle/>
          <a:p>
            <a:pPr algn="ctr" indent="0" marL="0">
              <a:buNone/>
            </a:pPr>
            <a:r>
              <a:rPr lang="en-US" sz="1200" i="1" dirty="0">
                <a:solidFill>
                  <a:schemeClr val="accent6"/>
                </a:solidFill>
              </a:rPr>
              <a:t>Porch: nobori banner and wind chime</a:t>
            </a:r>
            <a:endParaRPr lang="en-US" sz="1200" dirty="0"/>
          </a:p>
        </p:txBody>
      </p:sp>
      <p:sp>
        <p:nvSpPr>
          <p:cNvPr id="7" name="formula chip"/>
          <p:cNvSpPr/>
          <p:nvPr/>
        </p:nvSpPr>
        <p:spPr>
          <a:xfrm>
            <a:off x="548640" y="4526280"/>
            <a:ext cx="3840480" cy="548640"/>
          </a:xfrm>
          <a:prstGeom prst="roundRect">
            <a:avLst>
              <a:gd name="adj" fmla="val 20000"/>
            </a:avLst>
          </a:prstGeom>
          <a:solidFill>
            <a:schemeClr val="accent1"/>
          </a:solidFill>
          <a:ln w="12700">
            <a:solidFill>
              <a:schemeClr val="accent1"/>
            </a:solidFill>
            <a:prstDash val="solid"/>
          </a:ln>
        </p:spPr>
      </p:sp>
      <p:sp>
        <p:nvSpPr>
          <p:cNvPr id="8" name="Text 4"/>
          <p:cNvSpPr txBox="1"/>
          <p:nvPr/>
        </p:nvSpPr>
        <p:spPr>
          <a:xfrm>
            <a:off x="713232" y="4526280"/>
            <a:ext cx="3511296" cy="54864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θ̈ = −(g/L)·sin θ − c·θ̇ + k·w(t)</a:t>
            </a:r>
            <a:endParaRPr lang="en-US" sz="1500" dirty="0"/>
          </a:p>
        </p:txBody>
      </p:sp>
      <p:sp>
        <p:nvSpPr>
          <p:cNvPr id="9" name="Text 5"/>
          <p:cNvSpPr txBox="1"/>
          <p:nvPr/>
        </p:nvSpPr>
        <p:spPr>
          <a:xfrm>
            <a:off x="4709160" y="4846320"/>
            <a:ext cx="69494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Bell and paper strip are two pendulums pushed by gusty wind; 8 small steps per frame</a:t>
            </a:r>
            <a:endParaRPr lang="en-US" sz="1400" dirty="0"/>
          </a:p>
          <a:p>
            <a:pPr marL="342900" indent="-342900">
              <a:spcAft>
                <a:spcPts val="600"/>
              </a:spcAft>
              <a:buSzPct val="100000"/>
              <a:buChar char="•"/>
            </a:pPr>
            <a:r>
              <a:rPr lang="en-US" sz="1400" dirty="0">
                <a:solidFill>
                  <a:schemeClr val="tx1"/>
                </a:solidFill>
              </a:rPr>
              <a:t>The strip catches more wind; at 0.42 rad the clapper strikes, bounces back and the glass glints</a:t>
            </a:r>
            <a:endParaRPr lang="en-US" sz="1400" dirty="0"/>
          </a:p>
          <a:p>
            <a:pPr marL="342900" indent="-342900">
              <a:spcAft>
                <a:spcPts val="600"/>
              </a:spcAft>
              <a:buSzPct val="100000"/>
              <a:buChar char="•"/>
            </a:pPr>
            <a:r>
              <a:rPr lang="en-US" sz="1400" dirty="0">
                <a:solidFill>
                  <a:schemeClr val="tx1"/>
                </a:solidFill>
              </a:rPr>
              <a:t>The banner is a 12 × 28 grid moved by a travelling wave, calm at the pole and strong at the free edge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village and the shop</a:t>
            </a:r>
            <a:endParaRPr lang="en-US" sz="3400" dirty="0"/>
          </a:p>
        </p:txBody>
      </p:sp>
      <p:pic>
        <p:nvPicPr>
          <p:cNvPr id="3" name="r_village" descr="G:/4-1/RamenShop/RamenShop/report/figs/r_village.jpg">    </p:cNvPr>
          <p:cNvPicPr>
            <a:picLocks noChangeAspect="1"/>
          </p:cNvPicPr>
          <p:nvPr/>
        </p:nvPicPr>
        <p:blipFill>
          <a:blip r:embed="rId1"/>
          <a:stretch>
            <a:fillRect/>
          </a:stretch>
        </p:blipFill>
        <p:spPr>
          <a:xfrm>
            <a:off x="548640" y="1308506"/>
            <a:ext cx="3657600" cy="2183587"/>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Shop, cherry and maple trees</a:t>
            </a:r>
            <a:endParaRPr lang="en-US" sz="1200" dirty="0"/>
          </a:p>
        </p:txBody>
      </p:sp>
      <p:pic>
        <p:nvPicPr>
          <p:cNvPr id="5" name="c_house2" descr="G:/4-1/RamenShop/RamenShop/report/figs/c_house2.jpg">    </p:cNvPr>
          <p:cNvPicPr>
            <a:picLocks noChangeAspect="1"/>
          </p:cNvPicPr>
          <p:nvPr/>
        </p:nvPicPr>
        <p:blipFill>
          <a:blip r:embed="rId2"/>
          <a:stretch>
            <a:fillRect/>
          </a:stretch>
        </p:blipFill>
        <p:spPr>
          <a:xfrm>
            <a:off x="4558856" y="1280160"/>
            <a:ext cx="3080385" cy="2240280"/>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4558856" y="3566160"/>
            <a:ext cx="3080385" cy="274320"/>
          </a:xfrm>
          <a:prstGeom prst="rect">
            <a:avLst/>
          </a:prstGeom>
          <a:noFill/>
          <a:ln/>
        </p:spPr>
        <p:txBody>
          <a:bodyPr wrap="square" lIns="0" tIns="0" rIns="0" bIns="0" rtlCol="0" anchor="ctr"/>
          <a:lstStyle/>
          <a:p>
            <a:pPr algn="ctr" indent="0" marL="0">
              <a:buNone/>
            </a:pPr>
            <a:r>
              <a:rPr lang="en-US" sz="1200" i="1" dirty="0">
                <a:solidFill>
                  <a:schemeClr val="accent6"/>
                </a:solidFill>
              </a:rPr>
              <a:t>Neighbouring house</a:t>
            </a:r>
            <a:endParaRPr lang="en-US" sz="1200" dirty="0"/>
          </a:p>
        </p:txBody>
      </p:sp>
      <p:pic>
        <p:nvPicPr>
          <p:cNvPr id="7" name="r_pond" descr="G:/4-1/RamenShop/RamenShop/report/figs/r_pond.jpg">    </p:cNvPr>
          <p:cNvPicPr>
            <a:picLocks noChangeAspect="1"/>
          </p:cNvPicPr>
          <p:nvPr/>
        </p:nvPicPr>
        <p:blipFill>
          <a:blip r:embed="rId3"/>
          <a:stretch>
            <a:fillRect/>
          </a:stretch>
        </p:blipFill>
        <p:spPr>
          <a:xfrm>
            <a:off x="7982712" y="1308506"/>
            <a:ext cx="3657600" cy="2183587"/>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7982712" y="35378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Lake, bridge, lily pads and duck</a:t>
            </a:r>
            <a:endParaRPr lang="en-US" sz="1200" dirty="0"/>
          </a:p>
        </p:txBody>
      </p:sp>
      <p:pic>
        <p:nvPicPr>
          <p:cNvPr id="9" name="r_dining1" descr="G:/4-1/RamenShop/RamenShop/report/figs/r_dining1.jpg">    </p:cNvPr>
          <p:cNvPicPr>
            <a:picLocks noChangeAspect="1"/>
          </p:cNvPicPr>
          <p:nvPr/>
        </p:nvPicPr>
        <p:blipFill>
          <a:blip r:embed="rId4"/>
          <a:stretch>
            <a:fillRect/>
          </a:stretch>
        </p:blipFill>
        <p:spPr>
          <a:xfrm>
            <a:off x="548640" y="3937406"/>
            <a:ext cx="3657600" cy="2183587"/>
          </a:xfrm>
          <a:prstGeom prst="rect">
            <a:avLst/>
          </a:prstGeom>
          <a:effectLst>
            <a:outerShdw sx="100000" sy="100000" kx="0" ky="0" algn="bl" rotWithShape="0" blurRad="76200" dist="25400" dir="5400000">
              <a:srgbClr val="000000">
                <a:alpha val="25000"/>
              </a:srgbClr>
            </a:outerShdw>
          </a:effectLst>
        </p:spPr>
      </p:pic>
      <p:sp>
        <p:nvSpPr>
          <p:cNvPr id="10" name="Text 4"/>
          <p:cNvSpPr txBox="1"/>
          <p:nvPr/>
        </p:nvSpPr>
        <p:spPr>
          <a:xfrm>
            <a:off x="548640" y="61667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Dining counter and kitchen</a:t>
            </a:r>
            <a:endParaRPr lang="en-US" sz="1200" dirty="0"/>
          </a:p>
        </p:txBody>
      </p:sp>
      <p:pic>
        <p:nvPicPr>
          <p:cNvPr id="11" name="r_bowl" descr="G:/4-1/RamenShop/RamenShop/report/figs/r_bowl.jpg">    </p:cNvPr>
          <p:cNvPicPr>
            <a:picLocks noChangeAspect="1"/>
          </p:cNvPicPr>
          <p:nvPr/>
        </p:nvPicPr>
        <p:blipFill>
          <a:blip r:embed="rId5"/>
          <a:stretch>
            <a:fillRect/>
          </a:stretch>
        </p:blipFill>
        <p:spPr>
          <a:xfrm>
            <a:off x="4270248" y="3937406"/>
            <a:ext cx="3657600" cy="2183587"/>
          </a:xfrm>
          <a:prstGeom prst="rect">
            <a:avLst/>
          </a:prstGeom>
          <a:effectLst>
            <a:outerShdw sx="100000" sy="100000" kx="0" ky="0" algn="bl" rotWithShape="0" blurRad="76200" dist="25400" dir="5400000">
              <a:srgbClr val="000000">
                <a:alpha val="25000"/>
              </a:srgbClr>
            </a:outerShdw>
          </a:effectLst>
        </p:spPr>
      </p:pic>
      <p:sp>
        <p:nvSpPr>
          <p:cNvPr id="12" name="Text 5"/>
          <p:cNvSpPr txBox="1"/>
          <p:nvPr/>
        </p:nvSpPr>
        <p:spPr>
          <a:xfrm>
            <a:off x="4270248" y="6166714"/>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Ramen bowl with steam</a:t>
            </a:r>
            <a:endParaRPr lang="en-US" sz="1200" dirty="0"/>
          </a:p>
        </p:txBody>
      </p:sp>
      <p:pic>
        <p:nvPicPr>
          <p:cNvPr id="13" name="fig_up_pics" descr="G:/4-1/RamenShop/RamenShop/report/figs/fig_up_pics.jpg">    </p:cNvPr>
          <p:cNvPicPr>
            <a:picLocks noChangeAspect="1"/>
          </p:cNvPicPr>
          <p:nvPr/>
        </p:nvPicPr>
        <p:blipFill>
          <a:blip r:embed="rId6"/>
          <a:stretch>
            <a:fillRect/>
          </a:stretch>
        </p:blipFill>
        <p:spPr>
          <a:xfrm>
            <a:off x="7982712" y="4175150"/>
            <a:ext cx="3657600" cy="1708099"/>
          </a:xfrm>
          <a:prstGeom prst="rect">
            <a:avLst/>
          </a:prstGeom>
          <a:effectLst>
            <a:outerShdw sx="100000" sy="100000" kx="0" ky="0" algn="bl" rotWithShape="0" blurRad="76200" dist="25400" dir="5400000">
              <a:srgbClr val="000000">
                <a:alpha val="25000"/>
              </a:srgbClr>
            </a:outerShdw>
          </a:effectLst>
        </p:spPr>
      </p:pic>
      <p:sp>
        <p:nvSpPr>
          <p:cNvPr id="14" name="Text 6"/>
          <p:cNvSpPr txBox="1"/>
          <p:nvPr/>
        </p:nvSpPr>
        <p:spPr>
          <a:xfrm>
            <a:off x="7982712" y="592897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Pictures drawn from 2D shapes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Ramen cooking game</a:t>
            </a:r>
            <a:endParaRPr lang="en-US" sz="3400" dirty="0"/>
          </a:p>
        </p:txBody>
      </p:sp>
      <p:pic>
        <p:nvPicPr>
          <p:cNvPr id="3" name="fig_game_menu" descr="G:/4-1/RamenShop/RamenShop/report/figs/fig_game_menu.jpg">    </p:cNvPr>
          <p:cNvPicPr>
            <a:picLocks noChangeAspect="1"/>
          </p:cNvPicPr>
          <p:nvPr/>
        </p:nvPicPr>
        <p:blipFill>
          <a:blip r:embed="rId1"/>
          <a:stretch>
            <a:fillRect/>
          </a:stretch>
        </p:blipFill>
        <p:spPr>
          <a:xfrm>
            <a:off x="548640" y="1488346"/>
            <a:ext cx="3611880" cy="1686748"/>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3220814"/>
            <a:ext cx="3611880" cy="274320"/>
          </a:xfrm>
          <a:prstGeom prst="rect">
            <a:avLst/>
          </a:prstGeom>
          <a:noFill/>
          <a:ln/>
        </p:spPr>
        <p:txBody>
          <a:bodyPr wrap="square" lIns="0" tIns="0" rIns="0" bIns="0" rtlCol="0" anchor="ctr"/>
          <a:lstStyle/>
          <a:p>
            <a:pPr algn="ctr" indent="0" marL="0">
              <a:buNone/>
            </a:pPr>
            <a:r>
              <a:rPr lang="en-US" sz="1200" i="1" dirty="0">
                <a:solidFill>
                  <a:schemeClr val="accent6"/>
                </a:solidFill>
              </a:rPr>
              <a:t>Title screen</a:t>
            </a:r>
            <a:endParaRPr lang="en-US" sz="1200" dirty="0"/>
          </a:p>
        </p:txBody>
      </p:sp>
      <p:pic>
        <p:nvPicPr>
          <p:cNvPr id="5" name="fig_game_order" descr="G:/4-1/RamenShop/RamenShop/report/figs/fig_game_order.jpg">    </p:cNvPr>
          <p:cNvPicPr>
            <a:picLocks noChangeAspect="1"/>
          </p:cNvPicPr>
          <p:nvPr/>
        </p:nvPicPr>
        <p:blipFill>
          <a:blip r:embed="rId2"/>
          <a:stretch>
            <a:fillRect/>
          </a:stretch>
        </p:blipFill>
        <p:spPr>
          <a:xfrm>
            <a:off x="4270248" y="1488346"/>
            <a:ext cx="3611880" cy="1686748"/>
          </a:xfrm>
          <a:prstGeom prst="rect">
            <a:avLst/>
          </a:prstGeom>
          <a:effectLst>
            <a:outerShdw sx="100000" sy="100000" kx="0" ky="0" algn="bl" rotWithShape="0" blurRad="76200" dist="25400" dir="5400000">
              <a:srgbClr val="000000">
                <a:alpha val="25000"/>
              </a:srgbClr>
            </a:outerShdw>
          </a:effectLst>
        </p:spPr>
      </p:pic>
      <p:sp>
        <p:nvSpPr>
          <p:cNvPr id="6" name="Text 2"/>
          <p:cNvSpPr txBox="1"/>
          <p:nvPr/>
        </p:nvSpPr>
        <p:spPr>
          <a:xfrm>
            <a:off x="4270248" y="3220814"/>
            <a:ext cx="3611880" cy="274320"/>
          </a:xfrm>
          <a:prstGeom prst="rect">
            <a:avLst/>
          </a:prstGeom>
          <a:noFill/>
          <a:ln/>
        </p:spPr>
        <p:txBody>
          <a:bodyPr wrap="square" lIns="0" tIns="0" rIns="0" bIns="0" rtlCol="0" anchor="ctr"/>
          <a:lstStyle/>
          <a:p>
            <a:pPr algn="ctr" indent="0" marL="0">
              <a:buNone/>
            </a:pPr>
            <a:r>
              <a:rPr lang="en-US" sz="1200" i="1" dirty="0">
                <a:solidFill>
                  <a:schemeClr val="accent6"/>
                </a:solidFill>
              </a:rPr>
              <a:t>Order board</a:t>
            </a:r>
            <a:endParaRPr lang="en-US" sz="1200" dirty="0"/>
          </a:p>
        </p:txBody>
      </p:sp>
      <p:pic>
        <p:nvPicPr>
          <p:cNvPr id="7" name="fig_game_cust" descr="G:/4-1/RamenShop/RamenShop/report/figs/fig_game_cust.jpg">    </p:cNvPr>
          <p:cNvPicPr>
            <a:picLocks noChangeAspect="1"/>
          </p:cNvPicPr>
          <p:nvPr/>
        </p:nvPicPr>
        <p:blipFill>
          <a:blip r:embed="rId3"/>
          <a:stretch>
            <a:fillRect/>
          </a:stretch>
        </p:blipFill>
        <p:spPr>
          <a:xfrm>
            <a:off x="7991856" y="1488346"/>
            <a:ext cx="3611880" cy="1686748"/>
          </a:xfrm>
          <a:prstGeom prst="rect">
            <a:avLst/>
          </a:prstGeom>
          <a:effectLst>
            <a:outerShdw sx="100000" sy="100000" kx="0" ky="0" algn="bl" rotWithShape="0" blurRad="76200" dist="25400" dir="5400000">
              <a:srgbClr val="000000">
                <a:alpha val="25000"/>
              </a:srgbClr>
            </a:outerShdw>
          </a:effectLst>
        </p:spPr>
      </p:pic>
      <p:sp>
        <p:nvSpPr>
          <p:cNvPr id="8" name="Text 3"/>
          <p:cNvSpPr txBox="1"/>
          <p:nvPr/>
        </p:nvSpPr>
        <p:spPr>
          <a:xfrm>
            <a:off x="7991856" y="3220814"/>
            <a:ext cx="3611880" cy="274320"/>
          </a:xfrm>
          <a:prstGeom prst="rect">
            <a:avLst/>
          </a:prstGeom>
          <a:noFill/>
          <a:ln/>
        </p:spPr>
        <p:txBody>
          <a:bodyPr wrap="square" lIns="0" tIns="0" rIns="0" bIns="0" rtlCol="0" anchor="ctr"/>
          <a:lstStyle/>
          <a:p>
            <a:pPr algn="ctr" indent="0" marL="0">
              <a:buNone/>
            </a:pPr>
            <a:r>
              <a:rPr lang="en-US" sz="1200" i="1" dirty="0">
                <a:solidFill>
                  <a:schemeClr val="accent6"/>
                </a:solidFill>
              </a:rPr>
              <a:t>A customer orders</a:t>
            </a:r>
            <a:endParaRPr lang="en-US" sz="1200" dirty="0"/>
          </a:p>
        </p:txBody>
      </p:sp>
      <p:sp>
        <p:nvSpPr>
          <p:cNvPr id="9" name="state"/>
          <p:cNvSpPr/>
          <p:nvPr/>
        </p:nvSpPr>
        <p:spPr>
          <a:xfrm>
            <a:off x="548640" y="3977640"/>
            <a:ext cx="1920240" cy="548640"/>
          </a:xfrm>
          <a:prstGeom prst="roundRect">
            <a:avLst>
              <a:gd name="adj" fmla="val 16667"/>
            </a:avLst>
          </a:prstGeom>
          <a:solidFill>
            <a:schemeClr val="bg2"/>
          </a:solidFill>
          <a:ln w="12700">
            <a:solidFill>
              <a:schemeClr val="accent1"/>
            </a:solidFill>
            <a:prstDash val="solid"/>
          </a:ln>
        </p:spPr>
      </p:sp>
      <p:sp>
        <p:nvSpPr>
          <p:cNvPr id="10" name="Text 5"/>
          <p:cNvSpPr txBox="1"/>
          <p:nvPr/>
        </p:nvSpPr>
        <p:spPr>
          <a:xfrm>
            <a:off x="548640" y="3977640"/>
            <a:ext cx="1920240" cy="548640"/>
          </a:xfrm>
          <a:prstGeom prst="rect">
            <a:avLst/>
          </a:prstGeom>
          <a:noFill/>
          <a:ln/>
        </p:spPr>
        <p:txBody>
          <a:bodyPr wrap="square" lIns="0" tIns="0" rIns="0" bIns="0" rtlCol="0" anchor="ctr"/>
          <a:lstStyle/>
          <a:p>
            <a:pPr algn="ctr" indent="0" marL="0">
              <a:buNone/>
            </a:pPr>
            <a:r>
              <a:rPr lang="en-US" sz="1500" b="1" dirty="0">
                <a:solidFill>
                  <a:schemeClr val="accent1"/>
                </a:solidFill>
              </a:rPr>
              <a:t>Menu</a:t>
            </a:r>
            <a:endParaRPr lang="en-US" sz="1500" dirty="0"/>
          </a:p>
        </p:txBody>
      </p:sp>
      <p:sp>
        <p:nvSpPr>
          <p:cNvPr id="11" name="arrow"/>
          <p:cNvSpPr/>
          <p:nvPr/>
        </p:nvSpPr>
        <p:spPr>
          <a:xfrm>
            <a:off x="2514600" y="4114800"/>
            <a:ext cx="274320" cy="274320"/>
          </a:xfrm>
          <a:prstGeom prst="rightArrow">
            <a:avLst/>
          </a:prstGeom>
          <a:solidFill>
            <a:schemeClr val="accent2"/>
          </a:solidFill>
          <a:ln w="12700">
            <a:solidFill>
              <a:schemeClr val="accent2"/>
            </a:solidFill>
            <a:prstDash val="solid"/>
          </a:ln>
        </p:spPr>
      </p:sp>
      <p:sp>
        <p:nvSpPr>
          <p:cNvPr id="12" name="state"/>
          <p:cNvSpPr/>
          <p:nvPr/>
        </p:nvSpPr>
        <p:spPr>
          <a:xfrm>
            <a:off x="2834640" y="3977640"/>
            <a:ext cx="1920240" cy="548640"/>
          </a:xfrm>
          <a:prstGeom prst="roundRect">
            <a:avLst>
              <a:gd name="adj" fmla="val 16667"/>
            </a:avLst>
          </a:prstGeom>
          <a:solidFill>
            <a:schemeClr val="bg2"/>
          </a:solidFill>
          <a:ln w="12700">
            <a:solidFill>
              <a:schemeClr val="accent1"/>
            </a:solidFill>
            <a:prstDash val="solid"/>
          </a:ln>
        </p:spPr>
      </p:sp>
      <p:sp>
        <p:nvSpPr>
          <p:cNvPr id="13" name="Text 8"/>
          <p:cNvSpPr txBox="1"/>
          <p:nvPr/>
        </p:nvSpPr>
        <p:spPr>
          <a:xfrm>
            <a:off x="2834640" y="3977640"/>
            <a:ext cx="1920240" cy="548640"/>
          </a:xfrm>
          <a:prstGeom prst="rect">
            <a:avLst/>
          </a:prstGeom>
          <a:noFill/>
          <a:ln/>
        </p:spPr>
        <p:txBody>
          <a:bodyPr wrap="square" lIns="0" tIns="0" rIns="0" bIns="0" rtlCol="0" anchor="ctr"/>
          <a:lstStyle/>
          <a:p>
            <a:pPr algn="ctr" indent="0" marL="0">
              <a:buNone/>
            </a:pPr>
            <a:r>
              <a:rPr lang="en-US" sz="1500" b="1" dirty="0">
                <a:solidFill>
                  <a:schemeClr val="accent1"/>
                </a:solidFill>
              </a:rPr>
              <a:t>Taking order</a:t>
            </a:r>
            <a:endParaRPr lang="en-US" sz="1500" dirty="0"/>
          </a:p>
        </p:txBody>
      </p:sp>
      <p:sp>
        <p:nvSpPr>
          <p:cNvPr id="14" name="arrow"/>
          <p:cNvSpPr/>
          <p:nvPr/>
        </p:nvSpPr>
        <p:spPr>
          <a:xfrm>
            <a:off x="4800600" y="4114800"/>
            <a:ext cx="274320" cy="274320"/>
          </a:xfrm>
          <a:prstGeom prst="rightArrow">
            <a:avLst/>
          </a:prstGeom>
          <a:solidFill>
            <a:schemeClr val="accent2"/>
          </a:solidFill>
          <a:ln w="12700">
            <a:solidFill>
              <a:schemeClr val="accent2"/>
            </a:solidFill>
            <a:prstDash val="solid"/>
          </a:ln>
        </p:spPr>
      </p:sp>
      <p:sp>
        <p:nvSpPr>
          <p:cNvPr id="15" name="state"/>
          <p:cNvSpPr/>
          <p:nvPr/>
        </p:nvSpPr>
        <p:spPr>
          <a:xfrm>
            <a:off x="5120640" y="3977640"/>
            <a:ext cx="1920240" cy="548640"/>
          </a:xfrm>
          <a:prstGeom prst="roundRect">
            <a:avLst>
              <a:gd name="adj" fmla="val 16667"/>
            </a:avLst>
          </a:prstGeom>
          <a:solidFill>
            <a:schemeClr val="bg2"/>
          </a:solidFill>
          <a:ln w="12700">
            <a:solidFill>
              <a:schemeClr val="accent1"/>
            </a:solidFill>
            <a:prstDash val="solid"/>
          </a:ln>
        </p:spPr>
      </p:sp>
      <p:sp>
        <p:nvSpPr>
          <p:cNvPr id="16" name="Text 11"/>
          <p:cNvSpPr txBox="1"/>
          <p:nvPr/>
        </p:nvSpPr>
        <p:spPr>
          <a:xfrm>
            <a:off x="5120640" y="3977640"/>
            <a:ext cx="1920240" cy="548640"/>
          </a:xfrm>
          <a:prstGeom prst="rect">
            <a:avLst/>
          </a:prstGeom>
          <a:noFill/>
          <a:ln/>
        </p:spPr>
        <p:txBody>
          <a:bodyPr wrap="square" lIns="0" tIns="0" rIns="0" bIns="0" rtlCol="0" anchor="ctr"/>
          <a:lstStyle/>
          <a:p>
            <a:pPr algn="ctr" indent="0" marL="0">
              <a:buNone/>
            </a:pPr>
            <a:r>
              <a:rPr lang="en-US" sz="1500" b="1" dirty="0">
                <a:solidFill>
                  <a:schemeClr val="accent1"/>
                </a:solidFill>
              </a:rPr>
              <a:t>Cooking</a:t>
            </a:r>
            <a:endParaRPr lang="en-US" sz="1500" dirty="0"/>
          </a:p>
        </p:txBody>
      </p:sp>
      <p:sp>
        <p:nvSpPr>
          <p:cNvPr id="17" name="arrow"/>
          <p:cNvSpPr/>
          <p:nvPr/>
        </p:nvSpPr>
        <p:spPr>
          <a:xfrm>
            <a:off x="7086600" y="4114800"/>
            <a:ext cx="274320" cy="274320"/>
          </a:xfrm>
          <a:prstGeom prst="rightArrow">
            <a:avLst/>
          </a:prstGeom>
          <a:solidFill>
            <a:schemeClr val="accent2"/>
          </a:solidFill>
          <a:ln w="12700">
            <a:solidFill>
              <a:schemeClr val="accent2"/>
            </a:solidFill>
            <a:prstDash val="solid"/>
          </a:ln>
        </p:spPr>
      </p:sp>
      <p:sp>
        <p:nvSpPr>
          <p:cNvPr id="18" name="state"/>
          <p:cNvSpPr/>
          <p:nvPr/>
        </p:nvSpPr>
        <p:spPr>
          <a:xfrm>
            <a:off x="7406640" y="3977640"/>
            <a:ext cx="1920240" cy="548640"/>
          </a:xfrm>
          <a:prstGeom prst="roundRect">
            <a:avLst>
              <a:gd name="adj" fmla="val 16667"/>
            </a:avLst>
          </a:prstGeom>
          <a:solidFill>
            <a:schemeClr val="bg2"/>
          </a:solidFill>
          <a:ln w="12700">
            <a:solidFill>
              <a:schemeClr val="accent1"/>
            </a:solidFill>
            <a:prstDash val="solid"/>
          </a:ln>
        </p:spPr>
      </p:sp>
      <p:sp>
        <p:nvSpPr>
          <p:cNvPr id="19" name="Text 14"/>
          <p:cNvSpPr txBox="1"/>
          <p:nvPr/>
        </p:nvSpPr>
        <p:spPr>
          <a:xfrm>
            <a:off x="7406640" y="3977640"/>
            <a:ext cx="1920240" cy="548640"/>
          </a:xfrm>
          <a:prstGeom prst="rect">
            <a:avLst/>
          </a:prstGeom>
          <a:noFill/>
          <a:ln/>
        </p:spPr>
        <p:txBody>
          <a:bodyPr wrap="square" lIns="0" tIns="0" rIns="0" bIns="0" rtlCol="0" anchor="ctr"/>
          <a:lstStyle/>
          <a:p>
            <a:pPr algn="ctr" indent="0" marL="0">
              <a:buNone/>
            </a:pPr>
            <a:r>
              <a:rPr lang="en-US" sz="1500" b="1" dirty="0">
                <a:solidFill>
                  <a:schemeClr val="accent1"/>
                </a:solidFill>
              </a:rPr>
              <a:t>Serving</a:t>
            </a:r>
            <a:endParaRPr lang="en-US" sz="1500" dirty="0"/>
          </a:p>
        </p:txBody>
      </p:sp>
      <p:sp>
        <p:nvSpPr>
          <p:cNvPr id="20" name="arrow"/>
          <p:cNvSpPr/>
          <p:nvPr/>
        </p:nvSpPr>
        <p:spPr>
          <a:xfrm>
            <a:off x="9372600" y="4114800"/>
            <a:ext cx="274320" cy="274320"/>
          </a:xfrm>
          <a:prstGeom prst="rightArrow">
            <a:avLst/>
          </a:prstGeom>
          <a:solidFill>
            <a:schemeClr val="accent2"/>
          </a:solidFill>
          <a:ln w="12700">
            <a:solidFill>
              <a:schemeClr val="accent2"/>
            </a:solidFill>
            <a:prstDash val="solid"/>
          </a:ln>
        </p:spPr>
      </p:sp>
      <p:sp>
        <p:nvSpPr>
          <p:cNvPr id="21" name="state"/>
          <p:cNvSpPr/>
          <p:nvPr/>
        </p:nvSpPr>
        <p:spPr>
          <a:xfrm>
            <a:off x="9692640" y="3977640"/>
            <a:ext cx="1920240" cy="548640"/>
          </a:xfrm>
          <a:prstGeom prst="roundRect">
            <a:avLst>
              <a:gd name="adj" fmla="val 16667"/>
            </a:avLst>
          </a:prstGeom>
          <a:solidFill>
            <a:schemeClr val="bg2"/>
          </a:solidFill>
          <a:ln w="12700">
            <a:solidFill>
              <a:schemeClr val="accent1"/>
            </a:solidFill>
            <a:prstDash val="solid"/>
          </a:ln>
        </p:spPr>
      </p:sp>
      <p:sp>
        <p:nvSpPr>
          <p:cNvPr id="22" name="Text 17"/>
          <p:cNvSpPr txBox="1"/>
          <p:nvPr/>
        </p:nvSpPr>
        <p:spPr>
          <a:xfrm>
            <a:off x="9692640" y="3977640"/>
            <a:ext cx="1920240" cy="548640"/>
          </a:xfrm>
          <a:prstGeom prst="rect">
            <a:avLst/>
          </a:prstGeom>
          <a:noFill/>
          <a:ln/>
        </p:spPr>
        <p:txBody>
          <a:bodyPr wrap="square" lIns="0" tIns="0" rIns="0" bIns="0" rtlCol="0" anchor="ctr"/>
          <a:lstStyle/>
          <a:p>
            <a:pPr algn="ctr" indent="0" marL="0">
              <a:buNone/>
            </a:pPr>
            <a:r>
              <a:rPr lang="en-US" sz="1500" b="1" dirty="0">
                <a:solidFill>
                  <a:schemeClr val="accent1"/>
                </a:solidFill>
              </a:rPr>
              <a:t>Result</a:t>
            </a:r>
            <a:endParaRPr lang="en-US" sz="1500" dirty="0"/>
          </a:p>
        </p:txBody>
      </p:sp>
      <p:sp>
        <p:nvSpPr>
          <p:cNvPr id="23" name="Text 18"/>
          <p:cNvSpPr txBox="1"/>
          <p:nvPr/>
        </p:nvSpPr>
        <p:spPr>
          <a:xfrm>
            <a:off x="548640" y="4846320"/>
            <a:ext cx="676656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Boil noodles (perfect 6–9 s, ruined &gt; 12 s), add broth and toppings, then serve</a:t>
            </a:r>
            <a:endParaRPr lang="en-US" sz="1500" dirty="0"/>
          </a:p>
          <a:p>
            <a:pPr marL="342900" indent="-342900">
              <a:spcAft>
                <a:spcPts val="600"/>
              </a:spcAft>
              <a:buSzPct val="100000"/>
              <a:buChar char="•"/>
            </a:pPr>
            <a:r>
              <a:rPr lang="en-US" sz="1500" dirty="0">
                <a:solidFill>
                  <a:schemeClr val="tx1"/>
                </a:solidFill>
              </a:rPr>
              <a:t>HUD and order board use an orthographic projection; up to 4 levels</a:t>
            </a:r>
            <a:endParaRPr lang="en-US" sz="1500" dirty="0"/>
          </a:p>
        </p:txBody>
      </p:sp>
      <p:sp>
        <p:nvSpPr>
          <p:cNvPr id="24" name="formula chip"/>
          <p:cNvSpPr/>
          <p:nvPr/>
        </p:nvSpPr>
        <p:spPr>
          <a:xfrm>
            <a:off x="7452360" y="4846320"/>
            <a:ext cx="4160520" cy="1097280"/>
          </a:xfrm>
          <a:prstGeom prst="roundRect">
            <a:avLst>
              <a:gd name="adj" fmla="val 10000"/>
            </a:avLst>
          </a:prstGeom>
          <a:solidFill>
            <a:schemeClr val="accent1"/>
          </a:solidFill>
          <a:ln w="12700">
            <a:solidFill>
              <a:schemeClr val="accent1"/>
            </a:solidFill>
            <a:prstDash val="solid"/>
          </a:ln>
        </p:spPr>
      </p:sp>
      <p:sp>
        <p:nvSpPr>
          <p:cNvPr id="25" name="Text 20"/>
          <p:cNvSpPr txBox="1"/>
          <p:nvPr/>
        </p:nvSpPr>
        <p:spPr>
          <a:xfrm>
            <a:off x="7616952" y="4846320"/>
            <a:ext cx="3831336" cy="109728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Q = 0.5·accuracy + 0.35·cook + 0.15·time</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stars = round(5Q)</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a:t>
            </a:r>
            <a:endParaRPr lang="en-US" sz="3400" dirty="0"/>
          </a:p>
        </p:txBody>
      </p:sp>
      <p:sp>
        <p:nvSpPr>
          <p:cNvPr id="3" name="card"/>
          <p:cNvSpPr/>
          <p:nvPr/>
        </p:nvSpPr>
        <p:spPr>
          <a:xfrm>
            <a:off x="548640" y="1325880"/>
            <a:ext cx="3566160" cy="2194560"/>
          </a:xfrm>
          <a:prstGeom prst="roundRect">
            <a:avLst>
              <a:gd name="adj" fmla="val 4167"/>
            </a:avLst>
          </a:prstGeom>
          <a:solidFill>
            <a:schemeClr val="bg2"/>
          </a:solidFill>
          <a:ln w="12700">
            <a:solidFill>
              <a:schemeClr val="bg2"/>
            </a:solidFill>
            <a:prstDash val="solid"/>
          </a:ln>
        </p:spPr>
      </p:sp>
      <p:sp>
        <p:nvSpPr>
          <p:cNvPr id="4" name="Text 2"/>
          <p:cNvSpPr txBox="1"/>
          <p:nvPr/>
        </p:nvSpPr>
        <p:spPr>
          <a:xfrm>
            <a:off x="731520" y="1435608"/>
            <a:ext cx="3200400" cy="197510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Delivered</a:t>
            </a:r>
            <a:endParaRPr lang="en-US" sz="1600" dirty="0"/>
          </a:p>
          <a:p>
            <a:pPr indent="0" marL="0">
              <a:spcAft>
                <a:spcPts val="400"/>
              </a:spcAft>
              <a:buNone/>
            </a:pPr>
            <a:r>
              <a:rPr lang="en-US" sz="1400" dirty="0">
                <a:solidFill>
                  <a:schemeClr val="tx1"/>
                </a:solidFill>
              </a:rPr>
              <a:t>Every proposed feature except flat shading, plus shadows, refraction, ray tracing, characters, physics and a game.</a:t>
            </a:r>
            <a:endParaRPr lang="en-US" sz="1600" dirty="0"/>
          </a:p>
        </p:txBody>
      </p:sp>
      <p:sp>
        <p:nvSpPr>
          <p:cNvPr id="5" name="card"/>
          <p:cNvSpPr/>
          <p:nvPr/>
        </p:nvSpPr>
        <p:spPr>
          <a:xfrm>
            <a:off x="4315968" y="1325880"/>
            <a:ext cx="3566160" cy="2194560"/>
          </a:xfrm>
          <a:prstGeom prst="roundRect">
            <a:avLst>
              <a:gd name="adj" fmla="val 4167"/>
            </a:avLst>
          </a:prstGeom>
          <a:solidFill>
            <a:schemeClr val="bg2"/>
          </a:solidFill>
          <a:ln w="12700">
            <a:solidFill>
              <a:schemeClr val="bg2"/>
            </a:solidFill>
            <a:prstDash val="solid"/>
          </a:ln>
        </p:spPr>
      </p:sp>
      <p:sp>
        <p:nvSpPr>
          <p:cNvPr id="6" name="Text 4"/>
          <p:cNvSpPr txBox="1"/>
          <p:nvPr/>
        </p:nvSpPr>
        <p:spPr>
          <a:xfrm>
            <a:off x="4498848" y="1435608"/>
            <a:ext cx="3200400" cy="197510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Challenges solved</a:t>
            </a:r>
            <a:endParaRPr lang="en-US" sz="1600" dirty="0"/>
          </a:p>
          <a:p>
            <a:pPr indent="0" marL="0">
              <a:spcAft>
                <a:spcPts val="400"/>
              </a:spcAft>
              <a:buNone/>
            </a:pPr>
            <a:r>
              <a:rPr lang="en-US" sz="1400" dirty="0">
                <a:solidFill>
                  <a:schemeClr val="tx1"/>
                </a:solidFill>
              </a:rPr>
              <a:t>Only 8 lights (reused indoors), lights that did not switch off (zero ambient), z-fighting shadows (depth test off in that pass).</a:t>
            </a:r>
            <a:endParaRPr lang="en-US" sz="1600" dirty="0"/>
          </a:p>
        </p:txBody>
      </p:sp>
      <p:sp>
        <p:nvSpPr>
          <p:cNvPr id="7" name="card"/>
          <p:cNvSpPr/>
          <p:nvPr/>
        </p:nvSpPr>
        <p:spPr>
          <a:xfrm>
            <a:off x="8083296" y="1325880"/>
            <a:ext cx="3566160" cy="2194560"/>
          </a:xfrm>
          <a:prstGeom prst="roundRect">
            <a:avLst>
              <a:gd name="adj" fmla="val 4167"/>
            </a:avLst>
          </a:prstGeom>
          <a:solidFill>
            <a:schemeClr val="bg2"/>
          </a:solidFill>
          <a:ln w="12700">
            <a:solidFill>
              <a:schemeClr val="bg2"/>
            </a:solidFill>
            <a:prstDash val="solid"/>
          </a:ln>
        </p:spPr>
      </p:sp>
      <p:sp>
        <p:nvSpPr>
          <p:cNvPr id="8" name="Text 6"/>
          <p:cNvSpPr txBox="1"/>
          <p:nvPr/>
        </p:nvSpPr>
        <p:spPr>
          <a:xfrm>
            <a:off x="8266176" y="1435608"/>
            <a:ext cx="3200400" cy="1975104"/>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Future work</a:t>
            </a:r>
            <a:endParaRPr lang="en-US" sz="1600" dirty="0"/>
          </a:p>
          <a:p>
            <a:pPr indent="0" marL="0">
              <a:spcAft>
                <a:spcPts val="400"/>
              </a:spcAft>
              <a:buNone/>
            </a:pPr>
            <a:r>
              <a:rPr lang="en-US" sz="1400" dirty="0">
                <a:solidFill>
                  <a:schemeClr val="tx1"/>
                </a:solidFill>
              </a:rPr>
              <a:t>Shadow maps for every lamp, a GPU ray tracer, and customers who walk into the shop by themselves.</a:t>
            </a:r>
            <a:endParaRPr lang="en-US" sz="1600" dirty="0"/>
          </a:p>
        </p:txBody>
      </p:sp>
      <p:pic>
        <p:nvPicPr>
          <p:cNvPr id="9" name="fig_ext_day2" descr="G:/4-1/RamenShop/RamenShop/report/figs/fig_ext_day2.jpg">    </p:cNvPr>
          <p:cNvPicPr>
            <a:picLocks noChangeAspect="1"/>
          </p:cNvPicPr>
          <p:nvPr/>
        </p:nvPicPr>
        <p:blipFill>
          <a:blip r:embed="rId1"/>
          <a:stretch>
            <a:fillRect/>
          </a:stretch>
        </p:blipFill>
        <p:spPr>
          <a:xfrm>
            <a:off x="3535321" y="3794760"/>
            <a:ext cx="5090878" cy="2377440"/>
          </a:xfrm>
          <a:prstGeom prst="rect">
            <a:avLst/>
          </a:prstGeom>
          <a:effectLst>
            <a:outerShdw sx="100000" sy="100000" kx="0" ky="0" algn="bl" rotWithShape="0" blurRad="76200" dist="25400" dir="5400000">
              <a:srgbClr val="000000">
                <a:alpha val="25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fig_ext_night" descr="G:/4-1/RamenShop/RamenShop/report/figs/fig_ext_night.jpg">    </p:cNvPr>
          <p:cNvPicPr>
            <a:picLocks noChangeAspect="1"/>
          </p:cNvPicPr>
          <p:nvPr/>
        </p:nvPicPr>
        <p:blipFill>
          <a:blip r:embed="rId1"/>
          <a:stretch>
            <a:fillRect/>
          </a:stretch>
        </p:blipFill>
        <p:spPr>
          <a:xfrm>
            <a:off x="2164700" y="457200"/>
            <a:ext cx="7832120" cy="3657600"/>
          </a:xfrm>
          <a:prstGeom prst="rect">
            <a:avLst/>
          </a:prstGeom>
          <a:effectLst>
            <a:outerShdw sx="100000" sy="100000" kx="0" ky="0" algn="bl" rotWithShape="0" blurRad="76200" dist="25400" dir="5400000">
              <a:srgbClr val="000000">
                <a:alpha val="25000"/>
              </a:srgbClr>
            </a:outerShdw>
          </a:effectLst>
        </p:spPr>
      </p:pic>
      <p:sp>
        <p:nvSpPr>
          <p:cNvPr id="3" name="Text 0"/>
          <p:cNvSpPr/>
          <p:nvPr>
            <p:ph idx="100" type="title" hasCustomPrompt="1"/>
          </p:nvPr>
        </p:nvSpPr>
        <p:spPr>
          <a:xfrm>
            <a:off x="640080" y="4343400"/>
            <a:ext cx="10881360" cy="100584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4" name="Text 0"/>
          <p:cNvSpPr/>
          <p:nvPr>
            <p:ph idx="101" type="body" hasCustomPrompt="1"/>
          </p:nvPr>
        </p:nvSpPr>
        <p:spPr>
          <a:xfrm>
            <a:off x="640080" y="5349240"/>
            <a:ext cx="10881360" cy="548640"/>
          </a:xfrm>
          <a:prstGeom prst="rect">
            <a:avLst/>
          </a:prstGeom>
          <a:noFill/>
          <a:ln/>
        </p:spPr>
        <p:txBody>
          <a:bodyPr wrap="square" lIns="0" tIns="0" rIns="0" bIns="0" rtlCol="0" anchor="t"/>
          <a:lstStyle/>
          <a:p>
            <a:pPr algn="ctr" indent="0" marL="0">
              <a:buNone/>
            </a:pPr>
            <a:r>
              <a:rPr lang="en-US" sz="2000" dirty="0">
                <a:solidFill>
                  <a:schemeClr val="accent2"/>
                </a:solidFill>
              </a:rPr>
              <a:t>Questions?   ·   Rajorshi Das, Roll 2107060</a:t>
            </a:r>
            <a:endParaRPr lang="en-US" sz="2000" dirty="0"/>
          </a:p>
        </p:txBody>
      </p:sp>
    </p:spTree>
  </p:cSld>
  <p:clrMapOvr>
    <a:masterClrMapping/>
  </p:clrMapOvr>
</p:sld>
</file>

<file path=ppt/theme/theme1.xml><?xml version="1.0" encoding="utf-8"?>
<a:theme xmlns:a="http://schemas.openxmlformats.org/drawingml/2006/main" name="Ramen Shop">
  <a:themeElements>
    <a:clrScheme name="Ramen Shop">
      <a:dk1>
        <a:srgbClr val="1E1916"/>
      </a:dk1>
      <a:lt1>
        <a:srgbClr val="FFFFFF"/>
      </a:lt1>
      <a:dk2>
        <a:srgbClr val="8B2A1A"/>
      </a:dk2>
      <a:lt2>
        <a:srgbClr val="F2F2F2"/>
      </a:lt2>
      <a:accent1>
        <a:srgbClr val="8B2A1A"/>
      </a:accent1>
      <a:accent2>
        <a:srgbClr val="D9A441"/>
      </a:accent2>
      <a:accent3>
        <a:srgbClr val="3E6B4F"/>
      </a:accent3>
      <a:accent4>
        <a:srgbClr val="2F4A6D"/>
      </a:accent4>
      <a:accent5>
        <a:srgbClr val="C0573E"/>
      </a:accent5>
      <a:accent6>
        <a:srgbClr val="6B5B4E"/>
      </a:accent6>
      <a:hlink>
        <a:srgbClr val="8B2A1A"/>
      </a:hlink>
      <a:folHlink>
        <a:srgbClr val="6B5B4E"/>
      </a:folHlink>
    </a:clrScheme>
    <a:fontScheme name="Ramen Sho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Ramen Shop: CSE 4102 Project Presentation</dc:title>
  <dc:subject>PptxGenJS Presentation</dc:subject>
  <dc:creator>Rajorshi Das</dc:creator>
  <cp:lastModifiedBy>Rajorshi Das</cp:lastModifiedBy>
  <cp:revision>1</cp:revision>
  <dcterms:created xsi:type="dcterms:W3CDTF">2026-10-11T18:25:03Z</dcterms:created>
  <dcterms:modified xsi:type="dcterms:W3CDTF">2026-10-11T18:25:03Z</dcterms:modified>
</cp:coreProperties>
</file>